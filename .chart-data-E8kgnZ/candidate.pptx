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slides/charts/chart1.xml" ContentType="application/vnd.openxmlformats-officedocument.drawingml.chart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be31770086a4529" /><Relationship Type="http://schemas.openxmlformats.org/officeDocument/2006/relationships/extended-properties" Target="/docProps/app.xml" Id="Re97eb1c25caa41a1" /><Relationship Type="http://schemas.openxmlformats.org/officeDocument/2006/relationships/officeDocument" Target="/ppt/presentation.xml" Id="R63c15722bd354b0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435e3daae6d4d9e"/>
  </p:sldMasterIdLst>
  <p:notesMasterIdLst>
    <p:notesMasterId xmlns:r="http://schemas.openxmlformats.org/officeDocument/2006/relationships" r:id="Rcc849f436f704f1a"/>
  </p:notesMasterIdLst>
  <p:sldIdLst>
    <p:sldId xmlns:r="http://schemas.openxmlformats.org/officeDocument/2006/relationships" id="256" r:id="Rd7a6c9fc857841fe"/>
    <p:sldId xmlns:r="http://schemas.openxmlformats.org/officeDocument/2006/relationships" id="257" r:id="Ra1647de1c7fd4ef9"/>
    <p:sldId xmlns:r="http://schemas.openxmlformats.org/officeDocument/2006/relationships" id="258" r:id="R07a909a5c2bd4663"/>
    <p:sldId xmlns:r="http://schemas.openxmlformats.org/officeDocument/2006/relationships" id="259" r:id="Ra051f28584af44b3"/>
    <p:sldId xmlns:r="http://schemas.openxmlformats.org/officeDocument/2006/relationships" id="260" r:id="R1f8cee32c05543a3"/>
    <p:sldId xmlns:r="http://schemas.openxmlformats.org/officeDocument/2006/relationships" id="261" r:id="R6856b510e1f04316"/>
    <p:sldId xmlns:r="http://schemas.openxmlformats.org/officeDocument/2006/relationships" id="262" r:id="R17e5d599e59c49c1"/>
    <p:sldId xmlns:r="http://schemas.openxmlformats.org/officeDocument/2006/relationships" id="263" r:id="R54c4f0a35dfb4a11"/>
    <p:sldId xmlns:r="http://schemas.openxmlformats.org/officeDocument/2006/relationships" id="264" r:id="Recb24a8836a24cea"/>
    <p:sldId xmlns:r="http://schemas.openxmlformats.org/officeDocument/2006/relationships" id="265" r:id="R6e92332bc92b4569"/>
    <p:sldId xmlns:r="http://schemas.openxmlformats.org/officeDocument/2006/relationships" id="266" r:id="Rbb3857044f4548d4"/>
    <p:sldId xmlns:r="http://schemas.openxmlformats.org/officeDocument/2006/relationships" id="267" r:id="Rc17461d0211f4df0"/>
    <p:sldId xmlns:r="http://schemas.openxmlformats.org/officeDocument/2006/relationships" id="268" r:id="R39d2d21dcd8c4045"/>
    <p:sldId xmlns:r="http://schemas.openxmlformats.org/officeDocument/2006/relationships" id="269" r:id="Rfb16184e4a274e89"/>
    <p:sldId xmlns:r="http://schemas.openxmlformats.org/officeDocument/2006/relationships" id="270" r:id="Rc6d5af99692c471b"/>
    <p:sldId xmlns:r="http://schemas.openxmlformats.org/officeDocument/2006/relationships" id="271" r:id="R3420473fa70d435b"/>
    <p:sldId xmlns:r="http://schemas.openxmlformats.org/officeDocument/2006/relationships" id="272" r:id="Re614ca4ba3f84f1e"/>
    <p:sldId xmlns:r="http://schemas.openxmlformats.org/officeDocument/2006/relationships" id="273" r:id="R2950e05c274a4bdf"/>
    <p:sldId xmlns:r="http://schemas.openxmlformats.org/officeDocument/2006/relationships" id="274" r:id="R32f69adfb5b3494b"/>
    <p:sldId xmlns:r="http://schemas.openxmlformats.org/officeDocument/2006/relationships" id="275" r:id="R81fe9232a81d4cc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453fdd9d3fd43e5" /><Relationship Type="http://schemas.openxmlformats.org/officeDocument/2006/relationships/slideMaster" Target="/ppt/slideMasters/slideMaster1.xml" Id="Rf435e3daae6d4d9e" /><Relationship Type="http://schemas.openxmlformats.org/officeDocument/2006/relationships/notesMaster" Target="/ppt/notesMasters/notesMaster1.xml" Id="Rcc849f436f704f1a" /><Relationship Type="http://schemas.openxmlformats.org/officeDocument/2006/relationships/presProps" Target="/ppt/presProps.xml" Id="R01fba95313714441" /><Relationship Type="http://schemas.openxmlformats.org/officeDocument/2006/relationships/tableStyles" Target="/ppt/tableStyles.xml" Id="Rfc36ec56042a4230" /><Relationship Type="http://schemas.openxmlformats.org/officeDocument/2006/relationships/slide" Target="/ppt/slides/slide1.xml" Id="Rd7a6c9fc857841fe" /><Relationship Type="http://schemas.openxmlformats.org/officeDocument/2006/relationships/slide" Target="/ppt/slides/slide2.xml" Id="Ra1647de1c7fd4ef9" /><Relationship Type="http://schemas.openxmlformats.org/officeDocument/2006/relationships/slide" Target="/ppt/slides/slide3.xml" Id="R07a909a5c2bd4663" /><Relationship Type="http://schemas.openxmlformats.org/officeDocument/2006/relationships/slide" Target="/ppt/slides/slide4.xml" Id="Ra051f28584af44b3" /><Relationship Type="http://schemas.openxmlformats.org/officeDocument/2006/relationships/slide" Target="/ppt/slides/slide5.xml" Id="R1f8cee32c05543a3" /><Relationship Type="http://schemas.openxmlformats.org/officeDocument/2006/relationships/slide" Target="/ppt/slides/slide6.xml" Id="R6856b510e1f04316" /><Relationship Type="http://schemas.openxmlformats.org/officeDocument/2006/relationships/slide" Target="/ppt/slides/slide7.xml" Id="R17e5d599e59c49c1" /><Relationship Type="http://schemas.openxmlformats.org/officeDocument/2006/relationships/slide" Target="/ppt/slides/slide8.xml" Id="R54c4f0a35dfb4a11" /><Relationship Type="http://schemas.openxmlformats.org/officeDocument/2006/relationships/slide" Target="/ppt/slides/slide9.xml" Id="Recb24a8836a24cea" /><Relationship Type="http://schemas.openxmlformats.org/officeDocument/2006/relationships/slide" Target="/ppt/slides/slide10.xml" Id="R6e92332bc92b4569" /><Relationship Type="http://schemas.openxmlformats.org/officeDocument/2006/relationships/slide" Target="/ppt/slides/slide11.xml" Id="Rbb3857044f4548d4" /><Relationship Type="http://schemas.openxmlformats.org/officeDocument/2006/relationships/slide" Target="/ppt/slides/slide12.xml" Id="Rc17461d0211f4df0" /><Relationship Type="http://schemas.openxmlformats.org/officeDocument/2006/relationships/slide" Target="/ppt/slides/slide13.xml" Id="R39d2d21dcd8c4045" /><Relationship Type="http://schemas.openxmlformats.org/officeDocument/2006/relationships/slide" Target="/ppt/slides/slide14.xml" Id="Rfb16184e4a274e89" /><Relationship Type="http://schemas.openxmlformats.org/officeDocument/2006/relationships/slide" Target="/ppt/slides/slide15.xml" Id="Rc6d5af99692c471b" /><Relationship Type="http://schemas.openxmlformats.org/officeDocument/2006/relationships/slide" Target="/ppt/slides/slide16.xml" Id="R3420473fa70d435b" /><Relationship Type="http://schemas.openxmlformats.org/officeDocument/2006/relationships/slide" Target="/ppt/slides/slide17.xml" Id="Re614ca4ba3f84f1e" /><Relationship Type="http://schemas.openxmlformats.org/officeDocument/2006/relationships/slide" Target="/ppt/slides/slide18.xml" Id="R2950e05c274a4bdf" /><Relationship Type="http://schemas.openxmlformats.org/officeDocument/2006/relationships/slide" Target="/ppt/slides/slide19.xml" Id="R32f69adfb5b3494b" /><Relationship Type="http://schemas.openxmlformats.org/officeDocument/2006/relationships/slide" Target="/ppt/slides/slide20.xml" Id="R81fe9232a81d4cc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3e451c61b0b450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6992a2afc594f96" /><Relationship Type="http://schemas.openxmlformats.org/officeDocument/2006/relationships/notesMaster" Target="/ppt/notesMasters/notesMaster1.xml" Id="Rf2423dd59ecf453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60c56f66a4a4824" /><Relationship Type="http://schemas.openxmlformats.org/officeDocument/2006/relationships/notesMaster" Target="/ppt/notesMasters/notesMaster1.xml" Id="R9eb43d4c1319421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482135b8dc543a5" /><Relationship Type="http://schemas.openxmlformats.org/officeDocument/2006/relationships/notesMaster" Target="/ppt/notesMasters/notesMaster1.xml" Id="R65ce716016cb47b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342b57505b7488e" /><Relationship Type="http://schemas.openxmlformats.org/officeDocument/2006/relationships/notesMaster" Target="/ppt/notesMasters/notesMaster1.xml" Id="R999e219c32a0422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6b9e41e7acb4c70" /><Relationship Type="http://schemas.openxmlformats.org/officeDocument/2006/relationships/notesMaster" Target="/ppt/notesMasters/notesMaster1.xml" Id="R5281de2de4b7424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92a1ba163654d5c" /><Relationship Type="http://schemas.openxmlformats.org/officeDocument/2006/relationships/notesMaster" Target="/ppt/notesMasters/notesMaster1.xml" Id="R3279e008b2d54e2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a621fd682ed42ae" /><Relationship Type="http://schemas.openxmlformats.org/officeDocument/2006/relationships/notesMaster" Target="/ppt/notesMasters/notesMaster1.xml" Id="R5480884f4e2a4ad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a0e21f8de4246e6" /><Relationship Type="http://schemas.openxmlformats.org/officeDocument/2006/relationships/notesMaster" Target="/ppt/notesMasters/notesMaster1.xml" Id="Ra861fa1167c8493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ff6da6cc62c4733" /><Relationship Type="http://schemas.openxmlformats.org/officeDocument/2006/relationships/notesMaster" Target="/ppt/notesMasters/notesMaster1.xml" Id="Rd603164a8c97469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89079a2f78f40f9" /><Relationship Type="http://schemas.openxmlformats.org/officeDocument/2006/relationships/notesMaster" Target="/ppt/notesMasters/notesMaster1.xml" Id="R406b8f8e6a5f4b5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0dc001e0cc14182" /><Relationship Type="http://schemas.openxmlformats.org/officeDocument/2006/relationships/notesMaster" Target="/ppt/notesMasters/notesMaster1.xml" Id="R56cac0267a004d1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683ecffe58b4857" /><Relationship Type="http://schemas.openxmlformats.org/officeDocument/2006/relationships/notesMaster" Target="/ppt/notesMasters/notesMaster1.xml" Id="R21ab716dfef446c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9b359d60efd40cf" /><Relationship Type="http://schemas.openxmlformats.org/officeDocument/2006/relationships/notesMaster" Target="/ppt/notesMasters/notesMaster1.xml" Id="R10a82a67155a4b4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5114a05c8874245" /><Relationship Type="http://schemas.openxmlformats.org/officeDocument/2006/relationships/notesMaster" Target="/ppt/notesMasters/notesMaster1.xml" Id="R3c627e619d73465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8af602a01bb46ba" /><Relationship Type="http://schemas.openxmlformats.org/officeDocument/2006/relationships/notesMaster" Target="/ppt/notesMasters/notesMaster1.xml" Id="R816b4984f4e541a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19e9b5ad5f74ed5" /><Relationship Type="http://schemas.openxmlformats.org/officeDocument/2006/relationships/notesMaster" Target="/ppt/notesMasters/notesMaster1.xml" Id="R27b0218138984cd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e8394b3a03f439e" /><Relationship Type="http://schemas.openxmlformats.org/officeDocument/2006/relationships/notesMaster" Target="/ppt/notesMasters/notesMaster1.xml" Id="Rc0361078b9fc4e6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470e645dd9214e79" /><Relationship Type="http://schemas.openxmlformats.org/officeDocument/2006/relationships/notesMaster" Target="/ppt/notesMasters/notesMaster1.xml" Id="Reaa8df8194c14ced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54a902116c0c4a53" /><Relationship Type="http://schemas.openxmlformats.org/officeDocument/2006/relationships/notesMaster" Target="/ppt/notesMasters/notesMaster1.xml" Id="Rf282956d02594647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0fd887f901ff47d0" /><Relationship Type="http://schemas.openxmlformats.org/officeDocument/2006/relationships/notesMaster" Target="/ppt/notesMasters/notesMaster1.xml" Id="R94ea6445fbdc41c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Every number in this deck comes from the running build and its seeded demonstration dataset, recorded on 16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my assessment from the requirement study, not a published benchmark. Slide 16 repeats it as a comparison table.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slide for the question about my own contribution. The three assumptions are the only numbers the rule depends on, and I can defend each one.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Live output from the running build on 16 October 2026. I can reproduce it during the demo by selecting this donation in the allocation engine.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Numbers come from the seeded dataset of 16 October 2026. The nine tests are in the backend test suite, and eighteen API checks cover the role rules.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Assessment, not a cited survey. The claim stays modest and describes how the engine behaves.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 raise these before the teacher asks, because each one has a matching item in the next steps.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project runs locally without internet access. Starting it takes about a minute, and the desktop launcher does the same thing as the script.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a49382a33649d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b7a149a0d1402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4b3ec53b444d6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8fdc6b07324f4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504eca88d1416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d891e9b4954c5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4E12806-7DB0-4156-8F62-511C2C89724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BC5CFF7-87B9-4A2E-BB54-1DF3689B48A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30A73D9-CF7C-40E1-B44C-4B57B55B130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8F2B838-15FC-4A53-B35D-CB59A8D22A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ADAA9EB-FE0D-45BC-AA1F-697F3A9485B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1EBD091-B3E8-42F4-8C70-300BA50AE0B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0BE5DC1-E14B-43E5-BA58-FB2501CB179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D328238-4F44-4C90-BAD1-594584E45EC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78544CD-BF46-432F-876C-DAC8A72D18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0736ECD-DFA5-4022-A8C4-F1AD0CD1D84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c03ced6e1ae43db" /><Relationship Type="http://schemas.openxmlformats.org/officeDocument/2006/relationships/slideLayout" Target="/ppt/slideLayouts/slideLayout1.xml" Id="Rc078a192c4b649c4" /><Relationship Type="http://schemas.openxmlformats.org/officeDocument/2006/relationships/slideLayout" Target="/ppt/slideLayouts/slideLayout2.xml" Id="R3f2b7f99cbd44f4b" /><Relationship Type="http://schemas.openxmlformats.org/officeDocument/2006/relationships/slideLayout" Target="/ppt/slideLayouts/slideLayout3.xml" Id="Rcca7e4ae5ec24a61" /><Relationship Type="http://schemas.openxmlformats.org/officeDocument/2006/relationships/slideLayout" Target="/ppt/slideLayouts/slideLayout4.xml" Id="R0e52b6d9e3e64dc4" /><Relationship Type="http://schemas.openxmlformats.org/officeDocument/2006/relationships/slideLayout" Target="/ppt/slideLayouts/slideLayout5.xml" Id="R6b2a44ce976d464d" /><Relationship Type="http://schemas.openxmlformats.org/officeDocument/2006/relationships/slideLayout" Target="/ppt/slideLayouts/slideLayout6.xml" Id="Rcf0dc967fbb54e8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078a192c4b649c4"/>
    <p:sldLayoutId xmlns:r="http://schemas.openxmlformats.org/officeDocument/2006/relationships" id="2147483650" r:id="R3f2b7f99cbd44f4b"/>
    <p:sldLayoutId xmlns:r="http://schemas.openxmlformats.org/officeDocument/2006/relationships" id="2147483651" r:id="Rcca7e4ae5ec24a61"/>
    <p:sldLayoutId xmlns:r="http://schemas.openxmlformats.org/officeDocument/2006/relationships" id="2147483652" r:id="R0e52b6d9e3e64dc4"/>
    <p:sldLayoutId xmlns:r="http://schemas.openxmlformats.org/officeDocument/2006/relationships" id="2147483653" r:id="R6b2a44ce976d464d"/>
    <p:sldLayoutId xmlns:r="http://schemas.openxmlformats.org/officeDocument/2006/relationships" id="2147483654" r:id="Rcf0dc967fbb54e8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2b71bd6fc148fa" /><Relationship Type="http://schemas.openxmlformats.org/officeDocument/2006/relationships/image" Target="/ppt/media/image.png" Id="Rd744ce0bac3c429f" /><Relationship Type="http://schemas.openxmlformats.org/officeDocument/2006/relationships/notesSlide" Target="/ppt/notesSlides/notesSlide1.xml" Id="R8c46ccedf7604f3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26e67efabb04183" /><Relationship Type="http://schemas.openxmlformats.org/officeDocument/2006/relationships/notesSlide" Target="/ppt/notesSlides/notesSlide2.xml" Id="R13e475fa55054e6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10c7ac2d6e54672" /><Relationship Type="http://schemas.openxmlformats.org/officeDocument/2006/relationships/notesSlide" Target="/ppt/notesSlides/notesSlide3.xml" Id="R3a6150d6cfdb4a0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46bfa7c5e3d4f9d" /><Relationship Type="http://schemas.openxmlformats.org/officeDocument/2006/relationships/notesSlide" Target="/ppt/notesSlides/notesSlide4.xml" Id="Rbb5bc0f0fd524c1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54dad0308294d78" /><Relationship Type="http://schemas.openxmlformats.org/officeDocument/2006/relationships/notesSlide" Target="/ppt/notesSlides/notesSlide5.xml" Id="Re0c69faec7304dc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6d48db57bac4f67" /><Relationship Type="http://schemas.openxmlformats.org/officeDocument/2006/relationships/notesSlide" Target="/ppt/notesSlides/notesSlide6.xml" Id="R048d0375bd204bd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87db960448e4c94" /><Relationship Type="http://schemas.openxmlformats.org/officeDocument/2006/relationships/notesSlide" Target="/ppt/notesSlides/notesSlide7.xml" Id="R3fa9651c0e1a4db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cff4f6b5f0a482c" /><Relationship Type="http://schemas.openxmlformats.org/officeDocument/2006/relationships/notesSlide" Target="/ppt/notesSlides/notesSlide8.xml" Id="R1814ddcf32d24c9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54d58a2b0b4e4b" /><Relationship Type="http://schemas.openxmlformats.org/officeDocument/2006/relationships/notesSlide" Target="/ppt/notesSlides/notesSlide9.xml" Id="Rfd8596dc878f42e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74626bfd0c64fda" /><Relationship Type="http://schemas.openxmlformats.org/officeDocument/2006/relationships/notesSlide" Target="/ppt/notesSlides/notesSlide10.xml" Id="R383c6db922264fa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dc5b11fd7a948c5" /><Relationship Type="http://schemas.openxmlformats.org/officeDocument/2006/relationships/image" Target="/ppt/media/image.jpeg" Id="R0272604e1c254795" /><Relationship Type="http://schemas.openxmlformats.org/officeDocument/2006/relationships/notesSlide" Target="/ppt/notesSlides/notesSlide11.xml" Id="Rb17f6fa853d24ef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38096b9d85b4cd3" /><Relationship Type="http://schemas.openxmlformats.org/officeDocument/2006/relationships/notesSlide" Target="/ppt/notesSlides/notesSlide12.xml" Id="R33530407730f40d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686e6741ac34147" /><Relationship Type="http://schemas.openxmlformats.org/officeDocument/2006/relationships/image" Target="/ppt/media/image2.jpeg" Id="Re9c7c94b376e492b" /><Relationship Type="http://schemas.openxmlformats.org/officeDocument/2006/relationships/image" Target="/ppt/media/image3.jpeg" Id="R479aa9908b854a9a" /><Relationship Type="http://schemas.openxmlformats.org/officeDocument/2006/relationships/notesSlide" Target="/ppt/notesSlides/notesSlide13.xml" Id="Rc4c18d7a7f6d469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9a2ddea2fa44efe" /><Relationship Type="http://schemas.openxmlformats.org/officeDocument/2006/relationships/image" Target="/ppt/media/image4.jpeg" Id="R16bae251e30b462e" /><Relationship Type="http://schemas.openxmlformats.org/officeDocument/2006/relationships/image" Target="/ppt/media/image5.jpeg" Id="R81a1184d383a4dee" /><Relationship Type="http://schemas.openxmlformats.org/officeDocument/2006/relationships/notesSlide" Target="/ppt/notesSlides/notesSlide14.xml" Id="Rc74026351b16439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c8b96b06820418b" /><Relationship Type="http://schemas.openxmlformats.org/officeDocument/2006/relationships/chart" Target="/ppt/slides/charts/chart1.xml" Id="Ra5892971fd7f45b8" /><Relationship Type="http://schemas.openxmlformats.org/officeDocument/2006/relationships/notesSlide" Target="/ppt/notesSlides/notesSlide15.xml" Id="R09df9fa0dda447d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bc2c2db32d1462a" /><Relationship Type="http://schemas.openxmlformats.org/officeDocument/2006/relationships/notesSlide" Target="/ppt/notesSlides/notesSlide16.xml" Id="Rd3f19a585ae745d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911dc6d00464133" /><Relationship Type="http://schemas.openxmlformats.org/officeDocument/2006/relationships/notesSlide" Target="/ppt/notesSlides/notesSlide17.xml" Id="R89233a69f9c346f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e08ce8a9a924224" /><Relationship Type="http://schemas.openxmlformats.org/officeDocument/2006/relationships/notesSlide" Target="/ppt/notesSlides/notesSlide18.xml" Id="Rdd33b8205c09456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64aa625c4544501" /><Relationship Type="http://schemas.openxmlformats.org/officeDocument/2006/relationships/notesSlide" Target="/ppt/notesSlides/notesSlide19.xml" Id="R78a3bfb9fa224835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8e3e91132d8485a" /><Relationship Type="http://schemas.openxmlformats.org/officeDocument/2006/relationships/notesSlide" Target="/ppt/notesSlides/notesSlide20.xml" Id="R72e4ca75ad094892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varyColors val="0"/>
        <c:ser>
          <c:idx val="0"/>
          <c:order val="0"/>
          <c:tx>
            <c:v>kg rescued</c:v>
          </c:tx>
          <c:spPr>
            <a:solidFill xmlns:a="http://schemas.openxmlformats.org/drawingml/2006/main">
              <a:srgbClr val="0E7C57"/>
            </a:solidFill>
          </c:spPr>
          <c:invertIfNegative val="0"/>
          <c:cat>
            <c:strRef>
              <c:f>'Chart Data'!$A$2:$A$15</c:f>
              <c:strCache>
                <c:ptCount val="14"/>
                <c:pt idx="0">
                  <c:v>03 Oct</c:v>
                </c:pt>
                <c:pt idx="1">
                  <c:v>04 Oct</c:v>
                </c:pt>
                <c:pt idx="2">
                  <c:v>05 Oct</c:v>
                </c:pt>
                <c:pt idx="3">
                  <c:v>06 Oct</c:v>
                </c:pt>
                <c:pt idx="4">
                  <c:v>07 Oct</c:v>
                </c:pt>
                <c:pt idx="5">
                  <c:v>08 Oct</c:v>
                </c:pt>
                <c:pt idx="6">
                  <c:v>09 Oct</c:v>
                </c:pt>
                <c:pt idx="7">
                  <c:v>10 Oct</c:v>
                </c:pt>
                <c:pt idx="8">
                  <c:v>11 Oct</c:v>
                </c:pt>
                <c:pt idx="9">
                  <c:v>12 Oct</c:v>
                </c:pt>
                <c:pt idx="10">
                  <c:v>13 Oct</c:v>
                </c:pt>
                <c:pt idx="11">
                  <c:v>14 Oct</c:v>
                </c:pt>
                <c:pt idx="12">
                  <c:v>15 Oct</c:v>
                </c:pt>
                <c:pt idx="13">
                  <c:v>16 Oct</c:v>
                </c:pt>
              </c:strCache>
            </c:strRef>
          </c:cat>
          <c:val>
            <c:numRef>
              <c:f>'Chart Data'!$B$2:$B$15</c:f>
              <c:numCache>
                <c:formatCode>General</c:formatCode>
                <c:ptCount val="14"/>
                <c:pt idx="0">
                  <c:v>24</c:v>
                </c:pt>
                <c:pt idx="1">
                  <c:v>30</c:v>
                </c:pt>
                <c:pt idx="2">
                  <c:v>45</c:v>
                </c:pt>
                <c:pt idx="3">
                  <c:v>40</c:v>
                </c:pt>
                <c:pt idx="4">
                  <c:v>12</c:v>
                </c:pt>
                <c:pt idx="5">
                  <c:v>55</c:v>
                </c:pt>
                <c:pt idx="6">
                  <c:v>35</c:v>
                </c:pt>
                <c:pt idx="7">
                  <c:v>120</c:v>
                </c:pt>
                <c:pt idx="8">
                  <c:v>15</c:v>
                </c:pt>
                <c:pt idx="9">
                  <c:v>8</c:v>
                </c:pt>
                <c:pt idx="10">
                  <c:v>12</c:v>
                </c:pt>
                <c:pt idx="11">
                  <c:v>0</c:v>
                </c:pt>
                <c:pt idx="12">
                  <c:v>163</c:v>
                </c:pt>
                <c:pt idx="13">
                  <c:v>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October 2026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kg rescued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E4AC31-6593-4FCC-AB35-581AAB794F1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44ce0bac3c429f"/>
          <a:stretch xmlns:a="http://schemas.openxmlformats.org/drawingml/2006/main"/>
        </p:blipFill>
        <p:spPr>
          <a:xfrm xmlns:a="http://schemas.openxmlformats.org/drawingml/2006/main">
            <a:off x="685800" y="685800"/>
            <a:ext cx="838200" cy="8382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16C88C-14EE-47D0-A294-C0981B9DD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4200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4200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131A24"/>
                </a:solidFill>
                <a:latin typeface="Arial"/>
                <a:ea typeface="Arial"/>
                <a:cs typeface="Arial"/>
              </a:rPr>
              <a:t>FoodBridge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017C02-C257-4268-82FB-9A236A14A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1940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06F"/>
                </a:solidFill>
                <a:latin typeface="Arial"/>
                <a:ea typeface="Arial"/>
                <a:cs typeface="Arial"/>
              </a:rPr>
              <a:t>Intelligent Food Rescue Coordination and Resource Allocation Platform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BB88F3-EF30-46A1-A7DF-9AD8E9750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43300"/>
            <a:ext cx="304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7A9E45-77BA-4E21-BD0F-DB820707E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71900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>
                <a:solidFill>
                  <a:srgbClr val="8A94A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8A94A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8A94A3"/>
                </a:solidFill>
                <a:latin typeface="Arial"/>
                <a:ea typeface="Arial"/>
                <a:cs typeface="Arial"/>
              </a:rPr>
              <a:t>Project review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746F38-BF78-44E2-A553-C708679C6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767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1A24"/>
                </a:solidFill>
                <a:latin typeface="Arial"/>
                <a:ea typeface="Arial"/>
                <a:cs typeface="Arial"/>
              </a:rPr>
              <a:t>Adithyan S Nair, 24BAI1621</a:t>
            </a:r>
          </a:p>
        </p:txBody>
      </p:sp>
    </p:spTree>
    <p:extLst>
      <p:ext uri="{BB962C8B-B14F-4D97-AF65-F5344CB8AC3E}">
        <p14:creationId xmlns:p14="http://schemas.microsoft.com/office/powerpoint/2010/main" val="155222599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605249B-EC9D-45CC-BCED-8BC9A0929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000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31A24"/>
                </a:solidFill>
                <a:latin typeface="Arial"/>
                <a:ea typeface="Arial"/>
                <a:cs typeface="Arial"/>
              </a:rPr>
              <a:t>The problem</a:t>
            </a:r>
          </a:p>
        </p:txBody>
      </p:sp>
      <p:sp>
        <p:nvSpPr>
          <p:cNvPr id="2" name="slide-lead">
            <a:extLst xmlns:a="http://schemas.openxmlformats.org/drawingml/2006/main">
              <a:ext uri="{FF2B5EF4-FFF2-40B4-BE49-F238E27FC236}">
                <a16:creationId xmlns:a16="http://schemas.microsoft.com/office/drawing/2014/main" id="{C9C7B41D-CAB6-4E4C-A56B-A08F42E8B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06F"/>
                </a:solidFill>
                <a:latin typeface="Arial"/>
                <a:ea typeface="Arial"/>
                <a:cs typeface="Arial"/>
              </a:rPr>
              <a:t>Food that is still safe to eat is thrown away while the organizations that need it run short.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722FF99F-00CC-4911-BE42-5F8343E28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5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D0332F-6E08-4A7B-A394-052297176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108204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>
                <a:solidFill>
                  <a:srgbClr val="131A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marL="228600" indent="-114300">
              <a:spcAft>
                <a:spcPts val="1600"/>
              </a:spcAft>
              <a:buChar char="•"/>
              <a:defRPr sz="1650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31A24"/>
                </a:solidFill>
                <a:latin typeface="Arial"/>
                <a:ea typeface="Arial"/>
                <a:cs typeface="Arial"/>
              </a:rPr>
              <a:t>Restaurants, hotels, supermarkets, bakeries and caterers regularly have surplus food at the end of a service.</a:t>
            </a:r>
          </a:p>
          <a:p xmlns:a="http://schemas.openxmlformats.org/drawingml/2006/main">
            <a:pPr marL="228600" indent="-114300">
              <a:spcAft>
                <a:spcPts val="1600"/>
              </a:spcAft>
              <a:buChar char="•"/>
              <a:defRPr sz="1650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31A24"/>
                </a:solidFill>
                <a:latin typeface="Arial"/>
                <a:ea typeface="Arial"/>
                <a:cs typeface="Arial"/>
              </a:rPr>
              <a:t>Orphanages, shelters and food banks look for the same food on the same day, with little storage to spare.</a:t>
            </a:r>
          </a:p>
          <a:p xmlns:a="http://schemas.openxmlformats.org/drawingml/2006/main">
            <a:pPr marL="228600" indent="-114300">
              <a:spcAft>
                <a:spcPts val="1600"/>
              </a:spcAft>
              <a:buChar char="•"/>
              <a:defRPr sz="1650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31A24"/>
                </a:solidFill>
                <a:latin typeface="Arial"/>
                <a:ea typeface="Arial"/>
                <a:cs typeface="Arial"/>
              </a:rPr>
              <a:t>Coordinating one donation takes phone calls, messages and waiting, so food is missed or collected late.</a:t>
            </a:r>
          </a:p>
          <a:p xmlns:a="http://schemas.openxmlformats.org/drawingml/2006/main">
            <a:pPr marL="228600" indent="-114300">
              <a:spcAft>
                <a:spcPts val="1600"/>
              </a:spcAft>
              <a:buChar char="•"/>
              <a:defRPr sz="1650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31A24"/>
                </a:solidFill>
                <a:latin typeface="Arial"/>
                <a:ea typeface="Arial"/>
                <a:cs typeface="Arial"/>
              </a:rPr>
              <a:t>When several organizations could take the donation, it usually goes to whoever responds first.</a:t>
            </a:r>
          </a:p>
        </p:txBody>
      </p:sp>
    </p:spTree>
    <p:extLst>
      <p:ext uri="{BB962C8B-B14F-4D97-AF65-F5344CB8AC3E}">
        <p14:creationId xmlns:p14="http://schemas.microsoft.com/office/powerpoint/2010/main" val="32300785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8DC9DD2-9CEE-4A5B-A455-7AF1D6EDE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000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31A24"/>
                </a:solidFill>
                <a:latin typeface="Arial"/>
                <a:ea typeface="Arial"/>
                <a:cs typeface="Arial"/>
              </a:rPr>
              <a:t>What most donation platforms do today</a:t>
            </a:r>
          </a:p>
        </p:txBody>
      </p:sp>
      <p:sp>
        <p:nvSpPr>
          <p:cNvPr id="2" name="slide-lead">
            <a:extLst xmlns:a="http://schemas.openxmlformats.org/drawingml/2006/main">
              <a:ext uri="{FF2B5EF4-FFF2-40B4-BE49-F238E27FC236}">
                <a16:creationId xmlns:a16="http://schemas.microsoft.com/office/drawing/2014/main" id="{6678C33F-9AA7-481B-B5B8-FB04625FC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06F"/>
                </a:solidFill>
                <a:latin typeface="Arial"/>
                <a:ea typeface="Arial"/>
                <a:cs typeface="Arial"/>
              </a:rPr>
              <a:t>They publish the donation and wait for someone to claim it.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38F4B16E-A681-4EF3-B2A4-9AF7DE637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5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F6A8FA-13FC-4CE7-9DCE-17066752B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108204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>
                <a:solidFill>
                  <a:srgbClr val="131A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marL="228600" indent="-114300">
              <a:spcAft>
                <a:spcPts val="1600"/>
              </a:spcAft>
              <a:buChar char="•"/>
              <a:defRPr sz="1650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31A24"/>
                </a:solidFill>
                <a:latin typeface="Arial"/>
                <a:ea typeface="Arial"/>
                <a:cs typeface="Arial"/>
              </a:rPr>
              <a:t>Listings connect donors and recipients, and the decision about who receives the food stays with the claimer.</a:t>
            </a:r>
          </a:p>
          <a:p xmlns:a="http://schemas.openxmlformats.org/drawingml/2006/main">
            <a:pPr marL="228600" indent="-114300">
              <a:spcAft>
                <a:spcPts val="1600"/>
              </a:spcAft>
              <a:buChar char="•"/>
              <a:defRPr sz="1650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31A24"/>
                </a:solidFill>
                <a:latin typeface="Arial"/>
                <a:ea typeface="Arial"/>
                <a:cs typeface="Arial"/>
              </a:rPr>
              <a:t>Expiry is shown to whoever opens the listing, and pickup distance is rarely compared with the time left.</a:t>
            </a:r>
          </a:p>
          <a:p xmlns:a="http://schemas.openxmlformats.org/drawingml/2006/main">
            <a:pPr marL="228600" indent="-114300">
              <a:spcAft>
                <a:spcPts val="1600"/>
              </a:spcAft>
              <a:buChar char="•"/>
              <a:defRPr sz="1650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31A24"/>
                </a:solidFill>
                <a:latin typeface="Arial"/>
                <a:ea typeface="Arial"/>
                <a:cs typeface="Arial"/>
              </a:rPr>
              <a:t>Nothing tracks how much each organization has already received, so one partner can take most of the supply.</a:t>
            </a:r>
          </a:p>
          <a:p xmlns:a="http://schemas.openxmlformats.org/drawingml/2006/main">
            <a:pPr marL="228600" indent="-114300">
              <a:spcAft>
                <a:spcPts val="1600"/>
              </a:spcAft>
              <a:buChar char="•"/>
              <a:defRPr sz="1650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31A24"/>
                </a:solidFill>
                <a:latin typeface="Arial"/>
                <a:ea typeface="Arial"/>
                <a:cs typeface="Arial"/>
              </a:rPr>
              <a:t>Reports count kilograms donated. They do not explain why one organization was chosen over another.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1AE5B4-DFFB-4E62-9326-EE299EE07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0">
                <a:solidFill>
                  <a:srgbClr val="8A94A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8A94A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8A94A3"/>
                </a:solidFill>
                <a:latin typeface="Arial"/>
                <a:ea typeface="Arial"/>
                <a:cs typeface="Arial"/>
              </a:rPr>
              <a:t>Assessment based on the platforms and the manual process studied during the requirements phase.</a:t>
            </a:r>
          </a:p>
        </p:txBody>
      </p:sp>
    </p:spTree>
    <p:extLst>
      <p:ext uri="{BB962C8B-B14F-4D97-AF65-F5344CB8AC3E}">
        <p14:creationId xmlns:p14="http://schemas.microsoft.com/office/powerpoint/2010/main" val="108307279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7FC13C4-4604-4913-B009-A5DE72C22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000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31A24"/>
                </a:solidFill>
                <a:latin typeface="Arial"/>
                <a:ea typeface="Arial"/>
                <a:cs typeface="Arial"/>
              </a:rPr>
              <a:t>The FoodBridge platform</a:t>
            </a:r>
          </a:p>
        </p:txBody>
      </p:sp>
      <p:sp>
        <p:nvSpPr>
          <p:cNvPr id="2" name="slide-lead">
            <a:extLst xmlns:a="http://schemas.openxmlformats.org/drawingml/2006/main">
              <a:ext uri="{FF2B5EF4-FFF2-40B4-BE49-F238E27FC236}">
                <a16:creationId xmlns:a16="http://schemas.microsoft.com/office/drawing/2014/main" id="{FAFC334C-7C7A-4F27-B35B-4F4A674BF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06F"/>
                </a:solidFill>
                <a:latin typeface="Arial"/>
                <a:ea typeface="Arial"/>
                <a:cs typeface="Arial"/>
              </a:rPr>
              <a:t>One workflow from surplus food to a confirmed delivery, with the engine deciding who receives it.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18933D38-64EE-4CC7-9673-0F5BAA0BA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5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low-Donation registered">
            <a:extLst xmlns:a="http://schemas.openxmlformats.org/drawingml/2006/main">
              <a:ext uri="{FF2B5EF4-FFF2-40B4-BE49-F238E27FC236}">
                <a16:creationId xmlns:a16="http://schemas.microsoft.com/office/drawing/2014/main" id="{C75E235C-BABA-4902-83FE-BBDE8C72C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14287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5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735B4B-2D52-42B3-93DE-7452C20D0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14550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31A24"/>
                </a:solidFill>
                <a:latin typeface="Arial"/>
                <a:ea typeface="Arial"/>
                <a:cs typeface="Arial"/>
              </a:rPr>
              <a:t>Donation registered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7417D5-61C3-44C9-9AE9-4C5642E8C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76500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938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38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52606F"/>
                </a:solidFill>
                <a:latin typeface="Arial"/>
                <a:ea typeface="Arial"/>
                <a:cs typeface="Arial"/>
              </a:rPr>
              <a:t>donor enters details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EE70A2-81AE-4374-9BDB-B8A20D189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400300"/>
            <a:ext cx="2286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A94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flow-Engine ranks recipients">
            <a:extLst xmlns:a="http://schemas.openxmlformats.org/drawingml/2006/main">
              <a:ext uri="{FF2B5EF4-FFF2-40B4-BE49-F238E27FC236}">
                <a16:creationId xmlns:a16="http://schemas.microsoft.com/office/drawing/2014/main" id="{F4D608CD-44BC-4F6E-857E-210FCEB6B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1981200"/>
            <a:ext cx="14287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5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2A65BB-2869-4F57-9206-CB7CB6A4E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114550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31A24"/>
                </a:solidFill>
                <a:latin typeface="Arial"/>
                <a:ea typeface="Arial"/>
                <a:cs typeface="Arial"/>
              </a:rPr>
              <a:t>Engine ranks recipients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89A100-CD68-484A-9C6B-CD5006090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476500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938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38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52606F"/>
                </a:solidFill>
                <a:latin typeface="Arial"/>
                <a:ea typeface="Arial"/>
                <a:cs typeface="Arial"/>
              </a:rPr>
              <a:t>filters, then scores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EA5D03-4789-416F-8B5F-BD88E0364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400300"/>
            <a:ext cx="2286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A94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flow-Recipient accepts">
            <a:extLst xmlns:a="http://schemas.openxmlformats.org/drawingml/2006/main">
              <a:ext uri="{FF2B5EF4-FFF2-40B4-BE49-F238E27FC236}">
                <a16:creationId xmlns:a16="http://schemas.microsoft.com/office/drawing/2014/main" id="{3849AC16-5C0F-48F1-9604-1E0B98B4F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981200"/>
            <a:ext cx="14287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5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88D348-C80F-4401-B80E-9E6430711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114550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31A24"/>
                </a:solidFill>
                <a:latin typeface="Arial"/>
                <a:ea typeface="Arial"/>
                <a:cs typeface="Arial"/>
              </a:rPr>
              <a:t>Recipient accepts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6AC0A4-663C-4402-AB4D-BBC33D811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476500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938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38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52606F"/>
                </a:solidFill>
                <a:latin typeface="Arial"/>
                <a:ea typeface="Arial"/>
                <a:cs typeface="Arial"/>
              </a:rPr>
              <a:t>with the reason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F9CA8F-32C0-4076-8851-D52F87A48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400300"/>
            <a:ext cx="2286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A94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flow-Volunteer collects">
            <a:extLst xmlns:a="http://schemas.openxmlformats.org/drawingml/2006/main">
              <a:ext uri="{FF2B5EF4-FFF2-40B4-BE49-F238E27FC236}">
                <a16:creationId xmlns:a16="http://schemas.microsoft.com/office/drawing/2014/main" id="{492FA307-5BA6-499A-995E-09D10C1A7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981200"/>
            <a:ext cx="14287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5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3E5EA0-F946-499C-9CF8-8289A0DC4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14550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31A24"/>
                </a:solidFill>
                <a:latin typeface="Arial"/>
                <a:ea typeface="Arial"/>
                <a:cs typeface="Arial"/>
              </a:rPr>
              <a:t>Volunteer collects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F35154-50D9-4030-9968-DD1FECC2D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76500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938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38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52606F"/>
                </a:solidFill>
                <a:latin typeface="Arial"/>
                <a:ea typeface="Arial"/>
                <a:cs typeface="Arial"/>
              </a:rPr>
              <a:t>matched by distance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FB4CF1-4389-404F-B513-F9919A829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400300"/>
            <a:ext cx="2286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A94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flow-Delivered">
            <a:extLst xmlns:a="http://schemas.openxmlformats.org/drawingml/2006/main">
              <a:ext uri="{FF2B5EF4-FFF2-40B4-BE49-F238E27FC236}">
                <a16:creationId xmlns:a16="http://schemas.microsoft.com/office/drawing/2014/main" id="{8979D2A3-0DAC-43F7-9A00-7FB2ABD15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981200"/>
            <a:ext cx="14287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5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A7FC51-A453-4429-94CC-937087A15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114550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31A24"/>
                </a:solidFill>
                <a:latin typeface="Arial"/>
                <a:ea typeface="Arial"/>
                <a:cs typeface="Arial"/>
              </a:rPr>
              <a:t>Delivered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FDCAE1-F2B1-474C-A8C8-917F07B49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476500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938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38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52606F"/>
                </a:solidFill>
                <a:latin typeface="Arial"/>
                <a:ea typeface="Arial"/>
                <a:cs typeface="Arial"/>
              </a:rPr>
              <a:t>tracked to handover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F3D9164-B264-46BD-9940-FB2EA6ABF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400300"/>
            <a:ext cx="2286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A94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flow-Reports update">
            <a:extLst xmlns:a="http://schemas.openxmlformats.org/drawingml/2006/main">
              <a:ext uri="{FF2B5EF4-FFF2-40B4-BE49-F238E27FC236}">
                <a16:creationId xmlns:a16="http://schemas.microsoft.com/office/drawing/2014/main" id="{4129FE16-2E06-4C94-9DCA-ED3153339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981200"/>
            <a:ext cx="14287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5E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A8BA88D-11EF-4E48-89FF-35D90FB12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114550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31A24"/>
                </a:solidFill>
                <a:latin typeface="Arial"/>
                <a:ea typeface="Arial"/>
                <a:cs typeface="Arial"/>
              </a:rPr>
              <a:t>Reports update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A4D33EC-8051-4265-BF85-F3ECA5DBA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76500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938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38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52606F"/>
                </a:solidFill>
                <a:latin typeface="Arial"/>
                <a:ea typeface="Arial"/>
                <a:cs typeface="Arial"/>
              </a:rPr>
              <a:t>rescues and audit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D7F46C5-3C19-42AA-99DB-5210935F5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43300"/>
            <a:ext cx="108204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>
                <a:solidFill>
                  <a:srgbClr val="131A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marL="228600" indent="-114300">
              <a:spcAft>
                <a:spcPts val="1400"/>
              </a:spcAft>
              <a:buChar char="•"/>
              <a:defRPr sz="1575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31A24"/>
                </a:solidFill>
                <a:latin typeface="Arial"/>
                <a:ea typeface="Arial"/>
                <a:cs typeface="Arial"/>
              </a:rPr>
              <a:t>Four roles use the platform: donors, recipient organizations, volunteers and the administrator.</a:t>
            </a:r>
          </a:p>
          <a:p xmlns:a="http://schemas.openxmlformats.org/drawingml/2006/main">
            <a:pPr marL="228600" indent="-114300">
              <a:spcAft>
                <a:spcPts val="1400"/>
              </a:spcAft>
              <a:buChar char="•"/>
              <a:defRPr sz="1575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31A24"/>
                </a:solidFill>
                <a:latin typeface="Arial"/>
                <a:ea typeface="Arial"/>
                <a:cs typeface="Arial"/>
              </a:rPr>
              <a:t>The engine checks eligibility first and then scores every eligible organization on six factors.</a:t>
            </a:r>
          </a:p>
          <a:p xmlns:a="http://schemas.openxmlformats.org/drawingml/2006/main">
            <a:pPr marL="228600" indent="-114300">
              <a:spcAft>
                <a:spcPts val="1400"/>
              </a:spcAft>
              <a:buChar char="•"/>
              <a:defRPr sz="1575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31A24"/>
                </a:solidFill>
                <a:latin typeface="Arial"/>
                <a:ea typeface="Arial"/>
                <a:cs typeface="Arial"/>
              </a:rPr>
              <a:t>Each allocation stores its score, the factor breakdown and a written explanation.</a:t>
            </a:r>
          </a:p>
        </p:txBody>
      </p:sp>
    </p:spTree>
    <p:extLst>
      <p:ext uri="{BB962C8B-B14F-4D97-AF65-F5344CB8AC3E}">
        <p14:creationId xmlns:p14="http://schemas.microsoft.com/office/powerpoint/2010/main" val="42977346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48D8E22-231F-4644-BB93-D372D0E22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000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31A24"/>
                </a:solidFill>
                <a:latin typeface="Arial"/>
                <a:ea typeface="Arial"/>
                <a:cs typeface="Arial"/>
              </a:rPr>
              <a:t>System architecture</a:t>
            </a:r>
          </a:p>
        </p:txBody>
      </p:sp>
      <p:sp>
        <p:nvSpPr>
          <p:cNvPr id="2" name="slide-lead">
            <a:extLst xmlns:a="http://schemas.openxmlformats.org/drawingml/2006/main">
              <a:ext uri="{FF2B5EF4-FFF2-40B4-BE49-F238E27FC236}">
                <a16:creationId xmlns:a16="http://schemas.microsoft.com/office/drawing/2014/main" id="{5D677789-0804-49D7-8D9C-139FC039A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06F"/>
                </a:solidFill>
                <a:latin typeface="Arial"/>
                <a:ea typeface="Arial"/>
                <a:cs typeface="Arial"/>
              </a:rPr>
              <a:t>Four layers, each with one responsibility.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79C46C58-4564-47D2-ACF2-E012EB70D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5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layer-Presentation">
            <a:extLst xmlns:a="http://schemas.openxmlformats.org/drawingml/2006/main">
              <a:ext uri="{FF2B5EF4-FFF2-40B4-BE49-F238E27FC236}">
                <a16:creationId xmlns:a16="http://schemas.microsoft.com/office/drawing/2014/main" id="{DB88A9F5-9E8F-4F1A-BE67-ABF106AB8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108204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5F7F8"/>
          </a:solidFill>
          <a:ln xmlns:a="http://schemas.openxmlformats.org/drawingml/2006/main" w="9525">
            <a:solidFill>
              <a:srgbClr val="E1E5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E07BA7-4D5C-44BC-8B1C-7362FD5C5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9550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1A24"/>
                </a:solidFill>
                <a:latin typeface="Arial"/>
                <a:ea typeface="Arial"/>
                <a:cs typeface="Arial"/>
              </a:rPr>
              <a:t>Presentation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B074E5-F2FD-4CC9-92A6-0D89EDCB2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076450"/>
            <a:ext cx="8343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06F"/>
                </a:solidFill>
                <a:latin typeface="Arial"/>
                <a:ea typeface="Arial"/>
                <a:cs typeface="Arial"/>
              </a:rPr>
              <a:t>React single page app. Role dashboards, allocation view, reports, sign up.</a:t>
            </a:r>
          </a:p>
        </p:txBody>
      </p:sp>
      <p:sp>
        <p:nvSpPr>
          <p:cNvPr id="7" name="layer-Application">
            <a:extLst xmlns:a="http://schemas.openxmlformats.org/drawingml/2006/main">
              <a:ext uri="{FF2B5EF4-FFF2-40B4-BE49-F238E27FC236}">
                <a16:creationId xmlns:a16="http://schemas.microsoft.com/office/drawing/2014/main" id="{FE7DBD94-7DBE-4E60-B1F0-17B6EF994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108204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5F7F8"/>
          </a:solidFill>
          <a:ln xmlns:a="http://schemas.openxmlformats.org/drawingml/2006/main" w="9525">
            <a:solidFill>
              <a:srgbClr val="E1E5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A46F78-18AC-4FA2-AD9A-EC65CAF1B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7180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1A24"/>
                </a:solidFill>
                <a:latin typeface="Arial"/>
                <a:ea typeface="Arial"/>
                <a:cs typeface="Arial"/>
              </a:rPr>
              <a:t>Application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8F1444-C95A-4AB0-825E-7A73891A7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952750"/>
            <a:ext cx="8343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06F"/>
                </a:solidFill>
                <a:latin typeface="Arial"/>
                <a:ea typeface="Arial"/>
                <a:cs typeface="Arial"/>
              </a:rPr>
              <a:t>Spring Boot REST controllers. Authentication, donations, recipients, volunteers, allocations, admin.</a:t>
            </a:r>
          </a:p>
        </p:txBody>
      </p:sp>
      <p:sp>
        <p:nvSpPr>
          <p:cNvPr id="10" name="layer-Business logic">
            <a:extLst xmlns:a="http://schemas.openxmlformats.org/drawingml/2006/main">
              <a:ext uri="{FF2B5EF4-FFF2-40B4-BE49-F238E27FC236}">
                <a16:creationId xmlns:a16="http://schemas.microsoft.com/office/drawing/2014/main" id="{6AB26729-59CA-4090-A680-389AC85C6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108204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5F7F8"/>
          </a:solidFill>
          <a:ln xmlns:a="http://schemas.openxmlformats.org/drawingml/2006/main" w="9525">
            <a:solidFill>
              <a:srgbClr val="E1E5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3EF3B8-EAF1-4F80-9B52-FE73C9537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1A24"/>
                </a:solidFill>
                <a:latin typeface="Arial"/>
                <a:ea typeface="Arial"/>
                <a:cs typeface="Arial"/>
              </a:rPr>
              <a:t>Business logic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E94AA0-4900-4246-8A70-FEFBD7834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829050"/>
            <a:ext cx="8343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06F"/>
                </a:solidFill>
                <a:latin typeface="Arial"/>
                <a:ea typeface="Arial"/>
                <a:cs typeface="Arial"/>
              </a:rPr>
              <a:t>Services, including the allocation engine that holds the filters, scoring, fairness and explanations.</a:t>
            </a:r>
          </a:p>
        </p:txBody>
      </p:sp>
      <p:sp>
        <p:nvSpPr>
          <p:cNvPr id="13" name="layer-Data">
            <a:extLst xmlns:a="http://schemas.openxmlformats.org/drawingml/2006/main">
              <a:ext uri="{FF2B5EF4-FFF2-40B4-BE49-F238E27FC236}">
                <a16:creationId xmlns:a16="http://schemas.microsoft.com/office/drawing/2014/main" id="{B80DBBB9-8D55-40F5-B581-6BC21D105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108204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5F7F8"/>
          </a:solidFill>
          <a:ln xmlns:a="http://schemas.openxmlformats.org/drawingml/2006/main" w="9525">
            <a:solidFill>
              <a:srgbClr val="E1E5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CDA64F-6AD7-480E-9309-7022A1DBB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2440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1A24"/>
                </a:solidFill>
                <a:latin typeface="Arial"/>
                <a:ea typeface="Arial"/>
                <a:cs typeface="Arial"/>
              </a:rPr>
              <a:t>Data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0358B7-DFA2-45D8-85E9-9122825E4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705350"/>
            <a:ext cx="8343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06F"/>
                </a:solidFill>
                <a:latin typeface="Arial"/>
                <a:ea typeface="Arial"/>
                <a:cs typeface="Arial"/>
              </a:rPr>
              <a:t>Spring Data JPA over MySQL. Twelve entities in third normal form.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14CF86-9B3F-42DB-9D12-0507CE7A7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131A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31A24"/>
                </a:solidFill>
                <a:latin typeface="Arial"/>
                <a:ea typeface="Arial"/>
                <a:cs typeface="Arial"/>
              </a:rPr>
              <a:t>Security: Spring Security issues a JWT at login, checks the role on every request, and each service checks record ownership.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704E44-6AEC-4758-9C31-3B725A2C5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0">
                <a:solidFill>
                  <a:srgbClr val="8A94A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8A94A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8A94A3"/>
                </a:solidFill>
                <a:latin typeface="Arial"/>
                <a:ea typeface="Arial"/>
                <a:cs typeface="Arial"/>
              </a:rPr>
              <a:t>The browser never decides anything. Every rule runs on the server against the database.</a:t>
            </a:r>
          </a:p>
        </p:txBody>
      </p:sp>
    </p:spTree>
    <p:extLst>
      <p:ext uri="{BB962C8B-B14F-4D97-AF65-F5344CB8AC3E}">
        <p14:creationId xmlns:p14="http://schemas.microsoft.com/office/powerpoint/2010/main" val="180342333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B495C55-6063-444F-9EA2-E73EECDB3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000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31A24"/>
                </a:solidFill>
                <a:latin typeface="Arial"/>
                <a:ea typeface="Arial"/>
                <a:cs typeface="Arial"/>
              </a:rPr>
              <a:t>Database design</a:t>
            </a:r>
          </a:p>
        </p:txBody>
      </p:sp>
      <p:sp>
        <p:nvSpPr>
          <p:cNvPr id="2" name="slide-lead">
            <a:extLst xmlns:a="http://schemas.openxmlformats.org/drawingml/2006/main">
              <a:ext uri="{FF2B5EF4-FFF2-40B4-BE49-F238E27FC236}">
                <a16:creationId xmlns:a16="http://schemas.microsoft.com/office/drawing/2014/main" id="{30F68C8C-1615-4443-AE67-E02A50A65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06F"/>
                </a:solidFill>
                <a:latin typeface="Arial"/>
                <a:ea typeface="Arial"/>
                <a:cs typeface="Arial"/>
              </a:rPr>
              <a:t>Twelve entities in third normal form, built around the rescue chain.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6EF411BE-DB05-42B3-A4AA-06507F9B3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5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low-User">
            <a:extLst xmlns:a="http://schemas.openxmlformats.org/drawingml/2006/main">
              <a:ext uri="{FF2B5EF4-FFF2-40B4-BE49-F238E27FC236}">
                <a16:creationId xmlns:a16="http://schemas.microsoft.com/office/drawing/2014/main" id="{6A15D8C4-8AD6-4B20-B015-67DAF694C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14287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5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7F4CDD-E896-4DFF-B4C3-06ABA95B5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00250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31A24"/>
                </a:solidFill>
                <a:latin typeface="Arial"/>
                <a:ea typeface="Arial"/>
                <a:cs typeface="Arial"/>
              </a:rPr>
              <a:t>User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BC1280-CDF5-44C3-92B9-D95F92172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62200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938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38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52606F"/>
                </a:solidFill>
                <a:latin typeface="Arial"/>
                <a:ea typeface="Arial"/>
                <a:cs typeface="Arial"/>
              </a:rPr>
              <a:t>accounts and roles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B864B5-14B4-4DF6-AF78-DECC05DC8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266950"/>
            <a:ext cx="2286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A94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flow-Donor">
            <a:extLst xmlns:a="http://schemas.openxmlformats.org/drawingml/2006/main">
              <a:ext uri="{FF2B5EF4-FFF2-40B4-BE49-F238E27FC236}">
                <a16:creationId xmlns:a16="http://schemas.microsoft.com/office/drawing/2014/main" id="{A7E4B702-F28D-4CA5-8220-D631A62DA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1866900"/>
            <a:ext cx="14287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5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BAFBE3-8E73-4020-A71D-248B37D90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000250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31A24"/>
                </a:solidFill>
                <a:latin typeface="Arial"/>
                <a:ea typeface="Arial"/>
                <a:cs typeface="Arial"/>
              </a:rPr>
              <a:t>Donor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DB2DD6-DE74-4824-B35D-EECC012A2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362200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938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38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52606F"/>
                </a:solidFill>
                <a:latin typeface="Arial"/>
                <a:ea typeface="Arial"/>
                <a:cs typeface="Arial"/>
              </a:rPr>
              <a:t>or recipient org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E2F179-EC09-4367-9828-7C0AF370E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266950"/>
            <a:ext cx="2286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A94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flow-Food donation">
            <a:extLst xmlns:a="http://schemas.openxmlformats.org/drawingml/2006/main">
              <a:ext uri="{FF2B5EF4-FFF2-40B4-BE49-F238E27FC236}">
                <a16:creationId xmlns:a16="http://schemas.microsoft.com/office/drawing/2014/main" id="{27FCD818-F0C6-4FE9-A24D-68FF20B93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866900"/>
            <a:ext cx="14287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5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6AC322-5854-40C3-84E3-F30E7C316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000250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31A24"/>
                </a:solidFill>
                <a:latin typeface="Arial"/>
                <a:ea typeface="Arial"/>
                <a:cs typeface="Arial"/>
              </a:rPr>
              <a:t>Food donation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08DFAF-6EC8-47EA-AAD9-ABE7DA831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362200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938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38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52606F"/>
                </a:solidFill>
                <a:latin typeface="Arial"/>
                <a:ea typeface="Arial"/>
                <a:cs typeface="Arial"/>
              </a:rPr>
              <a:t>surplus food record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E84492-5966-43B1-A284-29571C4B1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266950"/>
            <a:ext cx="2286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A94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flow-Allocation">
            <a:extLst xmlns:a="http://schemas.openxmlformats.org/drawingml/2006/main">
              <a:ext uri="{FF2B5EF4-FFF2-40B4-BE49-F238E27FC236}">
                <a16:creationId xmlns:a16="http://schemas.microsoft.com/office/drawing/2014/main" id="{575A3EF0-39B2-4DA3-90E7-58C2CEE1D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866900"/>
            <a:ext cx="14287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5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FD50BB-6A02-4F1C-8710-0BC538117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00250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31A24"/>
                </a:solidFill>
                <a:latin typeface="Arial"/>
                <a:ea typeface="Arial"/>
                <a:cs typeface="Arial"/>
              </a:rPr>
              <a:t>Allocation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893F7D-ED9D-49D9-8D95-280D6F049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62200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938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38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52606F"/>
                </a:solidFill>
                <a:latin typeface="Arial"/>
                <a:ea typeface="Arial"/>
                <a:cs typeface="Arial"/>
              </a:rPr>
              <a:t>engine decision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44AC19-1309-4D1B-BACB-37BE23C7F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266950"/>
            <a:ext cx="2286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A94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flow-Assignment">
            <a:extLst xmlns:a="http://schemas.openxmlformats.org/drawingml/2006/main">
              <a:ext uri="{FF2B5EF4-FFF2-40B4-BE49-F238E27FC236}">
                <a16:creationId xmlns:a16="http://schemas.microsoft.com/office/drawing/2014/main" id="{5493A14B-7812-4611-9861-FA83D2CB2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866900"/>
            <a:ext cx="14287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5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AA4C7C-7F91-4288-BDBB-F8D603A92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000250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31A24"/>
                </a:solidFill>
                <a:latin typeface="Arial"/>
                <a:ea typeface="Arial"/>
                <a:cs typeface="Arial"/>
              </a:rPr>
              <a:t>Assignment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5DF2EA4-8D99-4BAC-B719-4F35F445D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362200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938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38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52606F"/>
                </a:solidFill>
                <a:latin typeface="Arial"/>
                <a:ea typeface="Arial"/>
                <a:cs typeface="Arial"/>
              </a:rPr>
              <a:t>pickup task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516E00A-63E7-4472-9BAB-04C4F2370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266950"/>
            <a:ext cx="2286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A94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flow-Delivery">
            <a:extLst xmlns:a="http://schemas.openxmlformats.org/drawingml/2006/main">
              <a:ext uri="{FF2B5EF4-FFF2-40B4-BE49-F238E27FC236}">
                <a16:creationId xmlns:a16="http://schemas.microsoft.com/office/drawing/2014/main" id="{0A614E2B-A095-4331-9286-8896BE1D8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866900"/>
            <a:ext cx="14287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5E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2D6D26E-49E9-4702-B000-04119833C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000250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31A24"/>
                </a:solidFill>
                <a:latin typeface="Arial"/>
                <a:ea typeface="Arial"/>
                <a:cs typeface="Arial"/>
              </a:rPr>
              <a:t>Delivery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A6411F9-5CFD-4077-85A8-DFD1D6727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362200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938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38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52606F"/>
                </a:solidFill>
                <a:latin typeface="Arial"/>
                <a:ea typeface="Arial"/>
                <a:cs typeface="Arial"/>
              </a:rPr>
              <a:t>tracking to handover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AAF7DA0-327D-49A2-AC5C-B74FF66CC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108204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>
                <a:solidFill>
                  <a:srgbClr val="131A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marL="228600" indent="-114300">
              <a:spcAft>
                <a:spcPts val="1300"/>
              </a:spcAft>
              <a:buChar char="•"/>
              <a:defRPr sz="1500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31A24"/>
                </a:solidFill>
                <a:latin typeface="Arial"/>
                <a:ea typeface="Arial"/>
                <a:cs typeface="Arial"/>
              </a:rPr>
              <a:t>Donors, recipient organizations and volunteers each have their own table linked one to one with the user account.</a:t>
            </a:r>
          </a:p>
          <a:p xmlns:a="http://schemas.openxmlformats.org/drawingml/2006/main">
            <a:pPr marL="228600" indent="-114300">
              <a:spcAft>
                <a:spcPts val="1300"/>
              </a:spcAft>
              <a:buChar char="•"/>
              <a:defRPr sz="1500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31A24"/>
                </a:solidFill>
                <a:latin typeface="Arial"/>
                <a:ea typeface="Arial"/>
                <a:cs typeface="Arial"/>
              </a:rPr>
              <a:t>Allocation, assignment and delivery are separate records, so a decision, a task and a delivery are tracked independently.</a:t>
            </a:r>
          </a:p>
          <a:p xmlns:a="http://schemas.openxmlformats.org/drawingml/2006/main">
            <a:pPr marL="228600" indent="-114300">
              <a:spcAft>
                <a:spcPts val="1300"/>
              </a:spcAft>
              <a:buChar char="•"/>
              <a:defRPr sz="1500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31A24"/>
                </a:solidFill>
                <a:latin typeface="Arial"/>
                <a:ea typeface="Arial"/>
                <a:cs typeface="Arial"/>
              </a:rPr>
              <a:t>Recipient preferences resolve the many to many relationship between organizations and food categories.</a:t>
            </a:r>
          </a:p>
          <a:p xmlns:a="http://schemas.openxmlformats.org/drawingml/2006/main">
            <a:pPr marL="228600" indent="-114300">
              <a:spcAft>
                <a:spcPts val="1300"/>
              </a:spcAft>
              <a:buChar char="•"/>
              <a:defRPr sz="1500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31A24"/>
                </a:solidFill>
                <a:latin typeface="Arial"/>
                <a:ea typeface="Arial"/>
                <a:cs typeface="Arial"/>
              </a:rPr>
              <a:t>Notifications and audit logs keep users informed and every action traceable.</a:t>
            </a:r>
          </a:p>
        </p:txBody>
      </p:sp>
    </p:spTree>
    <p:extLst>
      <p:ext uri="{BB962C8B-B14F-4D97-AF65-F5344CB8AC3E}">
        <p14:creationId xmlns:p14="http://schemas.microsoft.com/office/powerpoint/2010/main" val="6778801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8A84520-BCC3-4558-8346-631F63AD7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000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31A24"/>
                </a:solidFill>
                <a:latin typeface="Arial"/>
                <a:ea typeface="Arial"/>
                <a:cs typeface="Arial"/>
              </a:rPr>
              <a:t>How the project was built</a:t>
            </a:r>
          </a:p>
        </p:txBody>
      </p:sp>
      <p:sp>
        <p:nvSpPr>
          <p:cNvPr id="2" name="slide-lead">
            <a:extLst xmlns:a="http://schemas.openxmlformats.org/drawingml/2006/main">
              <a:ext uri="{FF2B5EF4-FFF2-40B4-BE49-F238E27FC236}">
                <a16:creationId xmlns:a16="http://schemas.microsoft.com/office/drawing/2014/main" id="{5D54BD79-438C-488E-A86C-5E1FAC3F7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06F"/>
                </a:solidFill>
                <a:latin typeface="Arial"/>
                <a:ea typeface="Arial"/>
                <a:cs typeface="Arial"/>
              </a:rPr>
              <a:t>Six agile sprints, each ending with something that runs.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36D86106-4D71-4D9F-9D81-5CC56CE39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5EA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546950-37A6-475B-9DD4-3226067867CD}"/>
              </a:ext>
            </a:extLst>
          </p:cNvPr>
          <p:cNvGraphicFramePr/>
          <p:nvPr/>
        </p:nvGraphicFramePr>
        <p:xfrm>
          <a:off xmlns:a="http://schemas.openxmlformats.org/drawingml/2006/main" x="685800" y="1866900"/>
          <a:ext xmlns:a="http://schemas.openxmlformats.org/drawingml/2006/main" cx="10820400" cy="3543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20885"/>
                <a:gridCol w="2992877"/>
                <a:gridCol w="6906638"/>
              </a:tblGrid>
              <a:tr h="506186"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Sprint</a:t>
                      </a:r>
                    </a:p>
                  </a:txBody>
                  <a:tcPr marL="91440" marR="91440" marT="45720" marB="45720">
                    <a:solidFill>
                      <a:srgbClr val="F5F7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Focus</a:t>
                      </a:r>
                    </a:p>
                  </a:txBody>
                  <a:tcPr marL="91440" marR="91440" marT="45720" marB="45720">
                    <a:solidFill>
                      <a:srgbClr val="F5F7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What exists now</a:t>
                      </a:r>
                    </a:p>
                  </a:txBody>
                  <a:tcPr marL="91440" marR="91440" marT="45720" marB="45720">
                    <a:solidFill>
                      <a:srgbClr val="F5F7F8"/>
                    </a:solidFill>
                  </a:tcPr>
                </a:tc>
              </a:tr>
              <a:tr h="506186"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Requirements and design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Problem statement, ER model, class model, layered architecture</a:t>
                      </a:r>
                    </a:p>
                  </a:txBody>
                  <a:tcPr marL="91440" marR="91440" marT="45720" marB="45720"/>
                </a:tc>
              </a:tr>
              <a:tr h="506186"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Authentication and roles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JWT login, four role workspaces, access rules enforced on the server</a:t>
                      </a:r>
                    </a:p>
                  </a:txBody>
                  <a:tcPr marL="91440" marR="91440" marT="45720" marB="45720"/>
                </a:tc>
              </a:tr>
              <a:tr h="506186"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Donation and recipient management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Donation records, demand, storage capacity and category preferences</a:t>
                      </a:r>
                    </a:p>
                  </a:txBody>
                  <a:tcPr marL="91440" marR="91440" marT="45720" marB="45720"/>
                </a:tc>
              </a:tr>
              <a:tr h="506186"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Allocation engine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Eligibility filters, six factor scoring, decision explanations</a:t>
                      </a:r>
                    </a:p>
                  </a:txBody>
                  <a:tcPr marL="91440" marR="91440" marT="45720" marB="45720"/>
                </a:tc>
              </a:tr>
              <a:tr h="506186"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Volunteer and delivery tracking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Volunteer matching, pickup to handover status, notifications</a:t>
                      </a:r>
                    </a:p>
                  </a:txBody>
                  <a:tcPr marL="91440" marR="91440" marT="45720" marB="45720"/>
                </a:tc>
              </a:tr>
              <a:tr h="506186"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Reports, testing, hardening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Analytics, audit log, nine automated tests, eighteen API checks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C9C32B-3301-4C2A-9992-9155C2BEF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7690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0">
                <a:solidFill>
                  <a:srgbClr val="8A94A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8A94A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8A94A3"/>
                </a:solidFill>
                <a:latin typeface="Arial"/>
                <a:ea typeface="Arial"/>
                <a:cs typeface="Arial"/>
              </a:rPr>
              <a:t>Design decisions and the alternatives I rejected are recorded in docs/DESIGN_DECISIONS.md.</a:t>
            </a:r>
          </a:p>
        </p:txBody>
      </p:sp>
    </p:spTree>
    <p:extLst>
      <p:ext uri="{BB962C8B-B14F-4D97-AF65-F5344CB8AC3E}">
        <p14:creationId xmlns:p14="http://schemas.microsoft.com/office/powerpoint/2010/main" val="195232824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FA1F5F3-2277-47B1-A803-CD0B06110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000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31A24"/>
                </a:solidFill>
                <a:latin typeface="Arial"/>
                <a:ea typeface="Arial"/>
                <a:cs typeface="Arial"/>
              </a:rPr>
              <a:t>How the engine chooses a recipient</a:t>
            </a:r>
          </a:p>
        </p:txBody>
      </p:sp>
      <p:sp>
        <p:nvSpPr>
          <p:cNvPr id="2" name="slide-lead">
            <a:extLst xmlns:a="http://schemas.openxmlformats.org/drawingml/2006/main">
              <a:ext uri="{FF2B5EF4-FFF2-40B4-BE49-F238E27FC236}">
                <a16:creationId xmlns:a16="http://schemas.microsoft.com/office/drawing/2014/main" id="{D687DD77-A63F-41EC-8790-A5736BE00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06F"/>
                </a:solidFill>
                <a:latin typeface="Arial"/>
                <a:ea typeface="Arial"/>
                <a:cs typeface="Arial"/>
              </a:rPr>
              <a:t>Four eligibility checks run first. Only the organizations that pass them are scored.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EE20AF4E-5E7C-49AA-8782-1087AC8C8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5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ox-Verified organization">
            <a:extLst xmlns:a="http://schemas.openxmlformats.org/drawingml/2006/main">
              <a:ext uri="{FF2B5EF4-FFF2-40B4-BE49-F238E27FC236}">
                <a16:creationId xmlns:a16="http://schemas.microsoft.com/office/drawing/2014/main" id="{5FDCB354-2BEB-406A-B3DF-E0FB42DFB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22860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5EA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31A24"/>
                </a:solidFill>
                <a:latin typeface="Arial"/>
                <a:ea typeface="Arial"/>
                <a:cs typeface="Arial"/>
              </a:rPr>
              <a:t>Verified organization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3B0538-4720-4F49-A2AC-E07EE000C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162175"/>
            <a:ext cx="4191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A94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box-Free storage for the load">
            <a:extLst xmlns:a="http://schemas.openxmlformats.org/drawingml/2006/main">
              <a:ext uri="{FF2B5EF4-FFF2-40B4-BE49-F238E27FC236}">
                <a16:creationId xmlns:a16="http://schemas.microsoft.com/office/drawing/2014/main" id="{6AB03BD5-69C7-43F0-952D-60FC4C6E9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866900"/>
            <a:ext cx="22860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5EA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31A24"/>
                </a:solidFill>
                <a:latin typeface="Arial"/>
                <a:ea typeface="Arial"/>
                <a:cs typeface="Arial"/>
              </a:rPr>
              <a:t>Free storage for the load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C0CC52-D47F-4F0C-AC79-33B19F5EC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162175"/>
            <a:ext cx="4191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A94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box-Category accepted">
            <a:extLst xmlns:a="http://schemas.openxmlformats.org/drawingml/2006/main">
              <a:ext uri="{FF2B5EF4-FFF2-40B4-BE49-F238E27FC236}">
                <a16:creationId xmlns:a16="http://schemas.microsoft.com/office/drawing/2014/main" id="{0B039299-B20A-41E7-89AC-934F7C21A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866900"/>
            <a:ext cx="22860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5EA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31A24"/>
                </a:solidFill>
                <a:latin typeface="Arial"/>
                <a:ea typeface="Arial"/>
                <a:cs typeface="Arial"/>
              </a:rPr>
              <a:t>Category accepted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B99B87-BAC6-442F-8F7E-85A9E533C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162175"/>
            <a:ext cx="4191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A94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ox-Can arrive safely">
            <a:extLst xmlns:a="http://schemas.openxmlformats.org/drawingml/2006/main">
              <a:ext uri="{FF2B5EF4-FFF2-40B4-BE49-F238E27FC236}">
                <a16:creationId xmlns:a16="http://schemas.microsoft.com/office/drawing/2014/main" id="{002F6BD8-A7D3-437B-BB6A-65890E6B0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866900"/>
            <a:ext cx="22860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5EA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31A24"/>
                </a:solidFill>
                <a:latin typeface="Arial"/>
                <a:ea typeface="Arial"/>
                <a:cs typeface="Arial"/>
              </a:rPr>
              <a:t>Can arrive safely</a:t>
            </a:r>
          </a:p>
        </p:txBody>
      </p:sp>
      <p:graphicFrame>
        <p:nvGraphicFrame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C2975E-C220-4C27-9239-E9CA24D958BA}"/>
              </a:ext>
            </a:extLst>
          </p:cNvPr>
          <p:cNvGraphicFramePr/>
          <p:nvPr/>
        </p:nvGraphicFramePr>
        <p:xfrm>
          <a:off xmlns:a="http://schemas.openxmlformats.org/drawingml/2006/main" x="685800" y="2819400"/>
          <a:ext xmlns:a="http://schemas.openxmlformats.org/drawingml/2006/main" cx="10820400" cy="2781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0750"/>
                <a:gridCol w="1143000"/>
                <a:gridCol w="7486650"/>
              </a:tblGrid>
              <a:tr h="397329"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Factor</a:t>
                      </a:r>
                    </a:p>
                  </a:txBody>
                  <a:tcPr marL="91440" marR="91440" marT="45720" marB="45720">
                    <a:solidFill>
                      <a:srgbClr val="F5F7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Weight</a:t>
                      </a:r>
                    </a:p>
                  </a:txBody>
                  <a:tcPr marL="91440" marR="91440" marT="45720" marB="45720">
                    <a:solidFill>
                      <a:srgbClr val="F5F7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What it measures</a:t>
                      </a:r>
                    </a:p>
                  </a:txBody>
                  <a:tcPr marL="91440" marR="91440" marT="45720" marB="45720">
                    <a:solidFill>
                      <a:srgbClr val="F5F7F8"/>
                    </a:solidFill>
                  </a:tcPr>
                </a:tc>
              </a:tr>
              <a:tr h="397329"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Expiry urgency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25%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How soon the food expires, weighted by how quickly this recipient can collect it</a:t>
                      </a:r>
                    </a:p>
                  </a:txBody>
                  <a:tcPr marL="91440" marR="91440" marT="45720" marB="45720"/>
                </a:tc>
              </a:tr>
              <a:tr h="397329"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Demand match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20%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How well the donation size matches the registered demand</a:t>
                      </a:r>
                    </a:p>
                  </a:txBody>
                  <a:tcPr marL="91440" marR="91440" marT="45720" marB="45720"/>
                </a:tc>
              </a:tr>
              <a:tr h="397329"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Storage fit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15%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Whether the load fits in remaining storage without overloading it</a:t>
                      </a:r>
                    </a:p>
                  </a:txBody>
                  <a:tcPr marL="91440" marR="91440" marT="45720" marB="45720"/>
                </a:tc>
              </a:tr>
              <a:tr h="397329"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Proximity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15%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Distance from the pickup point</a:t>
                      </a:r>
                    </a:p>
                  </a:txBody>
                  <a:tcPr marL="91440" marR="91440" marT="45720" marB="45720"/>
                </a:tc>
              </a:tr>
              <a:tr h="397329"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Food preference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15%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Whether the organization accepts this category</a:t>
                      </a:r>
                    </a:p>
                  </a:txBody>
                  <a:tcPr marL="91440" marR="91440" marT="45720" marB="45720"/>
                </a:tc>
              </a:tr>
              <a:tr h="397329"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Fair distribution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10%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How much the organization received in the last 30 days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BBD3DE-22F7-41E7-BB43-B2AA64BD5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0">
                <a:solidFill>
                  <a:srgbClr val="8A94A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8A94A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8A94A3"/>
                </a:solidFill>
                <a:latin typeface="Arial"/>
                <a:ea typeface="Arial"/>
                <a:cs typeface="Arial"/>
              </a:rPr>
              <a:t>The score and the per factor breakdown are stored with every allocation, so a decision can be reopened later.</a:t>
            </a:r>
          </a:p>
        </p:txBody>
      </p:sp>
    </p:spTree>
    <p:extLst>
      <p:ext uri="{BB962C8B-B14F-4D97-AF65-F5344CB8AC3E}">
        <p14:creationId xmlns:p14="http://schemas.microsoft.com/office/powerpoint/2010/main" val="18450200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B4359D4-94F5-4F5E-B8AA-999503503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000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31A24"/>
                </a:solidFill>
                <a:latin typeface="Arial"/>
                <a:ea typeface="Arial"/>
                <a:cs typeface="Arial"/>
              </a:rPr>
              <a:t>Food-safety arrival rule</a:t>
            </a:r>
          </a:p>
        </p:txBody>
      </p:sp>
      <p:sp>
        <p:nvSpPr>
          <p:cNvPr id="2" name="slide-lead">
            <a:extLst xmlns:a="http://schemas.openxmlformats.org/drawingml/2006/main">
              <a:ext uri="{FF2B5EF4-FFF2-40B4-BE49-F238E27FC236}">
                <a16:creationId xmlns:a16="http://schemas.microsoft.com/office/drawing/2014/main" id="{83E801B7-8FC5-4069-AC49-E7EB7F309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06F"/>
                </a:solidFill>
                <a:latin typeface="Arial"/>
                <a:ea typeface="Arial"/>
                <a:cs typeface="Arial"/>
              </a:rPr>
              <a:t>The rule I added. Food must be able to arrive while it is still safe to serve.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81FE2124-7CD9-4F6C-9778-646D8B1AB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5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A896D6-B041-4C0C-9659-5CB94CD0D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6096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>
                <a:solidFill>
                  <a:srgbClr val="131A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marL="228600" indent="-114300">
              <a:spcAft>
                <a:spcPts val="1400"/>
              </a:spcAft>
              <a:buChar char="•"/>
              <a:defRPr sz="1425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31A24"/>
                </a:solidFill>
                <a:latin typeface="Arial"/>
                <a:ea typeface="Arial"/>
                <a:cs typeface="Arial"/>
              </a:rPr>
              <a:t>The engine estimates pickup to handover time for each organization from the distance, and adds handling time.</a:t>
            </a:r>
          </a:p>
          <a:p xmlns:a="http://schemas.openxmlformats.org/drawingml/2006/main">
            <a:pPr marL="228600" indent="-114300">
              <a:spcAft>
                <a:spcPts val="1400"/>
              </a:spcAft>
              <a:buChar char="•"/>
              <a:defRPr sz="1425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31A24"/>
                </a:solidFill>
                <a:latin typeface="Arial"/>
                <a:ea typeface="Arial"/>
                <a:cs typeface="Arial"/>
              </a:rPr>
              <a:t>It compares that estimate with the time left on the food's safe window and keeps sixty minutes free for serving.</a:t>
            </a:r>
          </a:p>
          <a:p xmlns:a="http://schemas.openxmlformats.org/drawingml/2006/main">
            <a:pPr marL="228600" indent="-114300">
              <a:spcAft>
                <a:spcPts val="1400"/>
              </a:spcAft>
              <a:buChar char="•"/>
              <a:defRPr sz="1425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31A24"/>
                </a:solidFill>
                <a:latin typeface="Arial"/>
                <a:ea typeface="Arial"/>
                <a:cs typeface="Arial"/>
              </a:rPr>
              <a:t>If the food cannot arrive in time, the organization is excluded and the reason is written on the allocation.</a:t>
            </a:r>
          </a:p>
          <a:p xmlns:a="http://schemas.openxmlformats.org/drawingml/2006/main">
            <a:pPr marL="228600" indent="-114300">
              <a:spcAft>
                <a:spcPts val="1400"/>
              </a:spcAft>
              <a:buChar char="•"/>
              <a:defRPr sz="1425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31A24"/>
                </a:solidFill>
                <a:latin typeface="Arial"/>
                <a:ea typeface="Arial"/>
                <a:cs typeface="Arial"/>
              </a:rPr>
              <a:t>I started with distance as a lower score. Late arrival is unsafe, so it became a hard rule in front of scoring.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2BF3F0-DF64-45E9-A024-FAA809B442A3}"/>
              </a:ext>
            </a:extLst>
          </p:cNvPr>
          <p:cNvGraphicFramePr/>
          <p:nvPr/>
        </p:nvGraphicFramePr>
        <p:xfrm>
          <a:off xmlns:a="http://schemas.openxmlformats.org/drawingml/2006/main" x="7124700" y="1905000"/>
          <a:ext xmlns:a="http://schemas.openxmlformats.org/drawingml/2006/main" cx="4381500" cy="2381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48000"/>
                <a:gridCol w="1333500"/>
              </a:tblGrid>
              <a:tr h="59531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Assumption</a:t>
                      </a:r>
                    </a:p>
                  </a:txBody>
                  <a:tcPr marL="91440" marR="91440" marT="45720" marB="45720">
                    <a:solidFill>
                      <a:srgbClr val="F5F7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Value</a:t>
                      </a:r>
                    </a:p>
                  </a:txBody>
                  <a:tcPr marL="91440" marR="91440" marT="45720" marB="45720">
                    <a:solidFill>
                      <a:srgbClr val="F5F7F8"/>
                    </a:solidFill>
                  </a:tcPr>
                </a:tc>
              </a:tr>
              <a:tr h="59531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City travel speed, two wheeler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20 km/h</a:t>
                      </a:r>
                    </a:p>
                  </a:txBody>
                  <a:tcPr marL="91440" marR="91440" marT="45720" marB="45720"/>
                </a:tc>
              </a:tr>
              <a:tr h="59531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Handling at the donor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10 minutes</a:t>
                      </a:r>
                    </a:p>
                  </a:txBody>
                  <a:tcPr marL="91440" marR="91440" marT="45720" marB="45720"/>
                </a:tc>
              </a:tr>
              <a:tr h="59531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Serving buffer before expiry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00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60 minutes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1CF3D4-92C0-4CC2-80A1-6BD774550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0">
                <a:solidFill>
                  <a:srgbClr val="8A94A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8A94A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8A94A3"/>
                </a:solidFill>
                <a:latin typeface="Arial"/>
                <a:ea typeface="Arial"/>
                <a:cs typeface="Arial"/>
              </a:rPr>
              <a:t>These three assumptions are mine to defend, and they are the only numbers the rule needs to change.</a:t>
            </a:r>
          </a:p>
        </p:txBody>
      </p:sp>
    </p:spTree>
    <p:extLst>
      <p:ext uri="{BB962C8B-B14F-4D97-AF65-F5344CB8AC3E}">
        <p14:creationId xmlns:p14="http://schemas.microsoft.com/office/powerpoint/2010/main" val="196571752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59FE1D5-30FD-42ED-805F-4EB07B658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000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31A24"/>
                </a:solidFill>
                <a:latin typeface="Arial"/>
                <a:ea typeface="Arial"/>
                <a:cs typeface="Arial"/>
              </a:rPr>
              <a:t>The rule in the running system</a:t>
            </a:r>
          </a:p>
        </p:txBody>
      </p:sp>
      <p:sp>
        <p:nvSpPr>
          <p:cNvPr id="2" name="slide-lead">
            <a:extLst xmlns:a="http://schemas.openxmlformats.org/drawingml/2006/main">
              <a:ext uri="{FF2B5EF4-FFF2-40B4-BE49-F238E27FC236}">
                <a16:creationId xmlns:a16="http://schemas.microsoft.com/office/drawing/2014/main" id="{5484325F-C76E-4729-967D-BC603AF53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06F"/>
                </a:solidFill>
                <a:latin typeface="Arial"/>
                <a:ea typeface="Arial"/>
                <a:cs typeface="Arial"/>
              </a:rPr>
              <a:t>One donation with two hours of safe window left, six organizations, six decisions.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B69F0079-1715-48BA-B6A6-FC96C8D5B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5EA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310E06-4CBD-4621-BAF9-AC9A82A1D18F}"/>
              </a:ext>
            </a:extLst>
          </p:cNvPr>
          <p:cNvGraphicFramePr/>
          <p:nvPr/>
        </p:nvGraphicFramePr>
        <p:xfrm>
          <a:off xmlns:a="http://schemas.openxmlformats.org/drawingml/2006/main" x="685800" y="1866900"/>
          <a:ext xmlns:a="http://schemas.openxmlformats.org/drawingml/2006/main" cx="10820400" cy="3676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23733"/>
                <a:gridCol w="1143000"/>
                <a:gridCol w="1524000"/>
                <a:gridCol w="4529667"/>
              </a:tblGrid>
              <a:tr h="525236"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Organization</a:t>
                      </a:r>
                    </a:p>
                  </a:txBody>
                  <a:tcPr marL="91440" marR="91440" marT="45720" marB="45720">
                    <a:solidFill>
                      <a:srgbClr val="F5F7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Distance</a:t>
                      </a:r>
                    </a:p>
                  </a:txBody>
                  <a:tcPr marL="91440" marR="91440" marT="45720" marB="45720">
                    <a:solidFill>
                      <a:srgbClr val="F5F7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Arrival estimate</a:t>
                      </a:r>
                    </a:p>
                  </a:txBody>
                  <a:tcPr marL="91440" marR="91440" marT="45720" marB="45720">
                    <a:solidFill>
                      <a:srgbClr val="F5F7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Outcome</a:t>
                      </a:r>
                    </a:p>
                  </a:txBody>
                  <a:tcPr marL="91440" marR="91440" marT="45720" marB="45720">
                    <a:solidFill>
                      <a:srgbClr val="F5F7F8"/>
                    </a:solidFill>
                  </a:tcPr>
                </a:tc>
              </a:tr>
              <a:tr h="525236"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Sneha Sadan Orphanage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11.6 km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45 min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Eligible, arrives with about 15 minutes to spare</a:t>
                      </a:r>
                    </a:p>
                  </a:txBody>
                  <a:tcPr marL="91440" marR="91440" marT="45720" marB="45720"/>
                </a:tc>
              </a:tr>
              <a:tr h="525236"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Sanjeevini Community Kitchen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11.8 km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45 min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Eligible, arrives with about 15 minutes to spare</a:t>
                      </a:r>
                    </a:p>
                  </a:txBody>
                  <a:tcPr marL="91440" marR="91440" marT="45720" marB="45720"/>
                </a:tc>
              </a:tr>
              <a:tr h="525236"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Akshaya Patra Community Kitchen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25.0 km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85 min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Excluded, 85 minutes needed but only 60 available</a:t>
                      </a:r>
                    </a:p>
                  </a:txBody>
                  <a:tcPr marL="91440" marR="91440" marT="45720" marB="45720"/>
                </a:tc>
              </a:tr>
              <a:tr h="525236"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Chennai Food Bank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20.0 km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70 min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Excluded, 70 minutes needed but only 60 available</a:t>
                      </a:r>
                    </a:p>
                  </a:txBody>
                  <a:tcPr marL="91440" marR="91440" marT="45720" marB="45720"/>
                </a:tc>
              </a:tr>
              <a:tr h="525236"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Anand Ashram Shelter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18.3 km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65 min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Excluded, 65 minutes needed but only 60 available</a:t>
                      </a:r>
                    </a:p>
                  </a:txBody>
                  <a:tcPr marL="91440" marR="91440" marT="45720" marB="45720"/>
                </a:tc>
              </a:tr>
              <a:tr h="525236"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Hope Foundation Trust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11.2 km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45 min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Excluded, organization is not verified yet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85BD20-7694-4ECE-BC25-0498CF9DA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959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0">
                <a:solidFill>
                  <a:srgbClr val="8A94A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8A94A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8A94A3"/>
                </a:solidFill>
                <a:latin typeface="Arial"/>
                <a:ea typeface="Arial"/>
                <a:cs typeface="Arial"/>
              </a:rPr>
              <a:t>Allocation engine output on 16 October 2026, seeded demonstration dataset.</a:t>
            </a:r>
          </a:p>
        </p:txBody>
      </p:sp>
    </p:spTree>
    <p:extLst>
      <p:ext uri="{BB962C8B-B14F-4D97-AF65-F5344CB8AC3E}">
        <p14:creationId xmlns:p14="http://schemas.microsoft.com/office/powerpoint/2010/main" val="18211044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BAB3C9E-59F9-41F4-B660-467E0B33D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000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31A24"/>
                </a:solidFill>
                <a:latin typeface="Arial"/>
                <a:ea typeface="Arial"/>
                <a:cs typeface="Arial"/>
              </a:rPr>
              <a:t>Balanced distribution</a:t>
            </a:r>
          </a:p>
        </p:txBody>
      </p:sp>
      <p:sp>
        <p:nvSpPr>
          <p:cNvPr id="2" name="slide-lead">
            <a:extLst xmlns:a="http://schemas.openxmlformats.org/drawingml/2006/main">
              <a:ext uri="{FF2B5EF4-FFF2-40B4-BE49-F238E27FC236}">
                <a16:creationId xmlns:a16="http://schemas.microsoft.com/office/drawing/2014/main" id="{FA702DFD-AF8D-4452-920A-72F49D429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06F"/>
                </a:solidFill>
                <a:latin typeface="Arial"/>
                <a:ea typeface="Arial"/>
                <a:cs typeface="Arial"/>
              </a:rPr>
              <a:t>The engine scores how much each organization received recently, and the reports show the spread.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7CBCA10B-188D-40CC-B84B-FCD21460E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5EA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FD37CD-EFA5-49CC-87DA-1AD828246CC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72604e1c254795"/>
          <a:stretch xmlns:a="http://schemas.openxmlformats.org/drawingml/2006/main"/>
        </p:blipFill>
        <p:spPr>
          <a:xfrm xmlns:a="http://schemas.openxmlformats.org/drawingml/2006/main">
            <a:off x="685800" y="1920478"/>
            <a:ext cx="5905500" cy="3321844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1D845B-AFBF-4957-88D1-B9F73CAFA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06F"/>
                </a:solidFill>
                <a:latin typeface="Arial"/>
                <a:ea typeface="Arial"/>
                <a:cs typeface="Arial"/>
              </a:rPr>
              <a:t>Distribution across organizations in the report view.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C9A5A6-8A7C-484E-9606-0E5CED450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962150"/>
            <a:ext cx="43815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>
                <a:solidFill>
                  <a:srgbClr val="131A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marL="228600" indent="-114300">
              <a:spcAft>
                <a:spcPts val="1800"/>
              </a:spcAft>
              <a:buChar char="•"/>
              <a:defRPr sz="1425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31A24"/>
                </a:solidFill>
                <a:latin typeface="Arial"/>
                <a:ea typeface="Arial"/>
                <a:cs typeface="Arial"/>
              </a:rPr>
              <a:t>An organization that received less in the last 30 days scores higher on the fairness factor.</a:t>
            </a:r>
          </a:p>
          <a:p xmlns:a="http://schemas.openxmlformats.org/drawingml/2006/main">
            <a:pPr marL="228600" indent="-114300">
              <a:spcAft>
                <a:spcPts val="1800"/>
              </a:spcAft>
              <a:buChar char="•"/>
              <a:defRPr sz="1425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31A24"/>
                </a:solidFill>
                <a:latin typeface="Arial"/>
                <a:ea typeface="Arial"/>
                <a:cs typeface="Arial"/>
              </a:rPr>
              <a:t>The factor carries ten percent of the score, so it settles close decisions instead of overriding food safety.</a:t>
            </a:r>
          </a:p>
          <a:p xmlns:a="http://schemas.openxmlformats.org/drawingml/2006/main">
            <a:pPr marL="228600" indent="-114300">
              <a:spcAft>
                <a:spcPts val="1800"/>
              </a:spcAft>
              <a:buChar char="•"/>
              <a:defRPr sz="1425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31A24"/>
                </a:solidFill>
                <a:latin typeface="Arial"/>
                <a:ea typeface="Arial"/>
                <a:cs typeface="Arial"/>
              </a:rPr>
              <a:t>Reports show the kilograms each partner received, so uneven distribution is visible instead of hidden.</a:t>
            </a:r>
          </a:p>
        </p:txBody>
      </p:sp>
    </p:spTree>
    <p:extLst>
      <p:ext uri="{BB962C8B-B14F-4D97-AF65-F5344CB8AC3E}">
        <p14:creationId xmlns:p14="http://schemas.microsoft.com/office/powerpoint/2010/main" val="82996162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8564B01-9BB4-4CA5-8BE8-A9B66206B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000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31A24"/>
                </a:solidFill>
                <a:latin typeface="Arial"/>
                <a:ea typeface="Arial"/>
                <a:cs typeface="Arial"/>
              </a:rPr>
              <a:t>What each role can do</a:t>
            </a:r>
          </a:p>
        </p:txBody>
      </p:sp>
      <p:sp>
        <p:nvSpPr>
          <p:cNvPr id="2" name="slide-lead">
            <a:extLst xmlns:a="http://schemas.openxmlformats.org/drawingml/2006/main">
              <a:ext uri="{FF2B5EF4-FFF2-40B4-BE49-F238E27FC236}">
                <a16:creationId xmlns:a16="http://schemas.microsoft.com/office/drawing/2014/main" id="{3D3BC712-EB1D-4E25-84A4-104FA375E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06F"/>
                </a:solidFill>
                <a:latin typeface="Arial"/>
                <a:ea typeface="Arial"/>
                <a:cs typeface="Arial"/>
              </a:rPr>
              <a:t>Each workspace shows only what that role can act on.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E06A01D8-81F8-41D2-8BFC-BD8B8CB2A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5EA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07090A-66A9-4960-9D0F-F54DE5F217A7}"/>
              </a:ext>
            </a:extLst>
          </p:cNvPr>
          <p:cNvGraphicFramePr/>
          <p:nvPr/>
        </p:nvGraphicFramePr>
        <p:xfrm>
          <a:off xmlns:a="http://schemas.openxmlformats.org/drawingml/2006/main" x="685800" y="1866900"/>
          <a:ext xmlns:a="http://schemas.openxmlformats.org/drawingml/2006/main" cx="1082040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8439150"/>
              </a:tblGrid>
              <a:tr h="5715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Role</a:t>
                      </a:r>
                    </a:p>
                  </a:txBody>
                  <a:tcPr marL="91440" marR="91440" marT="45720" marB="45720">
                    <a:solidFill>
                      <a:srgbClr val="F5F7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Actions available</a:t>
                      </a:r>
                    </a:p>
                  </a:txBody>
                  <a:tcPr marL="91440" marR="91440" marT="45720" marB="45720">
                    <a:solidFill>
                      <a:srgbClr val="F5F7F8"/>
                    </a:solidFill>
                  </a:tcPr>
                </a:tc>
              </a:tr>
              <a:tr h="5715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275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Donor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75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Register surplus food, modify or cancel it while pending, preview the recommended recipient, follow the status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275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Recipient organization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75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Keep demand, storage and accepted categories current, accept or decline allocations, confirm receipt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275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Volunteer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75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Set availability, accept or decline a pickup, move it through pickup, transit and handover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275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Administrator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275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Verify organizations, run the engine, manage users, review the audit trail and system health, export reports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B59D6A-F2A0-47BB-A1A0-F378F5873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0540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0">
                <a:solidFill>
                  <a:srgbClr val="8A94A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8A94A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8A94A3"/>
                </a:solidFill>
                <a:latin typeface="Arial"/>
                <a:ea typeface="Arial"/>
                <a:cs typeface="Arial"/>
              </a:rPr>
              <a:t>Server side rules enforce the same split, so a role cannot reach another role's data through the API.</a:t>
            </a:r>
          </a:p>
        </p:txBody>
      </p:sp>
    </p:spTree>
    <p:extLst>
      <p:ext uri="{BB962C8B-B14F-4D97-AF65-F5344CB8AC3E}">
        <p14:creationId xmlns:p14="http://schemas.microsoft.com/office/powerpoint/2010/main" val="110378187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D52E35A-2233-466A-872C-476B07962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000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31A24"/>
                </a:solidFill>
                <a:latin typeface="Arial"/>
                <a:ea typeface="Arial"/>
                <a:cs typeface="Arial"/>
              </a:rPr>
              <a:t>Administrator screens</a:t>
            </a:r>
          </a:p>
        </p:txBody>
      </p:sp>
      <p:sp>
        <p:nvSpPr>
          <p:cNvPr id="2" name="slide-lead">
            <a:extLst xmlns:a="http://schemas.openxmlformats.org/drawingml/2006/main">
              <a:ext uri="{FF2B5EF4-FFF2-40B4-BE49-F238E27FC236}">
                <a16:creationId xmlns:a16="http://schemas.microsoft.com/office/drawing/2014/main" id="{82B2311C-380B-4EAD-8F73-AD5DB5341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06F"/>
                </a:solidFill>
                <a:latin typeface="Arial"/>
                <a:ea typeface="Arial"/>
                <a:cs typeface="Arial"/>
              </a:rPr>
              <a:t>Everything that needs a decision, then the engine that makes it.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9018940A-B909-4843-9C68-A20B09BD4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5EA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C64A59-7177-458C-B0C4-A173CF65D07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c7c94b376e492b"/>
          <a:stretch xmlns:a="http://schemas.openxmlformats.org/drawingml/2006/main"/>
        </p:blipFill>
        <p:spPr>
          <a:xfrm xmlns:a="http://schemas.openxmlformats.org/drawingml/2006/main">
            <a:off x="741363" y="1809750"/>
            <a:ext cx="5080000" cy="2857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D141F5-EBCA-4AD1-8EE8-8B35ACFCA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5191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06F"/>
                </a:solidFill>
                <a:latin typeface="Arial"/>
                <a:ea typeface="Arial"/>
                <a:cs typeface="Arial"/>
              </a:rPr>
              <a:t>Command center: waiting items, donation pipeline and rescue totals.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9B2B24-035F-44D6-A858-49EB8A6B6FB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9aa9908b854a9a"/>
          <a:stretch xmlns:a="http://schemas.openxmlformats.org/drawingml/2006/main"/>
        </p:blipFill>
        <p:spPr>
          <a:xfrm xmlns:a="http://schemas.openxmlformats.org/drawingml/2006/main">
            <a:off x="6370638" y="1809750"/>
            <a:ext cx="5080000" cy="28575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7F1877-1466-47BA-809B-B85007692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4762500"/>
            <a:ext cx="5191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06F"/>
                </a:solidFill>
                <a:latin typeface="Arial"/>
                <a:ea typeface="Arial"/>
                <a:cs typeface="Arial"/>
              </a:rPr>
              <a:t>Allocation engine: ranked recipients, factor breakdown and exclusions.</a:t>
            </a:r>
          </a:p>
        </p:txBody>
      </p:sp>
    </p:spTree>
    <p:extLst>
      <p:ext uri="{BB962C8B-B14F-4D97-AF65-F5344CB8AC3E}">
        <p14:creationId xmlns:p14="http://schemas.microsoft.com/office/powerpoint/2010/main" val="185907308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874D848-8491-4F72-BF47-E6AF95356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000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31A24"/>
                </a:solidFill>
                <a:latin typeface="Arial"/>
                <a:ea typeface="Arial"/>
                <a:cs typeface="Arial"/>
              </a:rPr>
              <a:t>Recipient and volunteer screens</a:t>
            </a:r>
          </a:p>
        </p:txBody>
      </p:sp>
      <p:sp>
        <p:nvSpPr>
          <p:cNvPr id="2" name="slide-lead">
            <a:extLst xmlns:a="http://schemas.openxmlformats.org/drawingml/2006/main">
              <a:ext uri="{FF2B5EF4-FFF2-40B4-BE49-F238E27FC236}">
                <a16:creationId xmlns:a16="http://schemas.microsoft.com/office/drawing/2014/main" id="{CC90DA28-94D7-4F5B-9BBD-AB111A03C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06F"/>
                </a:solidFill>
                <a:latin typeface="Arial"/>
                <a:ea typeface="Arial"/>
                <a:cs typeface="Arial"/>
              </a:rPr>
              <a:t>The two roles that act after the decision.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47D24670-0443-4BC1-97B0-613067C86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5EA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D28F8D-DE80-45EC-A726-E06A9DCB162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bae251e30b462e"/>
          <a:stretch xmlns:a="http://schemas.openxmlformats.org/drawingml/2006/main"/>
        </p:blipFill>
        <p:spPr>
          <a:xfrm xmlns:a="http://schemas.openxmlformats.org/drawingml/2006/main">
            <a:off x="741363" y="1809750"/>
            <a:ext cx="5080000" cy="2857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D54EFD-F07E-4C0E-897C-9DBEC4929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5191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06F"/>
                </a:solidFill>
                <a:latin typeface="Arial"/>
                <a:ea typeface="Arial"/>
                <a:cs typeface="Arial"/>
              </a:rPr>
              <a:t>Recipient: incoming allocation, demand, capacity and accepted categories.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AF608E-3941-4AD2-BD9C-8268C0793A2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a1184d383a4dee"/>
          <a:stretch xmlns:a="http://schemas.openxmlformats.org/drawingml/2006/main"/>
        </p:blipFill>
        <p:spPr>
          <a:xfrm xmlns:a="http://schemas.openxmlformats.org/drawingml/2006/main">
            <a:off x="6370638" y="1809750"/>
            <a:ext cx="5080000" cy="28575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019B3F-AA4E-4883-A18E-8C050E704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4762500"/>
            <a:ext cx="5191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06F"/>
                </a:solidFill>
                <a:latin typeface="Arial"/>
                <a:ea typeface="Arial"/>
                <a:cs typeface="Arial"/>
              </a:rPr>
              <a:t>Volunteer: availability and the delivery timeline for an active pickup.</a:t>
            </a:r>
          </a:p>
        </p:txBody>
      </p:sp>
    </p:spTree>
    <p:extLst>
      <p:ext uri="{BB962C8B-B14F-4D97-AF65-F5344CB8AC3E}">
        <p14:creationId xmlns:p14="http://schemas.microsoft.com/office/powerpoint/2010/main" val="110489391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EEA5F20-55F9-41C0-AEF9-4C52EC296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000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31A24"/>
                </a:solidFill>
                <a:latin typeface="Arial"/>
                <a:ea typeface="Arial"/>
                <a:cs typeface="Arial"/>
              </a:rPr>
              <a:t>Results from the current dataset</a:t>
            </a:r>
          </a:p>
        </p:txBody>
      </p:sp>
      <p:sp>
        <p:nvSpPr>
          <p:cNvPr id="2" name="slide-lead">
            <a:extLst xmlns:a="http://schemas.openxmlformats.org/drawingml/2006/main">
              <a:ext uri="{FF2B5EF4-FFF2-40B4-BE49-F238E27FC236}">
                <a16:creationId xmlns:a16="http://schemas.microsoft.com/office/drawing/2014/main" id="{ECA4BE46-5400-4DF3-9706-5F3778ECA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06F"/>
                </a:solidFill>
                <a:latin typeface="Arial"/>
                <a:ea typeface="Arial"/>
                <a:cs typeface="Arial"/>
              </a:rPr>
              <a:t>Sixteen donations across two weeks of seeded operation in one city.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90925903-5458-4C06-BE84-6512559D6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5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72FC22-334D-4176-9FAC-D8F172C6A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1">
                <a:solidFill>
                  <a:srgbClr val="0E7C5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E7C57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7C57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02C8B9-13AF-4048-B722-F77F4F550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06F"/>
                </a:solidFill>
                <a:latin typeface="Arial"/>
                <a:ea typeface="Arial"/>
                <a:cs typeface="Arial"/>
              </a:rPr>
              <a:t>donations registered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251A01-18E7-49B7-A006-2F48CA112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179070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1">
                <a:solidFill>
                  <a:srgbClr val="0E7C5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E7C57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7C57"/>
                </a:solidFill>
                <a:latin typeface="Arial"/>
                <a:ea typeface="Arial"/>
                <a:cs typeface="Arial"/>
              </a:rPr>
              <a:t>414 kg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B28648-B6B5-42B2-A1D9-B7BA64B6C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20980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06F"/>
                </a:solidFill>
                <a:latin typeface="Arial"/>
                <a:ea typeface="Arial"/>
                <a:cs typeface="Arial"/>
              </a:rPr>
              <a:t>food rescued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3E8666-D5B9-47B9-B4B3-B78CD105C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79070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1">
                <a:solidFill>
                  <a:srgbClr val="0E7C5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E7C57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7C57"/>
                </a:solidFill>
                <a:latin typeface="Arial"/>
                <a:ea typeface="Arial"/>
                <a:cs typeface="Arial"/>
              </a:rPr>
              <a:t>1,035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B6324F-B8F3-4E34-B637-F314A895A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20980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06F"/>
                </a:solidFill>
                <a:latin typeface="Arial"/>
                <a:ea typeface="Arial"/>
                <a:cs typeface="Arial"/>
              </a:rPr>
              <a:t>meals equivalent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D100A3-DAFD-46BC-9A37-560A049DD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79070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1">
                <a:solidFill>
                  <a:srgbClr val="0E7C5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E7C57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7C57"/>
                </a:solidFill>
                <a:latin typeface="Arial"/>
                <a:ea typeface="Arial"/>
                <a:cs typeface="Arial"/>
              </a:rPr>
              <a:t>91.7%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058949-8DCD-4F20-BA3E-C6D98285D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20980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06F"/>
                </a:solidFill>
                <a:latin typeface="Arial"/>
                <a:ea typeface="Arial"/>
                <a:cs typeface="Arial"/>
              </a:rPr>
              <a:t>allocations accepted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C28A8E-7CCF-4B9F-8BB7-696BD59B0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79070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1">
                <a:solidFill>
                  <a:srgbClr val="0E7C5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E7C57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7C57"/>
                </a:solidFill>
                <a:latin typeface="Arial"/>
                <a:ea typeface="Arial"/>
                <a:cs typeface="Arial"/>
              </a:rPr>
              <a:t>56 min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8F223B-1349-469A-8744-643689CEA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20980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06F"/>
                </a:solidFill>
                <a:latin typeface="Arial"/>
                <a:ea typeface="Arial"/>
                <a:cs typeface="Arial"/>
              </a:rPr>
              <a:t>pickup to confirmation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85484C-880E-4814-BC91-FDE252432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179070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1">
                <a:solidFill>
                  <a:srgbClr val="0E7C5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E7C57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7C57"/>
                </a:solidFill>
                <a:latin typeface="Arial"/>
                <a:ea typeface="Arial"/>
                <a:cs typeface="Arial"/>
              </a:rPr>
              <a:t>9 of 9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96FC44-EEF4-44B7-9287-6F96F0DEE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20980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06F"/>
                </a:solidFill>
                <a:latin typeface="Arial"/>
                <a:ea typeface="Arial"/>
                <a:cs typeface="Arial"/>
              </a:rPr>
              <a:t>automated tests pass</a:t>
            </a:r>
          </a:p>
        </p:txBody>
      </p:sp>
      <p:graphicFrame>
        <p:nvGraphicFramePr>
          <p:cNvPr id="16" name="Chart">
            <a:extLst xmlns:a="http://schemas.openxmlformats.org/drawingml/2006/main">
              <a:ext uri="{FF2B5EF4-FFF2-40B4-BE49-F238E27FC236}">
                <a16:creationId xmlns:a16="http://schemas.microsoft.com/office/drawing/2014/main" id="{81BE9E6A-6408-4749-83B7-48C82D236406}"/>
              </a:ext>
            </a:extLst>
          </p:cNvPr>
          <p:cNvGraphicFramePr/>
          <p:nvPr/>
        </p:nvGraphicFramePr>
        <p:xfrm>
          <a:off xmlns:a="http://schemas.openxmlformats.org/drawingml/2006/main" x="685800" y="2781300"/>
          <a:ext xmlns:a="http://schemas.openxmlformats.org/drawingml/2006/main" cx="10820400" cy="2857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5892971fd7f45b8"/>
          </a:graphicData>
        </a:graphic>
      </p:graphicFrame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D6BF61-6D6E-4478-A63D-6CE233B52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0">
                <a:solidFill>
                  <a:srgbClr val="8A94A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8A94A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8A94A3"/>
                </a:solidFill>
                <a:latin typeface="Arial"/>
                <a:ea typeface="Arial"/>
                <a:cs typeface="Arial"/>
              </a:rPr>
              <a:t>Nine automated tests and eighteen API role checks pass against the running build.</a:t>
            </a:r>
          </a:p>
        </p:txBody>
      </p:sp>
    </p:spTree>
    <p:extLst>
      <p:ext uri="{BB962C8B-B14F-4D97-AF65-F5344CB8AC3E}">
        <p14:creationId xmlns:p14="http://schemas.microsoft.com/office/powerpoint/2010/main" val="118235489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7E58F7A-DDFE-4559-BB00-16BE5184B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000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31A24"/>
                </a:solidFill>
                <a:latin typeface="Arial"/>
                <a:ea typeface="Arial"/>
                <a:cs typeface="Arial"/>
              </a:rPr>
              <a:t>How FoodBridge differs</a:t>
            </a:r>
          </a:p>
        </p:txBody>
      </p:sp>
      <p:sp>
        <p:nvSpPr>
          <p:cNvPr id="2" name="slide-lead">
            <a:extLst xmlns:a="http://schemas.openxmlformats.org/drawingml/2006/main">
              <a:ext uri="{FF2B5EF4-FFF2-40B4-BE49-F238E27FC236}">
                <a16:creationId xmlns:a16="http://schemas.microsoft.com/office/drawing/2014/main" id="{D83304EF-F3A0-41B0-9E88-6A1EF2406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06F"/>
                </a:solidFill>
                <a:latin typeface="Arial"/>
                <a:ea typeface="Arial"/>
                <a:cs typeface="Arial"/>
              </a:rPr>
              <a:t>Comparison against the donation platforms and the manual process described in the requirements.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AF320969-0845-4FD2-8D02-8FE673D2A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5EA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1614D8-6CD4-4FBA-9373-91BB97D877E9}"/>
              </a:ext>
            </a:extLst>
          </p:cNvPr>
          <p:cNvGraphicFramePr/>
          <p:nvPr/>
        </p:nvGraphicFramePr>
        <p:xfrm>
          <a:off xmlns:a="http://schemas.openxmlformats.org/drawingml/2006/main" x="685800" y="1866900"/>
          <a:ext xmlns:a="http://schemas.openxmlformats.org/drawingml/2006/main" cx="10820400" cy="3543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96896"/>
                <a:gridCol w="3895344"/>
                <a:gridCol w="4328160"/>
              </a:tblGrid>
              <a:tr h="506186"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Question</a:t>
                      </a:r>
                    </a:p>
                  </a:txBody>
                  <a:tcPr marL="91440" marR="91440" marT="45720" marB="45720">
                    <a:solidFill>
                      <a:srgbClr val="F5F7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Most donation platforms</a:t>
                      </a:r>
                    </a:p>
                  </a:txBody>
                  <a:tcPr marL="91440" marR="91440" marT="45720" marB="45720">
                    <a:solidFill>
                      <a:srgbClr val="F5F7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FoodBridge</a:t>
                      </a:r>
                    </a:p>
                  </a:txBody>
                  <a:tcPr marL="91440" marR="91440" marT="45720" marB="45720">
                    <a:solidFill>
                      <a:srgbClr val="F5F7F8"/>
                    </a:solidFill>
                  </a:tcPr>
                </a:tc>
              </a:tr>
              <a:tr h="506186"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Who receives the food?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The first organization to claim it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The engine ranks every eligible organization</a:t>
                      </a:r>
                    </a:p>
                  </a:txBody>
                  <a:tcPr marL="91440" marR="91440" marT="45720" marB="45720"/>
                </a:tc>
              </a:tr>
              <a:tr h="506186"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Can the food arrive in time?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The claimer judges it from the listing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Organizations that cannot receive it in time are excluded</a:t>
                      </a:r>
                    </a:p>
                  </a:txBody>
                  <a:tcPr marL="91440" marR="91440" marT="45720" marB="45720"/>
                </a:tc>
              </a:tr>
              <a:tr h="506186"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Is distribution balanced?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Not tracked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Recent amounts received affect the score</a:t>
                      </a:r>
                    </a:p>
                  </a:txBody>
                  <a:tcPr marL="91440" marR="91440" marT="45720" marB="45720"/>
                </a:tc>
              </a:tr>
              <a:tr h="506186"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Why this organization?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No explanation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A written reason is stored with each allocation</a:t>
                      </a:r>
                    </a:p>
                  </a:txBody>
                  <a:tcPr marL="91440" marR="91440" marT="45720" marB="45720"/>
                </a:tc>
              </a:tr>
              <a:tr h="506186"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Who coordinates delivery?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Donor and recipient arrange it themselves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Volunteers are matched by distance, current load and experience</a:t>
                      </a:r>
                    </a:p>
                  </a:txBody>
                  <a:tcPr marL="91440" marR="91440" marT="45720" marB="45720"/>
                </a:tc>
              </a:tr>
              <a:tr h="506186"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Is there a record of decisions?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Basic donation history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Every action is recorded in the audit log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65600A-2EFD-4040-B754-02FCEDDAF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7690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0">
                <a:solidFill>
                  <a:srgbClr val="8A94A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8A94A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8A94A3"/>
                </a:solidFill>
                <a:latin typeface="Arial"/>
                <a:ea typeface="Arial"/>
                <a:cs typeface="Arial"/>
              </a:rPr>
              <a:t>Assessment based on the process and platforms studied during the requirements phase.</a:t>
            </a:r>
          </a:p>
        </p:txBody>
      </p:sp>
    </p:spTree>
    <p:extLst>
      <p:ext uri="{BB962C8B-B14F-4D97-AF65-F5344CB8AC3E}">
        <p14:creationId xmlns:p14="http://schemas.microsoft.com/office/powerpoint/2010/main" val="112773048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5706A63-B44F-4317-AB52-B5DA25F0A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000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31A24"/>
                </a:solidFill>
                <a:latin typeface="Arial"/>
                <a:ea typeface="Arial"/>
                <a:cs typeface="Arial"/>
              </a:rPr>
              <a:t>Limitations</a:t>
            </a:r>
          </a:p>
        </p:txBody>
      </p:sp>
      <p:sp>
        <p:nvSpPr>
          <p:cNvPr id="2" name="slide-lead">
            <a:extLst xmlns:a="http://schemas.openxmlformats.org/drawingml/2006/main">
              <a:ext uri="{FF2B5EF4-FFF2-40B4-BE49-F238E27FC236}">
                <a16:creationId xmlns:a16="http://schemas.microsoft.com/office/drawing/2014/main" id="{1970D942-FCD8-466C-8245-34CC9A11A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06F"/>
                </a:solidFill>
                <a:latin typeface="Arial"/>
                <a:ea typeface="Arial"/>
                <a:cs typeface="Arial"/>
              </a:rPr>
              <a:t>What the current build does not do.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09909FE4-4829-48A2-B237-146EACE34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5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71057D-C028-423E-ABB2-F475489B2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4953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>
                <a:solidFill>
                  <a:srgbClr val="131A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marL="228600" indent="-114300">
              <a:spcAft>
                <a:spcPts val="1800"/>
              </a:spcAft>
              <a:buChar char="•"/>
              <a:defRPr sz="1425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31A24"/>
                </a:solidFill>
                <a:latin typeface="Arial"/>
                <a:ea typeface="Arial"/>
                <a:cs typeface="Arial"/>
              </a:rPr>
              <a:t>Distances use straight lines rather than road routes, and live traffic is not included.</a:t>
            </a:r>
          </a:p>
          <a:p xmlns:a="http://schemas.openxmlformats.org/drawingml/2006/main">
            <a:pPr marL="228600" indent="-114300">
              <a:spcAft>
                <a:spcPts val="1800"/>
              </a:spcAft>
              <a:buChar char="•"/>
              <a:defRPr sz="1425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31A24"/>
                </a:solidFill>
                <a:latin typeface="Arial"/>
                <a:ea typeface="Arial"/>
                <a:cs typeface="Arial"/>
              </a:rPr>
              <a:t>One average travel speed applies to every volunteer, so bikes and cars are treated the same.</a:t>
            </a:r>
          </a:p>
          <a:p xmlns:a="http://schemas.openxmlformats.org/drawingml/2006/main">
            <a:pPr marL="228600" indent="-114300">
              <a:spcAft>
                <a:spcPts val="1800"/>
              </a:spcAft>
              <a:buChar char="•"/>
              <a:defRPr sz="1425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31A24"/>
                </a:solidFill>
                <a:latin typeface="Arial"/>
                <a:ea typeface="Arial"/>
                <a:cs typeface="Arial"/>
              </a:rPr>
              <a:t>Locations are stored as coordinates. There is no map picker or address lookup yet.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A32262-0EAB-41DA-9319-382334A73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05000"/>
            <a:ext cx="52197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>
                <a:solidFill>
                  <a:srgbClr val="131A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marL="228600" indent="-114300">
              <a:spcAft>
                <a:spcPts val="1800"/>
              </a:spcAft>
              <a:buChar char="•"/>
              <a:defRPr sz="1425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31A24"/>
                </a:solidFill>
                <a:latin typeface="Arial"/>
                <a:ea typeface="Arial"/>
                <a:cs typeface="Arial"/>
              </a:rPr>
              <a:t>Delivery tracking records status changes. It does not stream GPS positions.</a:t>
            </a:r>
          </a:p>
          <a:p xmlns:a="http://schemas.openxmlformats.org/drawingml/2006/main">
            <a:pPr marL="228600" indent="-114300">
              <a:spcAft>
                <a:spcPts val="1800"/>
              </a:spcAft>
              <a:buChar char="•"/>
              <a:defRPr sz="1425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31A24"/>
                </a:solidFill>
                <a:latin typeface="Arial"/>
                <a:ea typeface="Arial"/>
                <a:cs typeface="Arial"/>
              </a:rPr>
              <a:t>Notifications appear inside the application only.</a:t>
            </a:r>
          </a:p>
          <a:p xmlns:a="http://schemas.openxmlformats.org/drawingml/2006/main">
            <a:pPr marL="228600" indent="-114300">
              <a:spcAft>
                <a:spcPts val="1800"/>
              </a:spcAft>
              <a:buChar char="•"/>
              <a:defRPr sz="1425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31A24"/>
                </a:solidFill>
                <a:latin typeface="Arial"/>
                <a:ea typeface="Arial"/>
                <a:cs typeface="Arial"/>
              </a:rPr>
              <a:t>The dataset covers one city with a few organizations, and the engine uses fixed weights instead of a model trained on real history.</a:t>
            </a:r>
          </a:p>
        </p:txBody>
      </p:sp>
    </p:spTree>
    <p:extLst>
      <p:ext uri="{BB962C8B-B14F-4D97-AF65-F5344CB8AC3E}">
        <p14:creationId xmlns:p14="http://schemas.microsoft.com/office/powerpoint/2010/main" val="193609556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FDAA9E7-2366-4E3F-87C6-4522AA52D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000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31A24"/>
                </a:solidFill>
                <a:latin typeface="Arial"/>
                <a:ea typeface="Arial"/>
                <a:cs typeface="Arial"/>
              </a:rPr>
              <a:t>Next steps</a:t>
            </a:r>
          </a:p>
        </p:txBody>
      </p:sp>
      <p:sp>
        <p:nvSpPr>
          <p:cNvPr id="2" name="slide-lead">
            <a:extLst xmlns:a="http://schemas.openxmlformats.org/drawingml/2006/main">
              <a:ext uri="{FF2B5EF4-FFF2-40B4-BE49-F238E27FC236}">
                <a16:creationId xmlns:a16="http://schemas.microsoft.com/office/drawing/2014/main" id="{115C5718-76E3-4D06-A8BE-A2F57FCF4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06F"/>
                </a:solidFill>
                <a:latin typeface="Arial"/>
                <a:ea typeface="Arial"/>
                <a:cs typeface="Arial"/>
              </a:rPr>
              <a:t>Improvements that follow from the limitations.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AB201803-5CF5-4A26-8C52-30062DFCB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5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AA68E6-8D68-4624-84D1-497E79E4A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4953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>
                <a:solidFill>
                  <a:srgbClr val="131A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marL="228600" indent="-114300">
              <a:spcAft>
                <a:spcPts val="1600"/>
              </a:spcAft>
              <a:buChar char="•"/>
              <a:defRPr sz="1425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31A24"/>
                </a:solidFill>
                <a:latin typeface="Arial"/>
                <a:ea typeface="Arial"/>
                <a:cs typeface="Arial"/>
              </a:rPr>
              <a:t>Use a mapping service for route aware arrival estimates and live traffic.</a:t>
            </a:r>
          </a:p>
          <a:p xmlns:a="http://schemas.openxmlformats.org/drawingml/2006/main">
            <a:pPr marL="228600" indent="-114300">
              <a:spcAft>
                <a:spcPts val="1600"/>
              </a:spcAft>
              <a:buChar char="•"/>
              <a:defRPr sz="1425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31A24"/>
                </a:solidFill>
                <a:latin typeface="Arial"/>
                <a:ea typeface="Arial"/>
                <a:cs typeface="Arial"/>
              </a:rPr>
              <a:t>Let organizations pick their location on a map and store the address automatically.</a:t>
            </a:r>
          </a:p>
          <a:p xmlns:a="http://schemas.openxmlformats.org/drawingml/2006/main">
            <a:pPr marL="228600" indent="-114300">
              <a:spcAft>
                <a:spcPts val="1600"/>
              </a:spcAft>
              <a:buChar char="•"/>
              <a:defRPr sz="1425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31A24"/>
                </a:solidFill>
                <a:latin typeface="Arial"/>
                <a:ea typeface="Arial"/>
                <a:cs typeface="Arial"/>
              </a:rPr>
              <a:t>Apply per vehicle speeds and re-check the arrival margin when a volunteer accepts.</a:t>
            </a:r>
          </a:p>
          <a:p xmlns:a="http://schemas.openxmlformats.org/drawingml/2006/main">
            <a:pPr marL="228600" indent="-114300">
              <a:spcAft>
                <a:spcPts val="1600"/>
              </a:spcAft>
              <a:buChar char="•"/>
              <a:defRPr sz="1425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31A24"/>
                </a:solidFill>
                <a:latin typeface="Arial"/>
                <a:ea typeface="Arial"/>
                <a:cs typeface="Arial"/>
              </a:rPr>
              <a:t>Build a volunteer reliability score from accept, decline and completion history.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9F4616-DFCB-4952-B56B-3354B8E1C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05000"/>
            <a:ext cx="52197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>
                <a:solidFill>
                  <a:srgbClr val="131A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marL="228600" indent="-114300">
              <a:spcAft>
                <a:spcPts val="1600"/>
              </a:spcAft>
              <a:buChar char="•"/>
              <a:defRPr sz="1425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31A24"/>
                </a:solidFill>
                <a:latin typeface="Arial"/>
                <a:ea typeface="Arial"/>
                <a:cs typeface="Arial"/>
              </a:rPr>
              <a:t>Add donor impact certificates for completed rescues, generated from the delivery record.</a:t>
            </a:r>
          </a:p>
          <a:p xmlns:a="http://schemas.openxmlformats.org/drawingml/2006/main">
            <a:pPr marL="228600" indent="-114300">
              <a:spcAft>
                <a:spcPts val="1600"/>
              </a:spcAft>
              <a:buChar char="•"/>
              <a:defRPr sz="1425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31A24"/>
                </a:solidFill>
                <a:latin typeface="Arial"/>
                <a:ea typeface="Arial"/>
                <a:cs typeface="Arial"/>
              </a:rPr>
              <a:t>Send expiry and allocation alerts by SMS or WhatsApp for organizations that do not check the app.</a:t>
            </a:r>
          </a:p>
          <a:p xmlns:a="http://schemas.openxmlformats.org/drawingml/2006/main">
            <a:pPr marL="228600" indent="-114300">
              <a:spcAft>
                <a:spcPts val="1600"/>
              </a:spcAft>
              <a:buChar char="•"/>
              <a:defRPr sz="1425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31A24"/>
                </a:solidFill>
                <a:latin typeface="Arial"/>
                <a:ea typeface="Arial"/>
                <a:cs typeface="Arial"/>
              </a:rPr>
              <a:t>Deploy the stack to a host and add a mobile friendly layout for volunteers in the field.</a:t>
            </a:r>
          </a:p>
        </p:txBody>
      </p:sp>
    </p:spTree>
    <p:extLst>
      <p:ext uri="{BB962C8B-B14F-4D97-AF65-F5344CB8AC3E}">
        <p14:creationId xmlns:p14="http://schemas.microsoft.com/office/powerpoint/2010/main" val="94006248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AA4FB25-2061-4CF6-8D0A-48A81B77B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000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31A24"/>
                </a:solidFill>
                <a:latin typeface="Arial"/>
                <a:ea typeface="Arial"/>
                <a:cs typeface="Arial"/>
              </a:rPr>
              <a:t>Repository and running the demo</a:t>
            </a:r>
          </a:p>
        </p:txBody>
      </p:sp>
      <p:sp>
        <p:nvSpPr>
          <p:cNvPr id="2" name="slide-lead">
            <a:extLst xmlns:a="http://schemas.openxmlformats.org/drawingml/2006/main">
              <a:ext uri="{FF2B5EF4-FFF2-40B4-BE49-F238E27FC236}">
                <a16:creationId xmlns:a16="http://schemas.microsoft.com/office/drawing/2014/main" id="{54CC058D-7824-497A-953A-7C9A3662F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06F"/>
                </a:solidFill>
                <a:latin typeface="Arial"/>
                <a:ea typeface="Arial"/>
                <a:cs typeface="Arial"/>
              </a:rPr>
              <a:t>The project runs on a laptop without internet access.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476651E7-611A-40EC-9B0B-E669897AA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5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C603B9-C196-4041-A160-2E010C2F0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59055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>
                <a:solidFill>
                  <a:srgbClr val="131A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marL="228600" indent="-114300">
              <a:spcAft>
                <a:spcPts val="1600"/>
              </a:spcAft>
              <a:buChar char="•"/>
              <a:defRPr sz="1425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31A24"/>
                </a:solidFill>
                <a:latin typeface="Arial"/>
                <a:ea typeface="Arial"/>
                <a:cs typeface="Arial"/>
              </a:rPr>
              <a:t>Repository: github.com/25-26-WIN-BCSE301L-SOFTWARE-ENGINEERING/26-27-fall-se-lab-projects-AdiByte5</a:t>
            </a:r>
          </a:p>
          <a:p xmlns:a="http://schemas.openxmlformats.org/drawingml/2006/main">
            <a:pPr marL="228600" indent="-114300">
              <a:spcAft>
                <a:spcPts val="1600"/>
              </a:spcAft>
              <a:buChar char="•"/>
              <a:defRPr sz="1425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31A24"/>
                </a:solidFill>
                <a:latin typeface="Arial"/>
                <a:ea typeface="Arial"/>
                <a:cs typeface="Arial"/>
              </a:rPr>
              <a:t>Start with ./scripts/start-all.sh, then open localhost:5173</a:t>
            </a:r>
          </a:p>
          <a:p xmlns:a="http://schemas.openxmlformats.org/drawingml/2006/main">
            <a:pPr marL="228600" indent="-114300">
              <a:spcAft>
                <a:spcPts val="1600"/>
              </a:spcAft>
              <a:buChar char="•"/>
              <a:defRPr sz="1425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31A24"/>
                </a:solidFill>
                <a:latin typeface="Arial"/>
                <a:ea typeface="Arial"/>
                <a:cs typeface="Arial"/>
              </a:rPr>
              <a:t>Stop with ./scripts/stop-all.sh</a:t>
            </a:r>
          </a:p>
          <a:p xmlns:a="http://schemas.openxmlformats.org/drawingml/2006/main">
            <a:pPr marL="228600" indent="-114300">
              <a:spcAft>
                <a:spcPts val="1600"/>
              </a:spcAft>
              <a:buChar char="•"/>
              <a:defRPr sz="1425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31A24"/>
                </a:solidFill>
                <a:latin typeface="Arial"/>
                <a:ea typeface="Arial"/>
                <a:cs typeface="Arial"/>
              </a:rPr>
              <a:t>Run the tests with ./mvnw test in the backend folder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D270EA-54C6-424F-A614-64D9AF6C7BF2}"/>
              </a:ext>
            </a:extLst>
          </p:cNvPr>
          <p:cNvGraphicFramePr/>
          <p:nvPr/>
        </p:nvGraphicFramePr>
        <p:xfrm>
          <a:off xmlns:a="http://schemas.openxmlformats.org/drawingml/2006/main" x="7124700" y="1905000"/>
          <a:ext xmlns:a="http://schemas.openxmlformats.org/drawingml/2006/main" cx="4381500" cy="2247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28750"/>
                <a:gridCol w="2952750"/>
              </a:tblGrid>
              <a:tr h="44958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Role</a:t>
                      </a:r>
                    </a:p>
                  </a:txBody>
                  <a:tcPr marL="91440" marR="91440" marT="45720" marB="45720">
                    <a:solidFill>
                      <a:srgbClr val="F5F7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125" b="1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Sign in</a:t>
                      </a:r>
                    </a:p>
                  </a:txBody>
                  <a:tcPr marL="91440" marR="91440" marT="45720" marB="45720">
                    <a:solidFill>
                      <a:srgbClr val="F5F7F8"/>
                    </a:solidFill>
                  </a:tcPr>
                </a:tc>
              </a:tr>
              <a:tr h="44958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050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Administrator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050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admin@foodbridge.org / Admin@123</a:t>
                      </a:r>
                    </a:p>
                  </a:txBody>
                  <a:tcPr marL="91440" marR="91440" marT="45720" marB="45720"/>
                </a:tc>
              </a:tr>
              <a:tr h="44958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050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Donor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050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donor@foodbridge.org / Donor@123</a:t>
                      </a:r>
                    </a:p>
                  </a:txBody>
                  <a:tcPr marL="91440" marR="91440" marT="45720" marB="45720"/>
                </a:tc>
              </a:tr>
              <a:tr h="44958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050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Recipient organization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050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recipient@foodbridge.org / Recipient@123</a:t>
                      </a:r>
                    </a:p>
                  </a:txBody>
                  <a:tcPr marL="91440" marR="91440" marT="45720" marB="45720"/>
                </a:tc>
              </a:tr>
              <a:tr h="44958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050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Volunteer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050">
                          <a:solidFill>
                            <a:srgbClr val="131A24"/>
                          </a:solidFill>
                          <a:latin typeface="Arial"/>
                          <a:ea typeface="Arial"/>
                          <a:cs typeface="Arial"/>
                        </a:rPr>
                        <a:t>volunteer@foodbridge.org / Volunteer@123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8722104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8141CC0-A7D0-4F5D-A271-ECF268882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000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31A24"/>
                </a:solidFill>
                <a:latin typeface="Arial"/>
                <a:ea typeface="Arial"/>
                <a:cs typeface="Arial"/>
              </a:rPr>
              <a:t>Summary</a:t>
            </a:r>
          </a:p>
        </p:txBody>
      </p:sp>
      <p:sp>
        <p:nvSpPr>
          <p:cNvPr id="2" name="slide-lead">
            <a:extLst xmlns:a="http://schemas.openxmlformats.org/drawingml/2006/main">
              <a:ext uri="{FF2B5EF4-FFF2-40B4-BE49-F238E27FC236}">
                <a16:creationId xmlns:a16="http://schemas.microsoft.com/office/drawing/2014/main" id="{927FC0A6-0201-4BA0-BBA3-8F4FA3DF9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06F"/>
                </a:solidFill>
                <a:latin typeface="Arial"/>
                <a:ea typeface="Arial"/>
                <a:cs typeface="Arial"/>
              </a:rPr>
              <a:t>What the review shows.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973AD276-CDD4-4D89-9AD3-DC088483F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5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90CE9E-7827-4104-B972-A6263DE98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108204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>
                <a:solidFill>
                  <a:srgbClr val="131A2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marL="228600" indent="-114300">
              <a:spcAft>
                <a:spcPts val="2000"/>
              </a:spcAft>
              <a:buChar char="•"/>
              <a:defRPr sz="1575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31A24"/>
                </a:solidFill>
                <a:latin typeface="Arial"/>
                <a:ea typeface="Arial"/>
                <a:cs typeface="Arial"/>
              </a:rPr>
              <a:t>A working platform where a donation moves from registration to a confirmed delivery, with four role workspaces and a complete audit trail.</a:t>
            </a:r>
          </a:p>
          <a:p xmlns:a="http://schemas.openxmlformats.org/drawingml/2006/main">
            <a:pPr marL="228600" indent="-114300">
              <a:spcAft>
                <a:spcPts val="2000"/>
              </a:spcAft>
              <a:buChar char="•"/>
              <a:defRPr sz="1575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31A24"/>
                </a:solidFill>
                <a:latin typeface="Arial"/>
                <a:ea typeface="Arial"/>
                <a:cs typeface="Arial"/>
              </a:rPr>
              <a:t>An allocation engine that filters, scores on six factors and explains every decision it makes.</a:t>
            </a:r>
          </a:p>
          <a:p xmlns:a="http://schemas.openxmlformats.org/drawingml/2006/main">
            <a:pPr marL="228600" indent="-114300">
              <a:spcAft>
                <a:spcPts val="2000"/>
              </a:spcAft>
              <a:buChar char="•"/>
              <a:defRPr sz="1575">
                <a:solidFill>
                  <a:srgbClr val="131A24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31A24"/>
                </a:solidFill>
                <a:latin typeface="Arial"/>
                <a:ea typeface="Arial"/>
                <a:cs typeface="Arial"/>
              </a:rPr>
              <a:t>The contribution I would point to is the food-safety arrival rule and the design decisions recorded with it.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B7CFAA-D0C5-44D0-8F44-73A7A7E3E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700" b="1">
                <a:solidFill>
                  <a:srgbClr val="0E7C5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E7C5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7C57"/>
                </a:solidFill>
                <a:latin typeface="Arial"/>
                <a:ea typeface="Arial"/>
                <a:cs typeface="Arial"/>
              </a:rPr>
              <a:t>Thank you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82952B-96F1-42D3-B419-2758847BB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2606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06F"/>
                </a:solidFill>
                <a:latin typeface="Arial"/>
                <a:ea typeface="Arial"/>
                <a:cs typeface="Arial"/>
              </a:rPr>
              <a:t>Questions</a:t>
            </a:r>
          </a:p>
        </p:txBody>
      </p:sp>
    </p:spTree>
    <p:extLst>
      <p:ext uri="{BB962C8B-B14F-4D97-AF65-F5344CB8AC3E}">
        <p14:creationId xmlns:p14="http://schemas.microsoft.com/office/powerpoint/2010/main" val="50810109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2026-10-16T01:54:15.1790000Z</dcterms:created>
  <dcterms:modified xsi:type="dcterms:W3CDTF">2026-10-16T01:54:15.1790000Z</dcterms:modified>
</coreProperties>
</file>