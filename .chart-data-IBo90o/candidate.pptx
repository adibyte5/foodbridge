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086da7903540d5" /><Relationship Type="http://schemas.openxmlformats.org/officeDocument/2006/relationships/extended-properties" Target="/docProps/app.xml" Id="R99d7d54b17824eae" /><Relationship Type="http://schemas.openxmlformats.org/officeDocument/2006/relationships/officeDocument" Target="/ppt/presentation.xml" Id="R4d9bcda377744d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da821602ef4134"/>
  </p:sldMasterIdLst>
  <p:notesMasterIdLst>
    <p:notesMasterId xmlns:r="http://schemas.openxmlformats.org/officeDocument/2006/relationships" r:id="R8553fa1f41f0406c"/>
  </p:notesMasterIdLst>
  <p:sldIdLst>
    <p:sldId xmlns:r="http://schemas.openxmlformats.org/officeDocument/2006/relationships" id="256" r:id="R121cbe02ed5040a4"/>
    <p:sldId xmlns:r="http://schemas.openxmlformats.org/officeDocument/2006/relationships" id="257" r:id="R2c2cf41906b44f9e"/>
    <p:sldId xmlns:r="http://schemas.openxmlformats.org/officeDocument/2006/relationships" id="258" r:id="Rfe4052b5918b4bfc"/>
    <p:sldId xmlns:r="http://schemas.openxmlformats.org/officeDocument/2006/relationships" id="259" r:id="R214358c8d55c40b6"/>
    <p:sldId xmlns:r="http://schemas.openxmlformats.org/officeDocument/2006/relationships" id="260" r:id="Rfa3b8f62af5c43a0"/>
    <p:sldId xmlns:r="http://schemas.openxmlformats.org/officeDocument/2006/relationships" id="261" r:id="R843aed5d3bc84bd5"/>
    <p:sldId xmlns:r="http://schemas.openxmlformats.org/officeDocument/2006/relationships" id="262" r:id="R1479f594baf64ace"/>
    <p:sldId xmlns:r="http://schemas.openxmlformats.org/officeDocument/2006/relationships" id="263" r:id="R68b7d876d9b047fb"/>
    <p:sldId xmlns:r="http://schemas.openxmlformats.org/officeDocument/2006/relationships" id="264" r:id="R75d34d782f5e4616"/>
    <p:sldId xmlns:r="http://schemas.openxmlformats.org/officeDocument/2006/relationships" id="265" r:id="R62fd1e2e09d94589"/>
    <p:sldId xmlns:r="http://schemas.openxmlformats.org/officeDocument/2006/relationships" id="266" r:id="R49da036277ea401a"/>
    <p:sldId xmlns:r="http://schemas.openxmlformats.org/officeDocument/2006/relationships" id="267" r:id="Rd40fe9efcb9445b7"/>
    <p:sldId xmlns:r="http://schemas.openxmlformats.org/officeDocument/2006/relationships" id="268" r:id="R3a7bf70d4ab1455d"/>
    <p:sldId xmlns:r="http://schemas.openxmlformats.org/officeDocument/2006/relationships" id="269" r:id="R4939e41a9ae44a82"/>
    <p:sldId xmlns:r="http://schemas.openxmlformats.org/officeDocument/2006/relationships" id="270" r:id="R2acd38b8f57349c6"/>
    <p:sldId xmlns:r="http://schemas.openxmlformats.org/officeDocument/2006/relationships" id="271" r:id="R86c780c902e04902"/>
    <p:sldId xmlns:r="http://schemas.openxmlformats.org/officeDocument/2006/relationships" id="272" r:id="R7b3d4a1de5734130"/>
    <p:sldId xmlns:r="http://schemas.openxmlformats.org/officeDocument/2006/relationships" id="273" r:id="R90f1d9031f9a44cb"/>
    <p:sldId xmlns:r="http://schemas.openxmlformats.org/officeDocument/2006/relationships" id="274" r:id="R09725ddcd5dd4e01"/>
    <p:sldId xmlns:r="http://schemas.openxmlformats.org/officeDocument/2006/relationships" id="275" r:id="Rac22c7cffcfc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ecb18bec041a5" /><Relationship Type="http://schemas.openxmlformats.org/officeDocument/2006/relationships/slideMaster" Target="/ppt/slideMasters/slideMaster1.xml" Id="Rbada821602ef4134" /><Relationship Type="http://schemas.openxmlformats.org/officeDocument/2006/relationships/notesMaster" Target="/ppt/notesMasters/notesMaster1.xml" Id="R8553fa1f41f0406c" /><Relationship Type="http://schemas.openxmlformats.org/officeDocument/2006/relationships/presProps" Target="/ppt/presProps.xml" Id="Ree38242a66c742d6" /><Relationship Type="http://schemas.openxmlformats.org/officeDocument/2006/relationships/tableStyles" Target="/ppt/tableStyles.xml" Id="R21757a6da43247b6" /><Relationship Type="http://schemas.openxmlformats.org/officeDocument/2006/relationships/slide" Target="/ppt/slides/slide1.xml" Id="R121cbe02ed5040a4" /><Relationship Type="http://schemas.openxmlformats.org/officeDocument/2006/relationships/slide" Target="/ppt/slides/slide2.xml" Id="R2c2cf41906b44f9e" /><Relationship Type="http://schemas.openxmlformats.org/officeDocument/2006/relationships/slide" Target="/ppt/slides/slide3.xml" Id="Rfe4052b5918b4bfc" /><Relationship Type="http://schemas.openxmlformats.org/officeDocument/2006/relationships/slide" Target="/ppt/slides/slide4.xml" Id="R214358c8d55c40b6" /><Relationship Type="http://schemas.openxmlformats.org/officeDocument/2006/relationships/slide" Target="/ppt/slides/slide5.xml" Id="Rfa3b8f62af5c43a0" /><Relationship Type="http://schemas.openxmlformats.org/officeDocument/2006/relationships/slide" Target="/ppt/slides/slide6.xml" Id="R843aed5d3bc84bd5" /><Relationship Type="http://schemas.openxmlformats.org/officeDocument/2006/relationships/slide" Target="/ppt/slides/slide7.xml" Id="R1479f594baf64ace" /><Relationship Type="http://schemas.openxmlformats.org/officeDocument/2006/relationships/slide" Target="/ppt/slides/slide8.xml" Id="R68b7d876d9b047fb" /><Relationship Type="http://schemas.openxmlformats.org/officeDocument/2006/relationships/slide" Target="/ppt/slides/slide9.xml" Id="R75d34d782f5e4616" /><Relationship Type="http://schemas.openxmlformats.org/officeDocument/2006/relationships/slide" Target="/ppt/slides/slide10.xml" Id="R62fd1e2e09d94589" /><Relationship Type="http://schemas.openxmlformats.org/officeDocument/2006/relationships/slide" Target="/ppt/slides/slide11.xml" Id="R49da036277ea401a" /><Relationship Type="http://schemas.openxmlformats.org/officeDocument/2006/relationships/slide" Target="/ppt/slides/slide12.xml" Id="Rd40fe9efcb9445b7" /><Relationship Type="http://schemas.openxmlformats.org/officeDocument/2006/relationships/slide" Target="/ppt/slides/slide13.xml" Id="R3a7bf70d4ab1455d" /><Relationship Type="http://schemas.openxmlformats.org/officeDocument/2006/relationships/slide" Target="/ppt/slides/slide14.xml" Id="R4939e41a9ae44a82" /><Relationship Type="http://schemas.openxmlformats.org/officeDocument/2006/relationships/slide" Target="/ppt/slides/slide15.xml" Id="R2acd38b8f57349c6" /><Relationship Type="http://schemas.openxmlformats.org/officeDocument/2006/relationships/slide" Target="/ppt/slides/slide16.xml" Id="R86c780c902e04902" /><Relationship Type="http://schemas.openxmlformats.org/officeDocument/2006/relationships/slide" Target="/ppt/slides/slide17.xml" Id="R7b3d4a1de5734130" /><Relationship Type="http://schemas.openxmlformats.org/officeDocument/2006/relationships/slide" Target="/ppt/slides/slide18.xml" Id="R90f1d9031f9a44cb" /><Relationship Type="http://schemas.openxmlformats.org/officeDocument/2006/relationships/slide" Target="/ppt/slides/slide19.xml" Id="R09725ddcd5dd4e01" /><Relationship Type="http://schemas.openxmlformats.org/officeDocument/2006/relationships/slide" Target="/ppt/slides/slide20.xml" Id="Rac22c7cffcfc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586445e84e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f637c916764258" /><Relationship Type="http://schemas.openxmlformats.org/officeDocument/2006/relationships/notesMaster" Target="/ppt/notesMasters/notesMaster1.xml" Id="R36366b20a67b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321adc23294148" /><Relationship Type="http://schemas.openxmlformats.org/officeDocument/2006/relationships/notesMaster" Target="/ppt/notesMasters/notesMaster1.xml" Id="Re5d6c9de905d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f0d8c754e841de" /><Relationship Type="http://schemas.openxmlformats.org/officeDocument/2006/relationships/notesMaster" Target="/ppt/notesMasters/notesMaster1.xml" Id="R6136925abbfe43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5d6da326b14366" /><Relationship Type="http://schemas.openxmlformats.org/officeDocument/2006/relationships/notesMaster" Target="/ppt/notesMasters/notesMaster1.xml" Id="Rca1b4ad814c543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ccfdb68b9f4c00" /><Relationship Type="http://schemas.openxmlformats.org/officeDocument/2006/relationships/notesMaster" Target="/ppt/notesMasters/notesMaster1.xml" Id="R1f8f458dd16c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6c6ef831bd4f12" /><Relationship Type="http://schemas.openxmlformats.org/officeDocument/2006/relationships/notesMaster" Target="/ppt/notesMasters/notesMaster1.xml" Id="Raaf8148a57e042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c6e2ca42204e70" /><Relationship Type="http://schemas.openxmlformats.org/officeDocument/2006/relationships/notesMaster" Target="/ppt/notesMasters/notesMaster1.xml" Id="Reabe1f36b90b40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db8fc4a54f4a3c" /><Relationship Type="http://schemas.openxmlformats.org/officeDocument/2006/relationships/notesMaster" Target="/ppt/notesMasters/notesMaster1.xml" Id="Rbfdb939da1674a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80e7dd6aad4f55" /><Relationship Type="http://schemas.openxmlformats.org/officeDocument/2006/relationships/notesMaster" Target="/ppt/notesMasters/notesMaster1.xml" Id="R0c82804eaa014b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132fd8c64b48fe" /><Relationship Type="http://schemas.openxmlformats.org/officeDocument/2006/relationships/notesMaster" Target="/ppt/notesMasters/notesMaster1.xml" Id="Rb46f38b0c13e4e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ce8eb16d2f49b4" /><Relationship Type="http://schemas.openxmlformats.org/officeDocument/2006/relationships/notesMaster" Target="/ppt/notesMasters/notesMaster1.xml" Id="R6a83ae5eb5f242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2ec66c746840d8" /><Relationship Type="http://schemas.openxmlformats.org/officeDocument/2006/relationships/notesMaster" Target="/ppt/notesMasters/notesMaster1.xml" Id="R6a4469ae57a245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dce78a134c49b8" /><Relationship Type="http://schemas.openxmlformats.org/officeDocument/2006/relationships/notesMaster" Target="/ppt/notesMasters/notesMaster1.xml" Id="R8af5c4ef4ec948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5d6fe85a484480" /><Relationship Type="http://schemas.openxmlformats.org/officeDocument/2006/relationships/notesMaster" Target="/ppt/notesMasters/notesMaster1.xml" Id="R82b8a82743b44a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e3fdccca25482c" /><Relationship Type="http://schemas.openxmlformats.org/officeDocument/2006/relationships/notesMaster" Target="/ppt/notesMasters/notesMaster1.xml" Id="Rdf894a3bd12742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e4cfdf33d54a9d" /><Relationship Type="http://schemas.openxmlformats.org/officeDocument/2006/relationships/notesMaster" Target="/ppt/notesMasters/notesMaster1.xml" Id="Rf4dae814ac0644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eabee76c6d467b" /><Relationship Type="http://schemas.openxmlformats.org/officeDocument/2006/relationships/notesMaster" Target="/ppt/notesMasters/notesMaster1.xml" Id="R069481b2722341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d37b60d58049e6" /><Relationship Type="http://schemas.openxmlformats.org/officeDocument/2006/relationships/notesMaster" Target="/ppt/notesMasters/notesMaster1.xml" Id="R022d891f43c441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b7ae06a3d4443a" /><Relationship Type="http://schemas.openxmlformats.org/officeDocument/2006/relationships/notesMaster" Target="/ppt/notesMasters/notesMaster1.xml" Id="R0d4ff38994da45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6e901c31a44433" /><Relationship Type="http://schemas.openxmlformats.org/officeDocument/2006/relationships/notesMaster" Target="/ppt/notesMasters/notesMaster1.xml" Id="Rf191c9e94d3d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number in this deck comes from the running build and its seeded demonstration dataset, recorded on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21cc34bd745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8d98cf73c4c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cf71d56ca4e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677d0e46d49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efb54fa8d43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88206319044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667334-D619-45C5-A746-1734AB535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2EAB93-9C9D-4FAA-A2AE-71871D5DF8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C67400-DA8A-408C-8E66-A882DAA15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143205-0086-40B4-8876-05803A4F7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619F25-AB68-4FC8-A33B-6CFBD6E56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66BB99-0166-4A3C-8DD8-726C4E210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3933DE-23AB-4CAD-BD03-A4A7EE9073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EA087A4-D77E-40B2-93B2-69FEACF56F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B84E8D-957D-4D81-BFD4-D2F056134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1FFFBC-CFF8-4988-B840-BBC321C035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5a702153164314" /><Relationship Type="http://schemas.openxmlformats.org/officeDocument/2006/relationships/slideLayout" Target="/ppt/slideLayouts/slideLayout1.xml" Id="Rd8346f6ea81d4c97" /><Relationship Type="http://schemas.openxmlformats.org/officeDocument/2006/relationships/slideLayout" Target="/ppt/slideLayouts/slideLayout2.xml" Id="R134ed8a5f84047e9" /><Relationship Type="http://schemas.openxmlformats.org/officeDocument/2006/relationships/slideLayout" Target="/ppt/slideLayouts/slideLayout3.xml" Id="R8f2bb670b1e044bc" /><Relationship Type="http://schemas.openxmlformats.org/officeDocument/2006/relationships/slideLayout" Target="/ppt/slideLayouts/slideLayout4.xml" Id="R3eab760e5eff4b5a" /><Relationship Type="http://schemas.openxmlformats.org/officeDocument/2006/relationships/slideLayout" Target="/ppt/slideLayouts/slideLayout5.xml" Id="Rb52f1d89d6394abb" /><Relationship Type="http://schemas.openxmlformats.org/officeDocument/2006/relationships/slideLayout" Target="/ppt/slideLayouts/slideLayout6.xml" Id="R73294d7a3e0a4c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346f6ea81d4c97"/>
    <p:sldLayoutId xmlns:r="http://schemas.openxmlformats.org/officeDocument/2006/relationships" id="2147483650" r:id="R134ed8a5f84047e9"/>
    <p:sldLayoutId xmlns:r="http://schemas.openxmlformats.org/officeDocument/2006/relationships" id="2147483651" r:id="R8f2bb670b1e044bc"/>
    <p:sldLayoutId xmlns:r="http://schemas.openxmlformats.org/officeDocument/2006/relationships" id="2147483652" r:id="R3eab760e5eff4b5a"/>
    <p:sldLayoutId xmlns:r="http://schemas.openxmlformats.org/officeDocument/2006/relationships" id="2147483653" r:id="Rb52f1d89d6394abb"/>
    <p:sldLayoutId xmlns:r="http://schemas.openxmlformats.org/officeDocument/2006/relationships" id="2147483654" r:id="R73294d7a3e0a4c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3798a9a4949da" /><Relationship Type="http://schemas.openxmlformats.org/officeDocument/2006/relationships/image" Target="/ppt/media/image.png" Id="R081dffa9e0f549ba" /><Relationship Type="http://schemas.openxmlformats.org/officeDocument/2006/relationships/notesSlide" Target="/ppt/notesSlides/notesSlide1.xml" Id="R9dba05497d1c45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fd6ffd793412f" /><Relationship Type="http://schemas.openxmlformats.org/officeDocument/2006/relationships/notesSlide" Target="/ppt/notesSlides/notesSlide2.xml" Id="R85b69896b1c1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2955e75a44361" /><Relationship Type="http://schemas.openxmlformats.org/officeDocument/2006/relationships/notesSlide" Target="/ppt/notesSlides/notesSlide3.xml" Id="R39dc31f8971e47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4274d5ec146d3" /><Relationship Type="http://schemas.openxmlformats.org/officeDocument/2006/relationships/notesSlide" Target="/ppt/notesSlides/notesSlide4.xml" Id="R75a304dc3f79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20d1ed7b64cb1" /><Relationship Type="http://schemas.openxmlformats.org/officeDocument/2006/relationships/notesSlide" Target="/ppt/notesSlides/notesSlide5.xml" Id="Rc17b5026ba9246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34e13bd7594011" /><Relationship Type="http://schemas.openxmlformats.org/officeDocument/2006/relationships/notesSlide" Target="/ppt/notesSlides/notesSlide6.xml" Id="R403b778f8408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039486d5a46f7" /><Relationship Type="http://schemas.openxmlformats.org/officeDocument/2006/relationships/notesSlide" Target="/ppt/notesSlides/notesSlide7.xml" Id="R1cedae669277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87569f2bd4bd0" /><Relationship Type="http://schemas.openxmlformats.org/officeDocument/2006/relationships/notesSlide" Target="/ppt/notesSlides/notesSlide8.xml" Id="R238f28371ff64d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d190b02e04d74" /><Relationship Type="http://schemas.openxmlformats.org/officeDocument/2006/relationships/notesSlide" Target="/ppt/notesSlides/notesSlide9.xml" Id="R35cd30f4342b4e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f3de191eb4886" /><Relationship Type="http://schemas.openxmlformats.org/officeDocument/2006/relationships/notesSlide" Target="/ppt/notesSlides/notesSlide10.xml" Id="R1138ec788d274e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3f3db97f449ab" /><Relationship Type="http://schemas.openxmlformats.org/officeDocument/2006/relationships/image" Target="/ppt/media/image.jpeg" Id="R76aa299351fb4473" /><Relationship Type="http://schemas.openxmlformats.org/officeDocument/2006/relationships/notesSlide" Target="/ppt/notesSlides/notesSlide11.xml" Id="R0c9d23d5711343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b2187a70a41a2" /><Relationship Type="http://schemas.openxmlformats.org/officeDocument/2006/relationships/notesSlide" Target="/ppt/notesSlides/notesSlide12.xml" Id="R733c8ae5d15c4c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d33c923c34363" /><Relationship Type="http://schemas.openxmlformats.org/officeDocument/2006/relationships/image" Target="/ppt/media/image2.jpeg" Id="Rd1901d15e28240c0" /><Relationship Type="http://schemas.openxmlformats.org/officeDocument/2006/relationships/image" Target="/ppt/media/image3.jpeg" Id="Rc63049e974e749b3" /><Relationship Type="http://schemas.openxmlformats.org/officeDocument/2006/relationships/notesSlide" Target="/ppt/notesSlides/notesSlide13.xml" Id="Re329405167a344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4d876d3fa478f" /><Relationship Type="http://schemas.openxmlformats.org/officeDocument/2006/relationships/image" Target="/ppt/media/image4.jpeg" Id="R2b74888dc804435d" /><Relationship Type="http://schemas.openxmlformats.org/officeDocument/2006/relationships/image" Target="/ppt/media/image5.jpeg" Id="R1c4d37bfe9ca4beb" /><Relationship Type="http://schemas.openxmlformats.org/officeDocument/2006/relationships/notesSlide" Target="/ppt/notesSlides/notesSlide14.xml" Id="Rb0200a53bc9a4e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16b68d7784ee4" /><Relationship Type="http://schemas.openxmlformats.org/officeDocument/2006/relationships/chart" Target="/ppt/slides/charts/chart1.xml" Id="R9f45814e97364e2d" /><Relationship Type="http://schemas.openxmlformats.org/officeDocument/2006/relationships/notesSlide" Target="/ppt/notesSlides/notesSlide15.xml" Id="Rc28301b04d8344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3efa1a27a4b77" /><Relationship Type="http://schemas.openxmlformats.org/officeDocument/2006/relationships/notesSlide" Target="/ppt/notesSlides/notesSlide16.xml" Id="R046201b5821845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c5f1c984845aa" /><Relationship Type="http://schemas.openxmlformats.org/officeDocument/2006/relationships/notesSlide" Target="/ppt/notesSlides/notesSlide17.xml" Id="R6c7799ff58074b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a0abc7c77b4307" /><Relationship Type="http://schemas.openxmlformats.org/officeDocument/2006/relationships/notesSlide" Target="/ppt/notesSlides/notesSlide18.xml" Id="Re4f23c9d48554cc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e2a86c60143d7" /><Relationship Type="http://schemas.openxmlformats.org/officeDocument/2006/relationships/notesSlide" Target="/ppt/notesSlides/notesSlide19.xml" Id="R7b4f0a9354e34c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2800e8d9b4f11" /><Relationship Type="http://schemas.openxmlformats.org/officeDocument/2006/relationships/notesSlide" Target="/ppt/notesSlides/notesSlide20.xml" Id="R5cad54da326e4b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kg rescued</c:v>
          </c:tx>
          <c:spPr>
            <a:solidFill xmlns:a="http://schemas.openxmlformats.org/drawingml/2006/main">
              <a:srgbClr val="0E7C57"/>
            </a:solidFill>
          </c:spPr>
          <c:invertIfNegative val="0"/>
          <c:cat>
            <c:strRef>
              <c:f>'Chart Data'!$A$2:$A$15</c:f>
              <c:strCache>
                <c:ptCount val="14"/>
                <c:pt idx="0">
                  <c:v>03 Oct</c:v>
                </c:pt>
                <c:pt idx="1">
                  <c:v>04 Oct</c:v>
                </c:pt>
                <c:pt idx="2">
                  <c:v>05 Oct</c:v>
                </c:pt>
                <c:pt idx="3">
                  <c:v>06 Oct</c:v>
                </c:pt>
                <c:pt idx="4">
                  <c:v>07 Oct</c:v>
                </c:pt>
                <c:pt idx="5">
                  <c:v>08 Oct</c:v>
                </c:pt>
                <c:pt idx="6">
                  <c:v>09 Oct</c:v>
                </c:pt>
                <c:pt idx="7">
                  <c:v>10 Oct</c:v>
                </c:pt>
                <c:pt idx="8">
                  <c:v>11 Oct</c:v>
                </c:pt>
                <c:pt idx="9">
                  <c:v>12 Oct</c:v>
                </c:pt>
                <c:pt idx="10">
                  <c:v>13 Oct</c:v>
                </c:pt>
                <c:pt idx="11">
                  <c:v>14 Oct</c:v>
                </c:pt>
                <c:pt idx="12">
                  <c:v>15 Oct</c:v>
                </c:pt>
                <c:pt idx="13">
                  <c:v>16 Oct</c:v>
                </c:pt>
              </c:strCache>
            </c:str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24</c:v>
                </c:pt>
                <c:pt idx="1">
                  <c:v>30</c:v>
                </c:pt>
                <c:pt idx="2">
                  <c:v>45</c:v>
                </c:pt>
                <c:pt idx="3">
                  <c:v>40</c:v>
                </c:pt>
                <c:pt idx="4">
                  <c:v>12</c:v>
                </c:pt>
                <c:pt idx="5">
                  <c:v>55</c:v>
                </c:pt>
                <c:pt idx="6">
                  <c:v>35</c:v>
                </c:pt>
                <c:pt idx="7">
                  <c:v>120</c:v>
                </c:pt>
                <c:pt idx="8">
                  <c:v>15</c:v>
                </c:pt>
                <c:pt idx="9">
                  <c:v>8</c:v>
                </c:pt>
                <c:pt idx="10">
                  <c:v>12</c:v>
                </c:pt>
                <c:pt idx="11">
                  <c:v>0</c:v>
                </c:pt>
                <c:pt idx="12">
                  <c:v>163</c:v>
                </c:pt>
                <c:pt idx="1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October 2026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kg rescued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95F2F-D3C9-49B7-A82D-56203E5D6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dffa9e0f549ba"/>
          <a:stretch xmlns:a="http://schemas.openxmlformats.org/drawingml/2006/main"/>
        </p:blipFill>
        <p:spPr>
          <a:xfrm xmlns:a="http://schemas.openxmlformats.org/drawingml/2006/main">
            <a:off x="685800" y="6858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D526B-A21D-48E8-B05B-49CBA30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7FEDF-83F0-4DB3-9A9D-C69690C8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Intelligent Food Rescue Coordination and Resource Allocation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0F557-8273-45ED-859C-A5368EC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5924D-0378-4245-8541-A61D489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836DD-D10D-4BB5-B03F-20C7FC24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Adithyan S Nair, 24BAI1621</a:t>
            </a:r>
          </a:p>
        </p:txBody>
      </p:sp>
    </p:spTree>
    <p:extLst>
      <p:ext uri="{BB962C8B-B14F-4D97-AF65-F5344CB8AC3E}">
        <p14:creationId xmlns:p14="http://schemas.microsoft.com/office/powerpoint/2010/main" val="500683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5A6384-D286-4B29-A868-121C70F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CEB5EC3-8FF3-4845-9733-907E99B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Food that is still safe to eat is thrown away while the organizations that need it run short.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EDE947-00C8-4A69-9930-9F8EA5E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70BD9-D18E-4AD9-B85E-7DB0A3C5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Restaurants, hotels, supermarkets, bakeries and caterers regularly have surplus food at the end of a service.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Orphanages, shelters and food banks look for the same food on the same day, with little storage to spare.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Coordinating one donation takes phone calls, messages and waiting, so food is missed or collected late.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When several organizations could take the donation, it usually goes to whoever responds first.</a:t>
            </a:r>
          </a:p>
        </p:txBody>
      </p:sp>
    </p:spTree>
    <p:extLst>
      <p:ext uri="{BB962C8B-B14F-4D97-AF65-F5344CB8AC3E}">
        <p14:creationId xmlns:p14="http://schemas.microsoft.com/office/powerpoint/2010/main" val="424449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BD54E8-B324-4AAA-8B61-E56D479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What most donation platforms do today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382D8CD-BDB5-483B-8A1B-BA93CF48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They publish the donation and wait for someone to claim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33F638-F9B9-4BAB-B971-2FD43B2F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F3A3B-8423-43B0-8E44-7226E9E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Listings connect donors and recipients, and the decision about who receives the food stays with the claimer.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Expiry is shown to whoever opens the listing, and pickup distance is rarely compared with the time left.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Nothing tracks how much each organization has already received, so one partner can take most of the supply.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count kilograms donated. They do not explain why one organization was chosen over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267C-6CE1-4D3E-A9A0-E5283411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Assessment based on the platforms and the manual process studied during the requirements phase.</a:t>
            </a:r>
          </a:p>
        </p:txBody>
      </p:sp>
    </p:spTree>
    <p:extLst>
      <p:ext uri="{BB962C8B-B14F-4D97-AF65-F5344CB8AC3E}">
        <p14:creationId xmlns:p14="http://schemas.microsoft.com/office/powerpoint/2010/main" val="981811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C17B7-BEA2-44E9-93E6-7E3799FC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FoodBridge platform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AE4DA3B7-B324-4F89-8643-6FEAF341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One workflow from surplus food to a confirmed delivery, with the engine deciding who receives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790B835-E68F-4638-9AAD-5251F9EE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Donation registered">
            <a:extLst xmlns:a="http://schemas.openxmlformats.org/drawingml/2006/main">
              <a:ext uri="{FF2B5EF4-FFF2-40B4-BE49-F238E27FC236}">
                <a16:creationId xmlns:a16="http://schemas.microsoft.com/office/drawing/2014/main" id="{D506E8AE-BF76-4B4B-B2EC-909519F2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F8F73-A212-4130-88CF-0789C597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Donation 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96C9B-0437-431F-A4FE-3E335BF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donor enters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29CA4-0208-481F-BE46-C8F016CE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Engine ranks recipients">
            <a:extLst xmlns:a="http://schemas.openxmlformats.org/drawingml/2006/main">
              <a:ext uri="{FF2B5EF4-FFF2-40B4-BE49-F238E27FC236}">
                <a16:creationId xmlns:a16="http://schemas.microsoft.com/office/drawing/2014/main" id="{BF0D8DCB-78D4-4F81-B6A3-8C7CF57E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5434C-51E6-4F79-AA54-2BD7BE14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Engine ranks recipients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81285-6DC8-4747-9AF1-28429EE7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filters, then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9DD54-53F1-4DAA-BD62-338721C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Recipient accepts">
            <a:extLst xmlns:a="http://schemas.openxmlformats.org/drawingml/2006/main">
              <a:ext uri="{FF2B5EF4-FFF2-40B4-BE49-F238E27FC236}">
                <a16:creationId xmlns:a16="http://schemas.microsoft.com/office/drawing/2014/main" id="{A9759DE4-43F2-4BAB-8B3B-BC41783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318F4-D25C-45EB-8034-9029CC81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accepts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05172-068A-4E65-8F3C-EA0E42B3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with the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7D127-6846-49EA-A73B-86C088EE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Volunteer collects">
            <a:extLst xmlns:a="http://schemas.openxmlformats.org/drawingml/2006/main">
              <a:ext uri="{FF2B5EF4-FFF2-40B4-BE49-F238E27FC236}">
                <a16:creationId xmlns:a16="http://schemas.microsoft.com/office/drawing/2014/main" id="{FD8E701C-1CB1-4736-9BDC-19511723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C1D7C-29D8-4E83-A4B0-08B9F0B8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Volunteer collects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6C901-F826-4529-B431-7C99F9EA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matched by distance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9041E-6D2E-45DF-BAD7-120A881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Delivered">
            <a:extLst xmlns:a="http://schemas.openxmlformats.org/drawingml/2006/main">
              <a:ext uri="{FF2B5EF4-FFF2-40B4-BE49-F238E27FC236}">
                <a16:creationId xmlns:a16="http://schemas.microsoft.com/office/drawing/2014/main" id="{61244BB3-F14F-4E3E-88B1-AE886566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B6AFE-DAFA-442A-9D74-7127D25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3B4F0-AD17-4773-A89F-4492B5F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tracked to handover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D2834-2331-4737-83B2-9AC015F4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Reports update">
            <a:extLst xmlns:a="http://schemas.openxmlformats.org/drawingml/2006/main">
              <a:ext uri="{FF2B5EF4-FFF2-40B4-BE49-F238E27FC236}">
                <a16:creationId xmlns:a16="http://schemas.microsoft.com/office/drawing/2014/main" id="{BDB5D4E4-6C9B-410E-A57D-7949BB8A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DB186-876C-486A-A7AC-12942E89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D49E26-2983-469C-BA10-98A7EED6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rescues and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D3525-ACD4-4204-B8BB-2A0D2ED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Four roles use the platform: donors, recipient organizations, volunteers and the administrator.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engine checks eligibility first and then scores every eligible organization on six factors.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Each allocation stores its score, the factor breakdown and a written explanation.</a:t>
            </a:r>
          </a:p>
        </p:txBody>
      </p:sp>
    </p:spTree>
    <p:extLst>
      <p:ext uri="{BB962C8B-B14F-4D97-AF65-F5344CB8AC3E}">
        <p14:creationId xmlns:p14="http://schemas.microsoft.com/office/powerpoint/2010/main" val="2142277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462D8-82D6-44B7-B845-AEF3B59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B6611D2-D82E-4248-86AD-4FD8FFA5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Four layers, each with one responsibility.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F92540-B993-49B8-A6CA-15A1E76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-Presentation">
            <a:extLst xmlns:a="http://schemas.openxmlformats.org/drawingml/2006/main">
              <a:ext uri="{FF2B5EF4-FFF2-40B4-BE49-F238E27FC236}">
                <a16:creationId xmlns:a16="http://schemas.microsoft.com/office/drawing/2014/main" id="{510E2F44-D8C8-4245-AF03-84CCBA8E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7EDDD-AEF2-47A1-8579-CEBE293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9D90A-6046-4BB9-89E4-8F8D7DF7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React single page app. Role dashboards, allocation view, reports, sign up.</a:t>
            </a:r>
          </a:p>
        </p:txBody>
      </p:sp>
      <p:sp>
        <p:nvSpPr>
          <p:cNvPr id="7" name="layer-Application">
            <a:extLst xmlns:a="http://schemas.openxmlformats.org/drawingml/2006/main">
              <a:ext uri="{FF2B5EF4-FFF2-40B4-BE49-F238E27FC236}">
                <a16:creationId xmlns:a16="http://schemas.microsoft.com/office/drawing/2014/main" id="{C1F53D8E-D914-4658-A423-72F56FB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68F27-C346-4D7E-8FAE-4E67897D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8CF91-7174-45EC-80C8-22634C61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Spring Boot REST controllers. Authentication, donations, recipients, volunteers, allocations, admin.</a:t>
            </a:r>
          </a:p>
        </p:txBody>
      </p:sp>
      <p:sp>
        <p:nvSpPr>
          <p:cNvPr id="10" name="layer-Business logic">
            <a:extLst xmlns:a="http://schemas.openxmlformats.org/drawingml/2006/main">
              <a:ext uri="{FF2B5EF4-FFF2-40B4-BE49-F238E27FC236}">
                <a16:creationId xmlns:a16="http://schemas.microsoft.com/office/drawing/2014/main" id="{0F404D37-61E1-4251-B78C-B784D4C9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08C3-2662-42C8-A97B-9ED42AAE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Business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31D7F-0862-428C-9E3C-AC27EB1A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Services, including the allocation engine that holds the filters, scoring, fairness and explanations.</a:t>
            </a:r>
          </a:p>
        </p:txBody>
      </p:sp>
      <p:sp>
        <p:nvSpPr>
          <p:cNvPr id="13" name="layer-Data">
            <a:extLst xmlns:a="http://schemas.openxmlformats.org/drawingml/2006/main">
              <a:ext uri="{FF2B5EF4-FFF2-40B4-BE49-F238E27FC236}">
                <a16:creationId xmlns:a16="http://schemas.microsoft.com/office/drawing/2014/main" id="{AD6FB57E-3B69-40C9-A842-4B384920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4ECB2-E27C-4431-ACDD-ADCF5DC6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84914-4415-4595-BF13-D425A8BA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053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Spring Data JPA over MySQL. Twelve entities in third normal 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6920E-9828-44DF-A117-9389D439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1A24"/>
                </a:solidFill>
                <a:latin typeface="Arial"/>
                <a:ea typeface="Arial"/>
                <a:cs typeface="Arial"/>
              </a:rPr>
              <a:t>Security: Spring Security issues a JWT at login, checks the role on every request, and each service checks record ownership.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9B351-10E8-432E-B9A5-8BA34550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 browser never decides anything. Every rule runs on the server against the database.</a:t>
            </a:r>
          </a:p>
        </p:txBody>
      </p:sp>
    </p:spTree>
    <p:extLst>
      <p:ext uri="{BB962C8B-B14F-4D97-AF65-F5344CB8AC3E}">
        <p14:creationId xmlns:p14="http://schemas.microsoft.com/office/powerpoint/2010/main" val="943177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4BF3EB-ABEB-4BDF-8132-D97C34F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73F2FD3-DBC3-40AF-81F6-132446AD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Twelve entities in third normal form, built around the rescue chain.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12B0F50-FA66-4755-B68E-2F21180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User">
            <a:extLst xmlns:a="http://schemas.openxmlformats.org/drawingml/2006/main">
              <a:ext uri="{FF2B5EF4-FFF2-40B4-BE49-F238E27FC236}">
                <a16:creationId xmlns:a16="http://schemas.microsoft.com/office/drawing/2014/main" id="{CD37C4CE-0EC7-4612-A615-8EC3347B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F2585-6E13-457E-852C-8B61FE3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061E1-9F91-409D-980E-A9762F5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accounts and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D8BFF-17C6-4A22-814B-5D82F0C2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Donor">
            <a:extLst xmlns:a="http://schemas.openxmlformats.org/drawingml/2006/main">
              <a:ext uri="{FF2B5EF4-FFF2-40B4-BE49-F238E27FC236}">
                <a16:creationId xmlns:a16="http://schemas.microsoft.com/office/drawing/2014/main" id="{827B5AD9-9B22-4359-AF46-5693A91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E42C-F2B3-4EE6-A696-E788C5E3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Donor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46640-FA98-4383-8FE3-35DD4788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or recipient org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927D0-B84E-40D7-AD7D-D6A9804B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Food donation">
            <a:extLst xmlns:a="http://schemas.openxmlformats.org/drawingml/2006/main">
              <a:ext uri="{FF2B5EF4-FFF2-40B4-BE49-F238E27FC236}">
                <a16:creationId xmlns:a16="http://schemas.microsoft.com/office/drawing/2014/main" id="{D56C505E-256F-48B4-8785-35991A1E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38AD0-D95E-4E80-9A53-F13BF220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 donation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86519-E132-4CDB-85CC-5A92CC81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surplus food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0A7A2-C21C-4EAB-ABF8-F353FE1C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llocation">
            <a:extLst xmlns:a="http://schemas.openxmlformats.org/drawingml/2006/main">
              <a:ext uri="{FF2B5EF4-FFF2-40B4-BE49-F238E27FC236}">
                <a16:creationId xmlns:a16="http://schemas.microsoft.com/office/drawing/2014/main" id="{5A914217-F012-4D54-9713-8623162D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AA850-EA6A-4256-9987-C2890A3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2C2A4-E039-4D35-886C-DAB91340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engine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63903-0FF1-45AE-AE1D-FA9EB692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Assignment">
            <a:extLst xmlns:a="http://schemas.openxmlformats.org/drawingml/2006/main">
              <a:ext uri="{FF2B5EF4-FFF2-40B4-BE49-F238E27FC236}">
                <a16:creationId xmlns:a16="http://schemas.microsoft.com/office/drawing/2014/main" id="{2F96227E-B3C4-4133-A002-AEBF3CA0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EDC70-8909-4910-A230-095FB0EA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5DC18-5768-49FD-8933-D70167FA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pickup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D6CA7-4732-427E-9787-54AC8B9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Delivery">
            <a:extLst xmlns:a="http://schemas.openxmlformats.org/drawingml/2006/main">
              <a:ext uri="{FF2B5EF4-FFF2-40B4-BE49-F238E27FC236}">
                <a16:creationId xmlns:a16="http://schemas.microsoft.com/office/drawing/2014/main" id="{FD9367BC-E3B2-44A4-A00E-DFF92B7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07887-980C-40A7-972B-E800B35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80E19-6E29-40DB-A469-C5B17ED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tracking to handover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6E419-8504-4A03-9B8A-B15A9C7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Donors, recipient organizations and volunteers each have their own table linked one to one with the user account.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Allocation, assignment and delivery are separate records, so a decision, a task and a delivery are tracked independently.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preferences resolve the many to many relationship between organizations and food categories.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Notifications and audit logs keep users informed and every action traceable.</a:t>
            </a:r>
          </a:p>
        </p:txBody>
      </p:sp>
    </p:spTree>
    <p:extLst>
      <p:ext uri="{BB962C8B-B14F-4D97-AF65-F5344CB8AC3E}">
        <p14:creationId xmlns:p14="http://schemas.microsoft.com/office/powerpoint/2010/main" val="500446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2602A3-CDAD-45B1-83B2-CB89628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the project was built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E27868B-98A1-4528-82D9-F849B4B3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Six agile sprints, each ending with something that runs.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9CE380-A828-4066-8BAC-4D524E84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528BA-E591-4418-952F-E269C12B2853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0885"/>
                <a:gridCol w="2992877"/>
                <a:gridCol w="6906638"/>
              </a:tblGrid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Sprint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What exists now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Requirements and 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Problem statement, ER model, class model, layered architecture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Authentication and roles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JWT login, four role workspaces, access rules enforced on the server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Donation and recipient management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Donation records, demand, storage capacity and category preferences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Allocation 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Eligibility filters, six factor scoring, decision explanations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 and delivery tracking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 matching, pickup to handover status, notifications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Reports, testing, hardening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Analytics, audit log, nine automated tests, eighteen API checks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45C1B-9B01-4BE3-8ECB-2F3A19C5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Design decisions and the alternatives I rejected are recorded in docs/DESIGN_DECISIONS.md.</a:t>
            </a:r>
          </a:p>
        </p:txBody>
      </p:sp>
    </p:spTree>
    <p:extLst>
      <p:ext uri="{BB962C8B-B14F-4D97-AF65-F5344CB8AC3E}">
        <p14:creationId xmlns:p14="http://schemas.microsoft.com/office/powerpoint/2010/main" val="104954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547E4F-8EA1-47AF-82F5-3A0F1C78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the engine chooses a recipient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1A0AC95-B479-4DC0-B770-0BEBAA8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Four eligibility checks run first. Only the organizations that pass them are scored.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AA516E7-5C20-4738-80C0-EA45392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-Verified organization">
            <a:extLst xmlns:a="http://schemas.openxmlformats.org/drawingml/2006/main">
              <a:ext uri="{FF2B5EF4-FFF2-40B4-BE49-F238E27FC236}">
                <a16:creationId xmlns:a16="http://schemas.microsoft.com/office/drawing/2014/main" id="{E833953D-BE86-48E6-BE80-53E96E3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Verified organization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F6BF9-3E19-457C-B0FC-A23F77D8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Free storage for the load">
            <a:extLst xmlns:a="http://schemas.openxmlformats.org/drawingml/2006/main">
              <a:ext uri="{FF2B5EF4-FFF2-40B4-BE49-F238E27FC236}">
                <a16:creationId xmlns:a16="http://schemas.microsoft.com/office/drawing/2014/main" id="{8BA0549C-20B8-49B6-A854-06BEC447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Free storage for the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BCDA0-422C-4E6E-B8AF-AA6FD2DE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Category accepted">
            <a:extLst xmlns:a="http://schemas.openxmlformats.org/drawingml/2006/main">
              <a:ext uri="{FF2B5EF4-FFF2-40B4-BE49-F238E27FC236}">
                <a16:creationId xmlns:a16="http://schemas.microsoft.com/office/drawing/2014/main" id="{1588A3B2-E626-40CA-9666-E86BC3A1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Category 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34731-915B-471C-8231-95CCF258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Can arrive safely">
            <a:extLst xmlns:a="http://schemas.openxmlformats.org/drawingml/2006/main">
              <a:ext uri="{FF2B5EF4-FFF2-40B4-BE49-F238E27FC236}">
                <a16:creationId xmlns:a16="http://schemas.microsoft.com/office/drawing/2014/main" id="{25773E43-15E5-4085-B76A-C81E85A5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Can arrive safely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A5C34-3F05-4ADE-839C-3E049D1D8525}"/>
              </a:ext>
            </a:extLst>
          </p:cNvPr>
          <p:cNvGraphicFramePr/>
          <p:nvPr/>
        </p:nvGraphicFramePr>
        <p:xfrm>
          <a:off xmlns:a="http://schemas.openxmlformats.org/drawingml/2006/main" x="685800" y="2819400"/>
          <a:ext xmlns:a="http://schemas.openxmlformats.org/drawingml/2006/main" cx="108204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143000"/>
                <a:gridCol w="7486650"/>
              </a:tblGrid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What it measures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Expiry urgency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soon the food expires, weighted by how quickly this recipient can collect it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Demand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well the donation size matches the registered demand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Storage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Whether the load fits in remaining storage without overloading it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Proximity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Distance from the pickup point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Food preference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Whether the organization accepts this category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Fair 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much the organization received in the last 30 days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479FD-B11E-4ED1-A96D-F1E887C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 score and the per factor breakdown are stored with every allocation, so a decision can be reopened later.</a:t>
            </a:r>
          </a:p>
        </p:txBody>
      </p:sp>
    </p:spTree>
    <p:extLst>
      <p:ext uri="{BB962C8B-B14F-4D97-AF65-F5344CB8AC3E}">
        <p14:creationId xmlns:p14="http://schemas.microsoft.com/office/powerpoint/2010/main" val="1808031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BE6BC-A13A-4766-8A5D-15189116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Food-safety arrival rule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EB4D8A3-4491-4E67-8FB4-98C398D2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rule I added. Food must be able to arrive while it is still safe to serve.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E1AE34-4AB9-489C-94FF-4E4BC77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82969-CE06-4EAE-A1DD-C1178E5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engine estimates pickup to handover time for each organization from the distance, and adds handling time.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It compares that estimate with the time left on the food's safe window and keeps sixty minutes free for serving.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If the food cannot arrive in time, the organization is excluded and the reason is written on the allocation.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 started with distance as a lower score. Late arrival is unsafe, so it became a hard rule in front of scoring.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41CEF-47C4-4019-BC7B-477BB6D1FAC5}"/>
              </a:ext>
            </a:extLst>
          </p:cNvPr>
          <p:cNvGraphicFramePr/>
          <p:nvPr/>
        </p:nvGraphicFramePr>
        <p:xfrm>
          <a:off xmlns:a="http://schemas.openxmlformats.org/drawingml/2006/main" x="7124700" y="1905000"/>
          <a:ext xmlns:a="http://schemas.openxmlformats.org/drawingml/2006/main" cx="4381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Assumption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City travel speed, two wheeler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 km/h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Handling at the 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10 minutes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Serving buffer before expiry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60 minutes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E6C2D-52B4-4261-9C47-2064618F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These three assumptions are mine to defend, and they are the only numbers the rule needs to change.</a:t>
            </a:r>
          </a:p>
        </p:txBody>
      </p:sp>
    </p:spTree>
    <p:extLst>
      <p:ext uri="{BB962C8B-B14F-4D97-AF65-F5344CB8AC3E}">
        <p14:creationId xmlns:p14="http://schemas.microsoft.com/office/powerpoint/2010/main" val="1073529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DC713-465D-484E-9D8E-6FC62C76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rule in the running system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0850FAC-9105-42CE-99ED-4531909B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One donation with two hours of safe window left, six organizations, six decisions.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37E97E3-AA64-42D4-B431-769B9AD3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B7813-479C-4CB4-B2FB-6140F02ADCFC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3733"/>
                <a:gridCol w="1143000"/>
                <a:gridCol w="1524000"/>
                <a:gridCol w="4529667"/>
              </a:tblGrid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Organization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Arrival estimate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Sneha Sadan Orphanage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11.6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Eligible, arrives with about 15 minutes to spare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Sanjeevini Community Kitchen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11.8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Eligible, arrives with about 15 minutes to spare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Akshaya Patra Community Kitchen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25.0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85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85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Chennai Food Bank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20.0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70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70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Anand Ashram Shelter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18.3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65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Hope Foundation Trust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11.2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organization is not verified yet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34E68-C24B-443C-96C7-ED621E7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Allocation engine output on 16 October 2026, seeded demonstration dataset.</a:t>
            </a:r>
          </a:p>
        </p:txBody>
      </p:sp>
    </p:spTree>
    <p:extLst>
      <p:ext uri="{BB962C8B-B14F-4D97-AF65-F5344CB8AC3E}">
        <p14:creationId xmlns:p14="http://schemas.microsoft.com/office/powerpoint/2010/main" val="9606962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8AAD5B-C9E2-45A0-81CE-73D7ECCA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Balanced distribution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011163D-7CFD-4AB9-BA72-E4C4C44E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engine scores how much each organization received recently, and the reports show the spread.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135A68E-697D-417C-9EBF-A73E98B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C67CE-EDB4-41D4-B46C-D20E54C8B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a299351fb4473"/>
          <a:stretch xmlns:a="http://schemas.openxmlformats.org/drawingml/2006/main"/>
        </p:blipFill>
        <p:spPr>
          <a:xfrm xmlns:a="http://schemas.openxmlformats.org/drawingml/2006/main">
            <a:off x="685800" y="1920478"/>
            <a:ext cx="5905500" cy="33218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383EC-973E-42ED-AD00-4FDDC3E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Distribution across organizations in the report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33B56-FA27-411D-9F6B-595BA0D3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4381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An organization that received less in the last 30 days scores higher on the fairness factor.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factor carries ten percent of the score, so it settles close decisions instead of overriding food safety.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show the kilograms each partner received, so uneven distribution is visible instead of hidden.</a:t>
            </a:r>
          </a:p>
        </p:txBody>
      </p:sp>
    </p:spTree>
    <p:extLst>
      <p:ext uri="{BB962C8B-B14F-4D97-AF65-F5344CB8AC3E}">
        <p14:creationId xmlns:p14="http://schemas.microsoft.com/office/powerpoint/2010/main" val="831450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2AAC34-BB35-41FB-AFC0-FE412B87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What each role can do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B2E1B50-DE08-4BEA-9081-A06ACCF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Each workspace shows only what that role can act 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F56497-AF74-4870-B302-C76CD866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6DCCE-9EC1-490C-A186-0496D7E168D4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Actions available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Register surplus food, modify or cancel it while pending, preview the recommended recipient, follow the status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 organization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Keep demand, storage and accepted categories current, accept or decline allocations, confirm receipt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Set availability, accept or decline a pickup, move it through pickup, transit and handover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Verify organizations, run the engine, manage users, review the audit trail and system health, export reports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9EF72-3FA4-463A-BA6E-AF91EF3A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Server side rules enforce the same split, so a role cannot reach another role's data through the API.</a:t>
            </a:r>
          </a:p>
        </p:txBody>
      </p:sp>
    </p:spTree>
    <p:extLst>
      <p:ext uri="{BB962C8B-B14F-4D97-AF65-F5344CB8AC3E}">
        <p14:creationId xmlns:p14="http://schemas.microsoft.com/office/powerpoint/2010/main" val="9372161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8B0426-26D1-443C-BDDF-953D199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Administrator screens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9B8474F-9393-4A3F-BD24-83EE731D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Everything that needs a decision, then the engine that makes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D3E43A3-86F7-4678-A80D-86956CA4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A3902-D7BB-4199-BD2D-A60B3A460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01d15e28240c0"/>
          <a:stretch xmlns:a="http://schemas.openxmlformats.org/drawingml/2006/main"/>
        </p:blipFill>
        <p:spPr>
          <a:xfrm xmlns:a="http://schemas.openxmlformats.org/drawingml/2006/main">
            <a:off x="741363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3356F-A241-4A84-A8EF-0C53A54C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Command center: waiting items, donation pipeline and rescue totals.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E1706-D9AF-465B-A31E-6EE5DEE24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049e974e749b3"/>
          <a:stretch xmlns:a="http://schemas.openxmlformats.org/drawingml/2006/main"/>
        </p:blipFill>
        <p:spPr>
          <a:xfrm xmlns:a="http://schemas.openxmlformats.org/drawingml/2006/main">
            <a:off x="6370638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1632-6FA5-43B5-9480-EAF5FFD7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Allocation engine: ranked recipients, factor breakdown and exclusions.</a:t>
            </a:r>
          </a:p>
        </p:txBody>
      </p:sp>
    </p:spTree>
    <p:extLst>
      <p:ext uri="{BB962C8B-B14F-4D97-AF65-F5344CB8AC3E}">
        <p14:creationId xmlns:p14="http://schemas.microsoft.com/office/powerpoint/2010/main" val="21432394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45682D-F769-495D-8ED2-42C56241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and volunteer screens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3C2339A-BE31-4430-B622-05D47B2B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two roles that act after the decision.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11EA9A6-9584-467D-9C9C-FC261346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39E1C-40A5-49AD-A95B-7DF9FD635F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4888dc804435d"/>
          <a:stretch xmlns:a="http://schemas.openxmlformats.org/drawingml/2006/main"/>
        </p:blipFill>
        <p:spPr>
          <a:xfrm xmlns:a="http://schemas.openxmlformats.org/drawingml/2006/main">
            <a:off x="741363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CA05B-01A2-4B80-AE2A-C782CEE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Recipient: incoming allocation, demand, capacity and accepted categories.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B3812-2294-4D5D-920B-29FF9A627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37bfe9ca4beb"/>
          <a:stretch xmlns:a="http://schemas.openxmlformats.org/drawingml/2006/main"/>
        </p:blipFill>
        <p:spPr>
          <a:xfrm xmlns:a="http://schemas.openxmlformats.org/drawingml/2006/main">
            <a:off x="6370638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462E5-0D7F-45A1-B6E4-6B6CA2C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Volunteer: availability and the delivery timeline for an active pickup.</a:t>
            </a:r>
          </a:p>
        </p:txBody>
      </p:sp>
    </p:spTree>
    <p:extLst>
      <p:ext uri="{BB962C8B-B14F-4D97-AF65-F5344CB8AC3E}">
        <p14:creationId xmlns:p14="http://schemas.microsoft.com/office/powerpoint/2010/main" val="4521768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CF4FE0-F543-4808-BF32-CB84E010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Results from the current dataset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4EF278-36BF-4EDF-9DDB-B96E7C03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Sixteen donations across two weeks of seeded operation in one city.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0A9CE95-2643-454F-8252-D3E3D55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04C64-CD0B-4DD5-821B-66B6E503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34023-E618-4A81-92D5-6FC4758D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donations 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72FDE-984F-4602-ABC4-48F44D8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414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50802-707C-4B1F-8D64-50388ED0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food rescued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7B86C-C449-41A9-BB71-4B1A060A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1,035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E1B82-35D8-4FA1-8A51-81F7DC6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meals equivalent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FCCD3-74D4-4959-A303-9BE8EF94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91.7%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40FFB-E5AC-4E08-9617-B6B6EC3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allocations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9917E-B60E-44C4-B75B-AA66B39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56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AC792-6A9D-4759-94A3-359B7264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pickup to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54782-A79F-4A12-8F30-8A8DDE7F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9 of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4C2EA-F287-4FEF-868D-37246607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automated tests pass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6C4C169F-11DC-44C1-8579-DBC3E45B5EF2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45814e97364e2d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5484F-D8BB-410F-A853-46B1F2CF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Nine automated tests and eighteen API role checks pass against the running build.</a:t>
            </a:r>
          </a:p>
        </p:txBody>
      </p:sp>
    </p:spTree>
    <p:extLst>
      <p:ext uri="{BB962C8B-B14F-4D97-AF65-F5344CB8AC3E}">
        <p14:creationId xmlns:p14="http://schemas.microsoft.com/office/powerpoint/2010/main" val="1068274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D2194F-51A7-43C6-97AE-06119869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FoodBridge differs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939512F-9BBB-4F16-9813-3926325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Comparison against the donation platforms and the manual process described in the requirements.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F6436E2-7FB0-4D04-9CEC-63BA9A1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47C09-532D-4E2A-9C91-FF75F1443CB3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3895344"/>
                <a:gridCol w="4328160"/>
              </a:tblGrid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Most donation platforms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FoodBridge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Who receives the food?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first organization to claim 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engine ranks every eligible organization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Can the food arrive in time?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claimer judges it from the listing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Organizations that cannot receive it in time are excluded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Is distribution balanced?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Not tracked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Recent amounts received affect the score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Why this organization?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No explanation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 written reason is stored with each allocation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Who coordinates delivery?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 and recipient arrange it themselves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Volunteers are matched by distance, current load and experience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Is there a record of decisions?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Basic donation 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Every action is recorded in the audit log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3BBE8-6EA4-4178-8209-BB4539C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Assessment based on the process and platforms studied during the requirements phase.</a:t>
            </a:r>
          </a:p>
        </p:txBody>
      </p:sp>
    </p:spTree>
    <p:extLst>
      <p:ext uri="{BB962C8B-B14F-4D97-AF65-F5344CB8AC3E}">
        <p14:creationId xmlns:p14="http://schemas.microsoft.com/office/powerpoint/2010/main" val="10940332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97DBDC-CF6A-4765-AB4F-0A5C2D28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C03344C-E831-4D0D-A957-6E549A0F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What the current build does not do.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584C85-3EA0-4F06-B2BF-6F4F4DC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53888-3B01-4FDB-8E88-BAAA3038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Distances use straight lines rather than road routes, and live traffic is not included.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One average travel speed applies to every volunteer, so bikes and cars are treated the same.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Locations are stored as coordinates. There is no map picker or address lookup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B6890-6F7C-4B09-8FA3-5759A96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Delivery tracking records status changes. It does not stream GPS positions.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Notifications appear inside the application only.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dataset covers one city with a few organizations, and the engine uses fixed weights instead of a model trained on real history.</a:t>
            </a:r>
          </a:p>
        </p:txBody>
      </p:sp>
    </p:spTree>
    <p:extLst>
      <p:ext uri="{BB962C8B-B14F-4D97-AF65-F5344CB8AC3E}">
        <p14:creationId xmlns:p14="http://schemas.microsoft.com/office/powerpoint/2010/main" val="2792803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0727CE-3588-493D-9CE3-0CEC265C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19F3C66-7BBB-40A7-A6B3-DD7F1F5E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Improvements that follow from the limitations.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540E562-F4D2-4CDB-89D0-1D0EEADB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53049-6605-4CB3-8EBF-AAA104E3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Use a mapping service for route aware arrival estimates and live traffic.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Let organizations pick their location on a map and store the address automatically.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Apply per vehicle speeds and re-check the arrival margin when a volunteer accepts.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Build a volunteer reliability score from accept, decline and completion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03ABD-E801-4FF0-80F4-04B2D40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Add donor impact certificates for completed rescues, generated from the delivery record.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Send expiry and allocation alerts by SMS or WhatsApp for organizations that do not check the app.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Deploy the stack to a host and add a mobile friendly layout for volunteers in the field.</a:t>
            </a:r>
          </a:p>
        </p:txBody>
      </p:sp>
    </p:spTree>
    <p:extLst>
      <p:ext uri="{BB962C8B-B14F-4D97-AF65-F5344CB8AC3E}">
        <p14:creationId xmlns:p14="http://schemas.microsoft.com/office/powerpoint/2010/main" val="17770812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D83E5B-3AA1-4966-B4B7-4EFE6F55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Repository and running the demo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7354B90-714E-4F78-A959-706D5D3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project runs on a laptop without internet access.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367237-E5A9-478A-B188-845974D0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96C9F-F322-4523-87B8-61686EB0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Repository: github.com/25-26-WIN-BCSE301L-SOFTWARE-ENGINEERING/26-27-fall-se-lab-projects-AdiByte5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Start with ./scripts/start-all.sh, then open localhost:5173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Stop with ./scripts/stop-all.sh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Run the tests with ./mvnw test in the backend folder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9F259-0479-426B-8776-AB5CE84CB1DF}"/>
              </a:ext>
            </a:extLst>
          </p:cNvPr>
          <p:cNvGraphicFramePr/>
          <p:nvPr/>
        </p:nvGraphicFramePr>
        <p:xfrm>
          <a:off xmlns:a="http://schemas.openxmlformats.org/drawingml/2006/main" x="7124700" y="1905000"/>
          <a:ext xmlns:a="http://schemas.openxmlformats.org/drawingml/2006/main" cx="43815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952750"/>
              </a:tblGrid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Sign in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admin@foodbridge.org / Admin@123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donor@foodbridge.org / Donor@123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 organization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recipient@foodbridge.org / Recipient@123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volunteer@foodbridge.org / Volunteer@123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9974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712E52-C965-4F52-9C87-9F8D3DE9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5098388-913C-4E20-B5DB-3BF19F23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What the review shows.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C762404-4BE7-4522-9235-ABE7F178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FF42-35A8-46EC-99E2-8BF227A1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A working platform where a donation moves from registration to a confirmed delivery, with four role workspaces and a complete audit trail.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An allocation engine that filters, scores on six factors and explains every decision it makes.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contribution I would point to is the food-safety arrival rule and the design decisions recorded with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169DE-D5F3-4556-B065-E6938D25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F505-84A7-43B3-883C-EB40A659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729797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2026-10-16T01:50:02.9960000Z</dcterms:created>
  <dcterms:modified xsi:type="dcterms:W3CDTF">2026-10-16T01:50:02.9960000Z</dcterms:modified>
</coreProperties>
</file>