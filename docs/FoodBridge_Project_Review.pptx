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23"/>
    <p:restoredTop sz="92789"/>
  </p:normalViewPr>
  <p:slideViewPr>
    <p:cSldViewPr snapToGrid="0">
      <p:cViewPr varScale="1">
        <p:scale>
          <a:sx n="136" d="100"/>
          <a:sy n="136" d="100"/>
        </p:scale>
        <p:origin x="728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A4EF8F4-6897-4A9D-924C-A135E95C1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068137C7-15F3-45C1-B25F-D484218ACB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7113DDF4-168F-44AB-8E88-B8A61A345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9F22216-3B67-42DE-8400-762252DEA9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1331B23D-57D0-4634-AE61-CBA25F49DA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E9CD3E4-6D62-4AD6-A0FA-DA8FBF2C09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AF432DEA-2B71-42F1-A0A0-9A2EEE4268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1B01898F-9898-4690-8A1C-695EDC91DE0A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75162E5-A0E7-4529-BEED-947250BCB8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3206AB7A-4758-46F8-BE76-E50D90B0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9DECDE6-05D5-4895-A711-D95A2C6B7B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85800" y="800100"/>
            <a:ext cx="800100" cy="8001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315FCC8A-6F09-4748-9482-EFAC35EA8EB1}"/>
              </a:ext>
            </a:extLst>
          </p:cNvPr>
          <p:cNvSpPr>
            <a:spLocks noGrp="1"/>
          </p:cNvSpPr>
          <p:nvPr/>
        </p:nvSpPr>
        <p:spPr>
          <a:xfrm>
            <a:off x="685800" y="2209800"/>
            <a:ext cx="108204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9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9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FoodBridge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55D249B-E1D0-4400-8782-39B3E005FF3D}"/>
              </a:ext>
            </a:extLst>
          </p:cNvPr>
          <p:cNvSpPr>
            <a:spLocks noGrp="1"/>
          </p:cNvSpPr>
          <p:nvPr/>
        </p:nvSpPr>
        <p:spPr>
          <a:xfrm>
            <a:off x="685800" y="2933700"/>
            <a:ext cx="95250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65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An Intelligent Food Rescue Coordination and Resource Allocation Platform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7F877B4-FA49-412C-9F5A-2A6A250C1DA2}"/>
              </a:ext>
            </a:extLst>
          </p:cNvPr>
          <p:cNvSpPr>
            <a:spLocks noGrp="1"/>
          </p:cNvSpPr>
          <p:nvPr/>
        </p:nvSpPr>
        <p:spPr>
          <a:xfrm>
            <a:off x="685800" y="3619500"/>
            <a:ext cx="2857500" cy="19050"/>
          </a:xfrm>
          <a:prstGeom prst="rect">
            <a:avLst/>
          </a:prstGeom>
          <a:solidFill>
            <a:srgbClr val="0E7C57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450E86-FB57-459C-B5FD-CEB2A48962B9}"/>
              </a:ext>
            </a:extLst>
          </p:cNvPr>
          <p:cNvSpPr>
            <a:spLocks noGrp="1"/>
          </p:cNvSpPr>
          <p:nvPr/>
        </p:nvSpPr>
        <p:spPr>
          <a:xfrm>
            <a:off x="685800" y="3829050"/>
            <a:ext cx="10820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Software Engineering Laboratory · Project Review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93D6AFF-ECD0-411E-916C-FD2C3D88A993}"/>
              </a:ext>
            </a:extLst>
          </p:cNvPr>
          <p:cNvSpPr>
            <a:spLocks noGrp="1"/>
          </p:cNvSpPr>
          <p:nvPr/>
        </p:nvSpPr>
        <p:spPr>
          <a:xfrm>
            <a:off x="685800" y="4114800"/>
            <a:ext cx="10820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Adithyan S Nair · Register number 24BAI1621</a:t>
            </a:r>
          </a:p>
        </p:txBody>
      </p:sp>
    </p:spTree>
    <p:extLst>
      <p:ext uri="{BB962C8B-B14F-4D97-AF65-F5344CB8AC3E}">
        <p14:creationId xmlns:p14="http://schemas.microsoft.com/office/powerpoint/2010/main" val="17601205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2765F90-4ACA-40C8-B2C1-30FAF59637D4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A9707AC9-829B-40C0-85C9-76093799378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Problem statement and the gap in existing platforms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3D419DEB-DB3F-48B6-B1AF-181CDA46462A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Surplus food is discarded while the organizations that require it operate short of supply.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EEFE9D56-619A-4851-BC6B-20D7BEB59178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6F65AD4-161D-434E-A6F3-0747F052B2B0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1082040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Donations are coordinated through telephone calls and messaging applications, which delays collection and results in lost donations.</a:t>
            </a:r>
          </a:p>
          <a:p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Most donation platforms publish a listing and allocate the food to the first organization that claims it.</a:t>
            </a:r>
          </a:p>
          <a:p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They do not verify that the food can reach the recipient before its safe consumption window closes.</a:t>
            </a:r>
          </a:p>
          <a:p>
            <a:pPr marL="228600" indent="-114300">
              <a:spcAft>
                <a:spcPts val="1800"/>
              </a:spcAft>
              <a:buChar char="•"/>
              <a:defRPr sz="15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They neither measure cumulative distribution across organizations nor record the reasoning behind a selection.</a:t>
            </a:r>
          </a:p>
        </p:txBody>
      </p:sp>
    </p:spTree>
    <p:extLst>
      <p:ext uri="{BB962C8B-B14F-4D97-AF65-F5344CB8AC3E}">
        <p14:creationId xmlns:p14="http://schemas.microsoft.com/office/powerpoint/2010/main" val="3360550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E7E55CB-E165-4805-B3E3-2CC2FA3E5143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822466C5-6B41-49A8-84FF-97EC1D0F14B1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Differentiating features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2BCB0ED5-FC35-417E-8563-EFCEDDE54759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Six design decisions separate FoodBridge from existing platforms and manual coordination.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4AEB2AA4-A9EE-4883-8727-319D17A5B122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9553973-D5D2-42D0-8DD4-ECFC73924B3B}"/>
              </a:ext>
            </a:extLst>
          </p:cNvPr>
          <p:cNvGraphicFramePr/>
          <p:nvPr/>
        </p:nvGraphicFramePr>
        <p:xfrm>
          <a:off x="685800" y="1866900"/>
          <a:ext cx="10820400" cy="3543302"/>
        </p:xfrm>
        <a:graphic>
          <a:graphicData uri="http://schemas.openxmlformats.org/drawingml/2006/table">
            <a:tbl>
              <a:tblPr/>
              <a:tblGrid>
                <a:gridCol w="23804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53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445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618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Design decision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Typical platforms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FoodBridge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Recipient selection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Allocated to the first organization that claims the listing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All eligible organizations are ranked by the decision engine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 safety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Expiry time displayed to the claimant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Organizations that cannot receive the food in time are excluded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Equitable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Not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Quantities received in the previous 30 days influence the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Transparency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No recorded justification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 written explanation is stored with every allocation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Volunteer coordination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Arranged privately between donor and recipient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Volunteers are matched by distance, workload and experience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618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Accountability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Basic donation history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Every action is recorded in the audit log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9858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0C06C0DF-E129-4F18-B5BF-A5D18B6C1D94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07FDBC0C-976B-432C-B8F9-C4D85B1A526B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Functional scope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79D4048E-7AB9-45DC-B07A-648C3079F25D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actors and sixteen use cases, all implemented in the running system.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27B41D9F-BC77-427D-AEB8-3115A1F246AC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flow-Donation registered">
            <a:extLst>
              <a:ext uri="{FF2B5EF4-FFF2-40B4-BE49-F238E27FC236}">
                <a16:creationId xmlns:a16="http://schemas.microsoft.com/office/drawing/2014/main" id="{936C115E-4DA4-4143-8F2D-86FF6EE51F10}"/>
              </a:ext>
            </a:extLst>
          </p:cNvPr>
          <p:cNvSpPr>
            <a:spLocks noGrp="1"/>
          </p:cNvSpPr>
          <p:nvPr/>
        </p:nvSpPr>
        <p:spPr>
          <a:xfrm>
            <a:off x="68580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E1ED6-201D-4EFD-B358-B1B49B0ABCC8}"/>
              </a:ext>
            </a:extLst>
          </p:cNvPr>
          <p:cNvSpPr>
            <a:spLocks noGrp="1"/>
          </p:cNvSpPr>
          <p:nvPr/>
        </p:nvSpPr>
        <p:spPr>
          <a:xfrm>
            <a:off x="78105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Donation registered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1E156E-42A5-4D9B-A4A9-155BEC51EFF1}"/>
              </a:ext>
            </a:extLst>
          </p:cNvPr>
          <p:cNvSpPr>
            <a:spLocks noGrp="1"/>
          </p:cNvSpPr>
          <p:nvPr/>
        </p:nvSpPr>
        <p:spPr>
          <a:xfrm>
            <a:off x="78105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donor submits details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AEEF22B-9EF2-4712-8CA4-12B3135BCB0C}"/>
              </a:ext>
            </a:extLst>
          </p:cNvPr>
          <p:cNvSpPr>
            <a:spLocks noGrp="1"/>
          </p:cNvSpPr>
          <p:nvPr/>
        </p:nvSpPr>
        <p:spPr>
          <a:xfrm>
            <a:off x="2171700" y="2457450"/>
            <a:ext cx="2286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flow-Engine ranks recipients">
            <a:extLst>
              <a:ext uri="{FF2B5EF4-FFF2-40B4-BE49-F238E27FC236}">
                <a16:creationId xmlns:a16="http://schemas.microsoft.com/office/drawing/2014/main" id="{1A81E838-6955-4931-88BB-130E1E596723}"/>
              </a:ext>
            </a:extLst>
          </p:cNvPr>
          <p:cNvSpPr>
            <a:spLocks noGrp="1"/>
          </p:cNvSpPr>
          <p:nvPr/>
        </p:nvSpPr>
        <p:spPr>
          <a:xfrm>
            <a:off x="245745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56472FD-8BF4-4615-BFED-FF7E4712CF45}"/>
              </a:ext>
            </a:extLst>
          </p:cNvPr>
          <p:cNvSpPr>
            <a:spLocks noGrp="1"/>
          </p:cNvSpPr>
          <p:nvPr/>
        </p:nvSpPr>
        <p:spPr>
          <a:xfrm>
            <a:off x="255270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Engine ranks recipients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872283-02A5-4C5F-BB7A-0F4C34033FF0}"/>
              </a:ext>
            </a:extLst>
          </p:cNvPr>
          <p:cNvSpPr>
            <a:spLocks noGrp="1"/>
          </p:cNvSpPr>
          <p:nvPr/>
        </p:nvSpPr>
        <p:spPr>
          <a:xfrm>
            <a:off x="255270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constraints, then scoring</a:t>
            </a:r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55250DF7-AC58-4026-9F8F-E7AF61C8AAE7}"/>
              </a:ext>
            </a:extLst>
          </p:cNvPr>
          <p:cNvSpPr>
            <a:spLocks noGrp="1"/>
          </p:cNvSpPr>
          <p:nvPr/>
        </p:nvSpPr>
        <p:spPr>
          <a:xfrm>
            <a:off x="3943350" y="2457450"/>
            <a:ext cx="2286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flow-Recipient accepts">
            <a:extLst>
              <a:ext uri="{FF2B5EF4-FFF2-40B4-BE49-F238E27FC236}">
                <a16:creationId xmlns:a16="http://schemas.microsoft.com/office/drawing/2014/main" id="{8C46C6AB-9D50-4160-80A4-E1F3CBC359E0}"/>
              </a:ext>
            </a:extLst>
          </p:cNvPr>
          <p:cNvSpPr>
            <a:spLocks noGrp="1"/>
          </p:cNvSpPr>
          <p:nvPr/>
        </p:nvSpPr>
        <p:spPr>
          <a:xfrm>
            <a:off x="422910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21F9E5-AC87-4D29-839D-45DDFBAA0F21}"/>
              </a:ext>
            </a:extLst>
          </p:cNvPr>
          <p:cNvSpPr>
            <a:spLocks noGrp="1"/>
          </p:cNvSpPr>
          <p:nvPr/>
        </p:nvSpPr>
        <p:spPr>
          <a:xfrm>
            <a:off x="432435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Recipient accepts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AE87D52-CD57-4471-8E3F-7A8A1993F2B9}"/>
              </a:ext>
            </a:extLst>
          </p:cNvPr>
          <p:cNvSpPr>
            <a:spLocks noGrp="1"/>
          </p:cNvSpPr>
          <p:nvPr/>
        </p:nvSpPr>
        <p:spPr>
          <a:xfrm>
            <a:off x="432435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decision visible</a:t>
            </a:r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E50C31C9-B8D2-4767-8F2F-D0E0FD567D38}"/>
              </a:ext>
            </a:extLst>
          </p:cNvPr>
          <p:cNvSpPr>
            <a:spLocks noGrp="1"/>
          </p:cNvSpPr>
          <p:nvPr/>
        </p:nvSpPr>
        <p:spPr>
          <a:xfrm>
            <a:off x="5715000" y="2457450"/>
            <a:ext cx="2286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flow-Volunteer collects">
            <a:extLst>
              <a:ext uri="{FF2B5EF4-FFF2-40B4-BE49-F238E27FC236}">
                <a16:creationId xmlns:a16="http://schemas.microsoft.com/office/drawing/2014/main" id="{5C68DFD4-2D3A-449C-8E68-0CB35E259AE5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D9E8891-DC3E-4F8E-B6CE-424633B41A43}"/>
              </a:ext>
            </a:extLst>
          </p:cNvPr>
          <p:cNvSpPr>
            <a:spLocks noGrp="1"/>
          </p:cNvSpPr>
          <p:nvPr/>
        </p:nvSpPr>
        <p:spPr>
          <a:xfrm>
            <a:off x="609600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Volunteer collects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BAFA41-8CBD-4742-9848-DEC432E6AB62}"/>
              </a:ext>
            </a:extLst>
          </p:cNvPr>
          <p:cNvSpPr>
            <a:spLocks noGrp="1"/>
          </p:cNvSpPr>
          <p:nvPr/>
        </p:nvSpPr>
        <p:spPr>
          <a:xfrm>
            <a:off x="609600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matched by distance</a:t>
            </a:r>
          </a:p>
        </p:txBody>
      </p:sp>
      <p:sp>
        <p:nvSpPr>
          <p:cNvPr id="20" name="Right Arrow 19">
            <a:extLst>
              <a:ext uri="{FF2B5EF4-FFF2-40B4-BE49-F238E27FC236}">
                <a16:creationId xmlns:a16="http://schemas.microsoft.com/office/drawing/2014/main" id="{9F43274B-4013-48D9-AE58-C20348F586C4}"/>
              </a:ext>
            </a:extLst>
          </p:cNvPr>
          <p:cNvSpPr>
            <a:spLocks noGrp="1"/>
          </p:cNvSpPr>
          <p:nvPr/>
        </p:nvSpPr>
        <p:spPr>
          <a:xfrm>
            <a:off x="7486650" y="2457450"/>
            <a:ext cx="2286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flow-Delivered">
            <a:extLst>
              <a:ext uri="{FF2B5EF4-FFF2-40B4-BE49-F238E27FC236}">
                <a16:creationId xmlns:a16="http://schemas.microsoft.com/office/drawing/2014/main" id="{483686DF-8306-4487-9DC5-0DAD785AC3C7}"/>
              </a:ext>
            </a:extLst>
          </p:cNvPr>
          <p:cNvSpPr>
            <a:spLocks noGrp="1"/>
          </p:cNvSpPr>
          <p:nvPr/>
        </p:nvSpPr>
        <p:spPr>
          <a:xfrm>
            <a:off x="777240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4215A05-63C6-44CD-BBD5-15B1332AFA4F}"/>
              </a:ext>
            </a:extLst>
          </p:cNvPr>
          <p:cNvSpPr>
            <a:spLocks noGrp="1"/>
          </p:cNvSpPr>
          <p:nvPr/>
        </p:nvSpPr>
        <p:spPr>
          <a:xfrm>
            <a:off x="786765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Delivered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6E0659A-F66E-422D-9587-5D1729DAB0FE}"/>
              </a:ext>
            </a:extLst>
          </p:cNvPr>
          <p:cNvSpPr>
            <a:spLocks noGrp="1"/>
          </p:cNvSpPr>
          <p:nvPr/>
        </p:nvSpPr>
        <p:spPr>
          <a:xfrm>
            <a:off x="786765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tracked to handover</a:t>
            </a:r>
          </a:p>
        </p:txBody>
      </p:sp>
      <p:sp>
        <p:nvSpPr>
          <p:cNvPr id="24" name="Right Arrow 23">
            <a:extLst>
              <a:ext uri="{FF2B5EF4-FFF2-40B4-BE49-F238E27FC236}">
                <a16:creationId xmlns:a16="http://schemas.microsoft.com/office/drawing/2014/main" id="{95BAABE2-0F23-42E0-BA6F-0AF825713834}"/>
              </a:ext>
            </a:extLst>
          </p:cNvPr>
          <p:cNvSpPr>
            <a:spLocks noGrp="1"/>
          </p:cNvSpPr>
          <p:nvPr/>
        </p:nvSpPr>
        <p:spPr>
          <a:xfrm>
            <a:off x="9258300" y="2457450"/>
            <a:ext cx="2286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flow-Reports update">
            <a:extLst>
              <a:ext uri="{FF2B5EF4-FFF2-40B4-BE49-F238E27FC236}">
                <a16:creationId xmlns:a16="http://schemas.microsoft.com/office/drawing/2014/main" id="{D8399FE1-B71F-494C-A7F7-D53DEEF68E65}"/>
              </a:ext>
            </a:extLst>
          </p:cNvPr>
          <p:cNvSpPr>
            <a:spLocks noGrp="1"/>
          </p:cNvSpPr>
          <p:nvPr/>
        </p:nvSpPr>
        <p:spPr>
          <a:xfrm>
            <a:off x="9544050" y="2038350"/>
            <a:ext cx="1428750" cy="99060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F455CA-3707-4FCC-AA4A-A7BBF0F8D1BB}"/>
              </a:ext>
            </a:extLst>
          </p:cNvPr>
          <p:cNvSpPr>
            <a:spLocks noGrp="1"/>
          </p:cNvSpPr>
          <p:nvPr/>
        </p:nvSpPr>
        <p:spPr>
          <a:xfrm>
            <a:off x="9639300" y="217170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Reports update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BB529E4-B8F5-4FF6-ABE1-B4B112E89BE2}"/>
              </a:ext>
            </a:extLst>
          </p:cNvPr>
          <p:cNvSpPr>
            <a:spLocks noGrp="1"/>
          </p:cNvSpPr>
          <p:nvPr/>
        </p:nvSpPr>
        <p:spPr>
          <a:xfrm>
            <a:off x="9639300" y="2533650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38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rescues and audit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418101-A21B-49EB-9A6B-64F4C62C1528}"/>
              </a:ext>
            </a:extLst>
          </p:cNvPr>
          <p:cNvSpPr>
            <a:spLocks noGrp="1"/>
          </p:cNvSpPr>
          <p:nvPr/>
        </p:nvSpPr>
        <p:spPr>
          <a:xfrm>
            <a:off x="685800" y="3543300"/>
            <a:ext cx="10820400" cy="2667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workflow proceeds from donation registration to a confirmed delivery, with the allocation decision recorded at each stage.</a:t>
            </a:r>
          </a:p>
          <a:p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Each role workspace exposes only the functions that the actor is authorised to perform.</a:t>
            </a:r>
          </a:p>
          <a:p>
            <a:pPr marL="228600" indent="-114300">
              <a:spcAft>
                <a:spcPts val="1600"/>
              </a:spcAft>
              <a:buChar char="•"/>
              <a:defRPr sz="142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42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engine operates on the server; the browser presents decisions and collects responses.</a:t>
            </a:r>
          </a:p>
        </p:txBody>
      </p:sp>
    </p:spTree>
    <p:extLst>
      <p:ext uri="{BB962C8B-B14F-4D97-AF65-F5344CB8AC3E}">
        <p14:creationId xmlns:p14="http://schemas.microsoft.com/office/powerpoint/2010/main" val="8339200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D7F349BF-C9A2-4616-899B-49398AC81700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EDD3F5E9-5422-4723-903B-24624311A52C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Allocation methodology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3D7911D9-C634-43B5-AA5D-4B622ADE2FA5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Four eligibility constraints are applied first; six weighted factors then determine the ranking.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01333EC2-C3C1-4D7C-8634-8452DD3FF2BE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flow-Verified organization">
            <a:extLst>
              <a:ext uri="{FF2B5EF4-FFF2-40B4-BE49-F238E27FC236}">
                <a16:creationId xmlns:a16="http://schemas.microsoft.com/office/drawing/2014/main" id="{FCFE8D7E-E550-413E-B6E7-BC9C573CF6FD}"/>
              </a:ext>
            </a:extLst>
          </p:cNvPr>
          <p:cNvSpPr>
            <a:spLocks noGrp="1"/>
          </p:cNvSpPr>
          <p:nvPr/>
        </p:nvSpPr>
        <p:spPr>
          <a:xfrm>
            <a:off x="685800" y="1828800"/>
            <a:ext cx="22860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A459886-9F03-4F7A-A983-698C834AAD19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Verified organization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612EA281-F375-464A-928F-731E463D0667}"/>
              </a:ext>
            </a:extLst>
          </p:cNvPr>
          <p:cNvSpPr>
            <a:spLocks noGrp="1"/>
          </p:cNvSpPr>
          <p:nvPr/>
        </p:nvSpPr>
        <p:spPr>
          <a:xfrm>
            <a:off x="3028950" y="2085975"/>
            <a:ext cx="4191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flow-Sufficient free storage">
            <a:extLst>
              <a:ext uri="{FF2B5EF4-FFF2-40B4-BE49-F238E27FC236}">
                <a16:creationId xmlns:a16="http://schemas.microsoft.com/office/drawing/2014/main" id="{45F1AF36-E3E6-46B2-A820-4910CC70D795}"/>
              </a:ext>
            </a:extLst>
          </p:cNvPr>
          <p:cNvSpPr>
            <a:spLocks noGrp="1"/>
          </p:cNvSpPr>
          <p:nvPr/>
        </p:nvSpPr>
        <p:spPr>
          <a:xfrm>
            <a:off x="3505200" y="1828800"/>
            <a:ext cx="22860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8753955-0EC9-4044-A6BE-51DB6C805B5F}"/>
              </a:ext>
            </a:extLst>
          </p:cNvPr>
          <p:cNvSpPr>
            <a:spLocks noGrp="1"/>
          </p:cNvSpPr>
          <p:nvPr/>
        </p:nvSpPr>
        <p:spPr>
          <a:xfrm>
            <a:off x="3600450" y="1962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Sufficient free storage</a:t>
            </a:r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20AA4D0D-071C-486D-ACB2-06714E990659}"/>
              </a:ext>
            </a:extLst>
          </p:cNvPr>
          <p:cNvSpPr>
            <a:spLocks noGrp="1"/>
          </p:cNvSpPr>
          <p:nvPr/>
        </p:nvSpPr>
        <p:spPr>
          <a:xfrm>
            <a:off x="5848350" y="2085975"/>
            <a:ext cx="4191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flow-Category accepted">
            <a:extLst>
              <a:ext uri="{FF2B5EF4-FFF2-40B4-BE49-F238E27FC236}">
                <a16:creationId xmlns:a16="http://schemas.microsoft.com/office/drawing/2014/main" id="{3FC5D4D9-1B2C-4399-B7D5-AED2F2FA4966}"/>
              </a:ext>
            </a:extLst>
          </p:cNvPr>
          <p:cNvSpPr>
            <a:spLocks noGrp="1"/>
          </p:cNvSpPr>
          <p:nvPr/>
        </p:nvSpPr>
        <p:spPr>
          <a:xfrm>
            <a:off x="6324600" y="1828800"/>
            <a:ext cx="22860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7DAE427-1CA0-404D-8FB3-DBCD473CDB08}"/>
              </a:ext>
            </a:extLst>
          </p:cNvPr>
          <p:cNvSpPr>
            <a:spLocks noGrp="1"/>
          </p:cNvSpPr>
          <p:nvPr/>
        </p:nvSpPr>
        <p:spPr>
          <a:xfrm>
            <a:off x="6419850" y="1962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Category accepted</a:t>
            </a:r>
          </a:p>
        </p:txBody>
      </p:sp>
      <p:sp>
        <p:nvSpPr>
          <p:cNvPr id="13" name="Right Arrow 12">
            <a:extLst>
              <a:ext uri="{FF2B5EF4-FFF2-40B4-BE49-F238E27FC236}">
                <a16:creationId xmlns:a16="http://schemas.microsoft.com/office/drawing/2014/main" id="{3054E1B3-9D43-4356-BE29-9B85E9C4E2FD}"/>
              </a:ext>
            </a:extLst>
          </p:cNvPr>
          <p:cNvSpPr>
            <a:spLocks noGrp="1"/>
          </p:cNvSpPr>
          <p:nvPr/>
        </p:nvSpPr>
        <p:spPr>
          <a:xfrm>
            <a:off x="8667750" y="2085975"/>
            <a:ext cx="419100" cy="152400"/>
          </a:xfrm>
          <a:prstGeom prst="rightArrow">
            <a:avLst/>
          </a:prstGeom>
          <a:solidFill>
            <a:srgbClr val="8A94A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flow-Safe arrival feasible">
            <a:extLst>
              <a:ext uri="{FF2B5EF4-FFF2-40B4-BE49-F238E27FC236}">
                <a16:creationId xmlns:a16="http://schemas.microsoft.com/office/drawing/2014/main" id="{1B705E18-EB67-4DE1-AAED-A2694734EE6D}"/>
              </a:ext>
            </a:extLst>
          </p:cNvPr>
          <p:cNvSpPr>
            <a:spLocks noGrp="1"/>
          </p:cNvSpPr>
          <p:nvPr/>
        </p:nvSpPr>
        <p:spPr>
          <a:xfrm>
            <a:off x="9144000" y="1828800"/>
            <a:ext cx="2286000" cy="51435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9525">
            <a:solidFill>
              <a:srgbClr val="E1E5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9A6EAE7-EC5B-41DC-A91B-4551D7ED4AAB}"/>
              </a:ext>
            </a:extLst>
          </p:cNvPr>
          <p:cNvSpPr>
            <a:spLocks noGrp="1"/>
          </p:cNvSpPr>
          <p:nvPr/>
        </p:nvSpPr>
        <p:spPr>
          <a:xfrm>
            <a:off x="9239250" y="1962150"/>
            <a:ext cx="2095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Safe arrival feasible</a:t>
            </a:r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8F0C01D0-778F-4D23-9FAB-76D84FA0A109}"/>
              </a:ext>
            </a:extLst>
          </p:cNvPr>
          <p:cNvGraphicFramePr/>
          <p:nvPr/>
        </p:nvGraphicFramePr>
        <p:xfrm>
          <a:off x="685800" y="2743200"/>
          <a:ext cx="10820400" cy="2857498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7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8214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Factor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Weight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Basis of measurement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Expiry urgency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Time remaining before the food becomes unsafe, weighted by the recipient's collection speed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Demand match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Correspondence between the donation quantity and the registered demand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Storage 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Remaining storage capacity after intake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Proximity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 from the pickup point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Food preference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Whether the organization accepts the food category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8214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Fair 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Quantity received by the organization during the previous 30 days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9813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7AADA1C-6DE9-440B-8540-336CBEFCDE76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79FCAE7C-D0CC-4848-A662-F93FF61E6AA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Original contribution: the food-safety arrival rule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78FD5C54-D8A3-47B7-8989-FCC6AFB5956A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 constraint introduced in this project. Food must be able to arrive while it remains safe to serve.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E29CE013-0FFB-4837-9FAB-D30CF6491C66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8F83B1-C6AD-4EAB-B0F4-5060ACE56049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561975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engine estimates the pickup to handover duration for each candidate organization from the travel distance and a handling allowance.</a:t>
            </a:r>
          </a:p>
          <a:p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estimate is compared with the remaining safe window, retaining sixty minutes for serving.</a:t>
            </a:r>
          </a:p>
          <a:p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Organizations that cannot arrive in time are excluded, and the reason is stored on the allocation.</a:t>
            </a:r>
          </a:p>
          <a:p>
            <a:pPr marL="228600" indent="-114300">
              <a:spcAft>
                <a:spcPts val="14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Distance was initially treated as a scoring factor. Because late arrival is a safety failure rather than a lower priority, it was implemented as a hard constraint.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D2D87E-86B1-4AC7-BA20-AC599DC3424D}"/>
              </a:ext>
            </a:extLst>
          </p:cNvPr>
          <p:cNvGraphicFramePr/>
          <p:nvPr/>
        </p:nvGraphicFramePr>
        <p:xfrm>
          <a:off x="6762750" y="1981200"/>
          <a:ext cx="4743450" cy="2552700"/>
        </p:xfrm>
        <a:graphic>
          <a:graphicData uri="http://schemas.openxmlformats.org/drawingml/2006/table">
            <a:tbl>
              <a:tblPr/>
              <a:tblGrid>
                <a:gridCol w="17794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38175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Organization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Distance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Outcome</a:t>
                      </a:r>
                    </a:p>
                  </a:txBody>
                  <a:tcPr>
                    <a:solidFill>
                      <a:srgbClr val="F5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Sneha Sadan Orphanage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11.6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minutes to spare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Sanjeevini Community Kitchen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11.8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Eligible, 15 minutes to spare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8175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Three organizations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18 to 25 km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131A24"/>
                          </a:solidFill>
                          <a:latin typeface="Arial"/>
                          <a:ea typeface="Arial"/>
                          <a:cs typeface="Arial"/>
                        </a:rPr>
                        <a:t>Excluded, 65 to 85 minutes required against 60 available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Rectangle 6">
            <a:extLst>
              <a:ext uri="{FF2B5EF4-FFF2-40B4-BE49-F238E27FC236}">
                <a16:creationId xmlns:a16="http://schemas.microsoft.com/office/drawing/2014/main" id="{BAD644AF-E042-479F-9342-AA92247BF88F}"/>
              </a:ext>
            </a:extLst>
          </p:cNvPr>
          <p:cNvSpPr>
            <a:spLocks noGrp="1"/>
          </p:cNvSpPr>
          <p:nvPr/>
        </p:nvSpPr>
        <p:spPr>
          <a:xfrm>
            <a:off x="6762750" y="4686300"/>
            <a:ext cx="47434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Assumptions: 20 km/h urban travel, 10 minutes handling, 60 minutes serving buffer.</a:t>
            </a:r>
          </a:p>
        </p:txBody>
      </p:sp>
    </p:spTree>
    <p:extLst>
      <p:ext uri="{BB962C8B-B14F-4D97-AF65-F5344CB8AC3E}">
        <p14:creationId xmlns:p14="http://schemas.microsoft.com/office/powerpoint/2010/main" val="21352360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F6AB33A3-1D2B-4B6A-89F9-421E44D77CCD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C4661732-4C0C-44C9-9C2F-2E7B3473B1DD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System architecture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B1C3DDB2-EF2C-4B51-BFFA-487EC7673D82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layered architecture submitted in the design phase, implemented as specified.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9B77AD4F-E588-41BF-AA49-88E0B7996C61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F161AF-57E5-45AC-853A-DE0B73F66DFB}"/>
              </a:ext>
            </a:extLst>
          </p:cNvPr>
          <p:cNvSpPr>
            <a:spLocks noGrp="1"/>
          </p:cNvSpPr>
          <p:nvPr/>
        </p:nvSpPr>
        <p:spPr>
          <a:xfrm>
            <a:off x="685800" y="1981200"/>
            <a:ext cx="4476750" cy="2476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Four layers: React presentation, Spring Boot REST application, business logic including the allocation engine, and JPA over MySQL.</a:t>
            </a:r>
          </a:p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Authentication issues a JWT at login; the server verifies the role and the ownership of each record.</a:t>
            </a:r>
          </a:p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The allocation engine is an independent service, which keeps decision rules separate from the domain classes.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99CF2FF-AD0F-4EB0-A649-E47931B7D4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689934" y="1676400"/>
            <a:ext cx="4812632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7324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631C4CA-6845-4D63-9FE5-B6D91B4D671D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C2BF4085-23B7-4BE7-83B2-B6DAE870933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Database design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28453F5C-42BE-4DD1-8FD9-C45CD6B14668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The entity relationship model submitted in the design phase, implemented as twelve tables.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75650962-C0C1-4243-A4E6-CC0C62D710C8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08F8670-7D35-42B3-917F-C31570F96CD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4095750" cy="2286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Twelve entities in third normal form.</a:t>
            </a:r>
          </a:p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Allocation, assignment and delivery are modelled separately, so a decision, a task and a delivery are tracked independently.</a:t>
            </a:r>
          </a:p>
          <a:p>
            <a:pPr marL="228600" indent="-114300">
              <a:spcAft>
                <a:spcPts val="1600"/>
              </a:spcAft>
              <a:buChar char="•"/>
              <a:defRPr sz="1200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131A24"/>
                </a:solidFill>
                <a:latin typeface="Arial"/>
                <a:ea typeface="Arial"/>
                <a:cs typeface="Arial"/>
              </a:rPr>
              <a:t>Recipient food preferences resolve the many to many relationship between organizations and categories.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3B2633-F1C0-4BD9-B8BF-DFFA001B8F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145061" y="1638300"/>
            <a:ext cx="5902377" cy="4800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46695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F70E97CF-0F49-4F5C-A70E-7FF03688F1A0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2667E30E-5505-4335-BBF0-1307D4BB9F7E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Results and verification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0D9BCAB5-684A-4A1F-B7E0-5C298772527E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Measurements taken from the running system with the seeded dataset.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88847184-A71C-4C78-99F6-4704A20B03C5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BBF95E-AAB5-4CB3-8077-A52EE469DE2C}"/>
              </a:ext>
            </a:extLst>
          </p:cNvPr>
          <p:cNvSpPr>
            <a:spLocks noGrp="1"/>
          </p:cNvSpPr>
          <p:nvPr/>
        </p:nvSpPr>
        <p:spPr>
          <a:xfrm>
            <a:off x="685800" y="190500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243C39D-D9D2-4B63-9014-2BD5F9FF0A21}"/>
              </a:ext>
            </a:extLst>
          </p:cNvPr>
          <p:cNvSpPr>
            <a:spLocks noGrp="1"/>
          </p:cNvSpPr>
          <p:nvPr/>
        </p:nvSpPr>
        <p:spPr>
          <a:xfrm>
            <a:off x="685800" y="2362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donations registered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9248E6-DC08-40FB-B4DF-67F9B3012F60}"/>
              </a:ext>
            </a:extLst>
          </p:cNvPr>
          <p:cNvSpPr>
            <a:spLocks noGrp="1"/>
          </p:cNvSpPr>
          <p:nvPr/>
        </p:nvSpPr>
        <p:spPr>
          <a:xfrm>
            <a:off x="4305300" y="190500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414 kg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E72DD6-30A5-4D9E-B46D-0533D72ECE8E}"/>
              </a:ext>
            </a:extLst>
          </p:cNvPr>
          <p:cNvSpPr>
            <a:spLocks noGrp="1"/>
          </p:cNvSpPr>
          <p:nvPr/>
        </p:nvSpPr>
        <p:spPr>
          <a:xfrm>
            <a:off x="4305300" y="2362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food rescued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CB619C-5462-4014-9534-C0940DABE769}"/>
              </a:ext>
            </a:extLst>
          </p:cNvPr>
          <p:cNvSpPr>
            <a:spLocks noGrp="1"/>
          </p:cNvSpPr>
          <p:nvPr/>
        </p:nvSpPr>
        <p:spPr>
          <a:xfrm>
            <a:off x="7924800" y="190500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1,035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3C366D-DC0E-4229-BDBC-44DDA1898D61}"/>
              </a:ext>
            </a:extLst>
          </p:cNvPr>
          <p:cNvSpPr>
            <a:spLocks noGrp="1"/>
          </p:cNvSpPr>
          <p:nvPr/>
        </p:nvSpPr>
        <p:spPr>
          <a:xfrm>
            <a:off x="7924800" y="236220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meals equivalent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CCDC48-09DB-48F8-ADFD-1FC992141924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91.7%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075E0A-0D78-4DB5-A4C4-4CEC0D930736}"/>
              </a:ext>
            </a:extLst>
          </p:cNvPr>
          <p:cNvSpPr>
            <a:spLocks noGrp="1"/>
          </p:cNvSpPr>
          <p:nvPr/>
        </p:nvSpPr>
        <p:spPr>
          <a:xfrm>
            <a:off x="685800" y="348615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allocations accepted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3731B87-5D6B-40EA-A1E7-DA1AF3993769}"/>
              </a:ext>
            </a:extLst>
          </p:cNvPr>
          <p:cNvSpPr>
            <a:spLocks noGrp="1"/>
          </p:cNvSpPr>
          <p:nvPr/>
        </p:nvSpPr>
        <p:spPr>
          <a:xfrm>
            <a:off x="4305300" y="302895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56 minutes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3035B5B-7381-4EA6-BADB-9303251E276C}"/>
              </a:ext>
            </a:extLst>
          </p:cNvPr>
          <p:cNvSpPr>
            <a:spLocks noGrp="1"/>
          </p:cNvSpPr>
          <p:nvPr/>
        </p:nvSpPr>
        <p:spPr>
          <a:xfrm>
            <a:off x="4305300" y="348615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pickup to confirmation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44F443-437B-4D89-B3D0-B06CA4E5A51A}"/>
              </a:ext>
            </a:extLst>
          </p:cNvPr>
          <p:cNvSpPr>
            <a:spLocks noGrp="1"/>
          </p:cNvSpPr>
          <p:nvPr/>
        </p:nvSpPr>
        <p:spPr>
          <a:xfrm>
            <a:off x="7924800" y="3028950"/>
            <a:ext cx="3238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0E7C57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E7C57"/>
                </a:solidFill>
                <a:latin typeface="Arial"/>
                <a:ea typeface="Arial"/>
                <a:cs typeface="Arial"/>
              </a:rPr>
              <a:t>9 of 9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8925F70-DAFD-493B-8033-8427A143F7C1}"/>
              </a:ext>
            </a:extLst>
          </p:cNvPr>
          <p:cNvSpPr>
            <a:spLocks noGrp="1"/>
          </p:cNvSpPr>
          <p:nvPr/>
        </p:nvSpPr>
        <p:spPr>
          <a:xfrm>
            <a:off x="7924800" y="3486150"/>
            <a:ext cx="3238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00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automated tests pass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A6D2B3-8666-4B0C-98C2-E85A2E0A8AFB}"/>
              </a:ext>
            </a:extLst>
          </p:cNvPr>
          <p:cNvSpPr>
            <a:spLocks noGrp="1"/>
          </p:cNvSpPr>
          <p:nvPr/>
        </p:nvSpPr>
        <p:spPr>
          <a:xfrm>
            <a:off x="685800" y="4305300"/>
            <a:ext cx="10820400" cy="1905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Nine automated tests cover the eligibility constraints, the scoring model, the fairness factor, the arrival rule and access control.</a:t>
            </a:r>
          </a:p>
          <a:p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Eighteen API checks confirm the role restrictions, including rejection of unauthorised requests with 401 and 403 responses.</a:t>
            </a:r>
          </a:p>
          <a:p>
            <a:pPr marL="228600" indent="-114300">
              <a:spcAft>
                <a:spcPts val="12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complete rescue was executed end to end: donation, allocation, volunteer assignment, delivery and confirmation.</a:t>
            </a:r>
          </a:p>
        </p:txBody>
      </p:sp>
    </p:spTree>
    <p:extLst>
      <p:ext uri="{BB962C8B-B14F-4D97-AF65-F5344CB8AC3E}">
        <p14:creationId xmlns:p14="http://schemas.microsoft.com/office/powerpoint/2010/main" val="10880438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201B7E9-BFA3-40CA-953E-D70D50EBE5BB}"/>
              </a:ext>
            </a:extLst>
          </p:cNvPr>
          <p:cNvSpPr>
            <a:spLocks noGrp="1"/>
          </p:cNvSpPr>
          <p:nvPr/>
        </p:nvSpPr>
        <p:spPr>
          <a:xfrm>
            <a:off x="9906000" y="6438900"/>
            <a:ext cx="1600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975" b="0">
                <a:solidFill>
                  <a:srgbClr val="8A94A3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8A94A3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2" name="slide-title">
            <a:extLst>
              <a:ext uri="{FF2B5EF4-FFF2-40B4-BE49-F238E27FC236}">
                <a16:creationId xmlns:a16="http://schemas.microsoft.com/office/drawing/2014/main" id="{16D3828C-E523-4DA7-A1BA-E8E8F8B73A5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10820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3000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Limitations and future work</a:t>
            </a:r>
          </a:p>
        </p:txBody>
      </p:sp>
      <p:sp>
        <p:nvSpPr>
          <p:cNvPr id="3" name="slide-lead">
            <a:extLst>
              <a:ext uri="{FF2B5EF4-FFF2-40B4-BE49-F238E27FC236}">
                <a16:creationId xmlns:a16="http://schemas.microsoft.com/office/drawing/2014/main" id="{3A2569DB-B638-402D-BFCB-D41196E004F3}"/>
              </a:ext>
            </a:extLst>
          </p:cNvPr>
          <p:cNvSpPr>
            <a:spLocks noGrp="1"/>
          </p:cNvSpPr>
          <p:nvPr/>
        </p:nvSpPr>
        <p:spPr>
          <a:xfrm>
            <a:off x="685800" y="1066800"/>
            <a:ext cx="10820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575" b="0">
                <a:solidFill>
                  <a:srgbClr val="52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2606F"/>
                </a:solidFill>
                <a:latin typeface="Arial"/>
                <a:ea typeface="Arial"/>
                <a:cs typeface="Arial"/>
              </a:rPr>
              <a:t>Stated explicitly, with the corresponding improvement for each limitation.</a:t>
            </a:r>
          </a:p>
        </p:txBody>
      </p:sp>
      <p:sp>
        <p:nvSpPr>
          <p:cNvPr id="4" name="title-rule">
            <a:extLst>
              <a:ext uri="{FF2B5EF4-FFF2-40B4-BE49-F238E27FC236}">
                <a16:creationId xmlns:a16="http://schemas.microsoft.com/office/drawing/2014/main" id="{207542C6-6C0D-4B25-B772-F3845AE5E4AB}"/>
              </a:ext>
            </a:extLst>
          </p:cNvPr>
          <p:cNvSpPr>
            <a:spLocks noGrp="1"/>
          </p:cNvSpPr>
          <p:nvPr/>
        </p:nvSpPr>
        <p:spPr>
          <a:xfrm>
            <a:off x="685800" y="1504950"/>
            <a:ext cx="10820400" cy="9525"/>
          </a:xfrm>
          <a:prstGeom prst="rect">
            <a:avLst/>
          </a:prstGeom>
          <a:solidFill>
            <a:srgbClr val="E1E5E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66396F-904F-4410-A714-44AE0B1CF44B}"/>
              </a:ext>
            </a:extLst>
          </p:cNvPr>
          <p:cNvSpPr>
            <a:spLocks noGrp="1"/>
          </p:cNvSpPr>
          <p:nvPr/>
        </p:nvSpPr>
        <p:spPr>
          <a:xfrm>
            <a:off x="685800" y="1771650"/>
            <a:ext cx="10820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Limitations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0D7280-3947-4607-9201-4AA2304A7AE9}"/>
              </a:ext>
            </a:extLst>
          </p:cNvPr>
          <p:cNvSpPr>
            <a:spLocks noGrp="1"/>
          </p:cNvSpPr>
          <p:nvPr/>
        </p:nvSpPr>
        <p:spPr>
          <a:xfrm>
            <a:off x="685800" y="2133600"/>
            <a:ext cx="49530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Distances are calculated as straight lines; road routing and live traffic are not included.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single average travel speed is applied to all volunteers.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Locations are stored as coordinates; there is no map input or address lookup.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Delivery tracking records status changes only; GPS positions are not streamed.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83D40C-D37F-464F-8663-5CD266E5350E}"/>
              </a:ext>
            </a:extLst>
          </p:cNvPr>
          <p:cNvSpPr>
            <a:spLocks noGrp="1"/>
          </p:cNvSpPr>
          <p:nvPr/>
        </p:nvSpPr>
        <p:spPr>
          <a:xfrm>
            <a:off x="6477000" y="1771650"/>
            <a:ext cx="5029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75" b="1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131A24"/>
                </a:solidFill>
                <a:latin typeface="Arial"/>
                <a:ea typeface="Arial"/>
                <a:cs typeface="Arial"/>
              </a:rPr>
              <a:t>Future work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8C11AA-4C3B-464F-9204-C06F65BA4554}"/>
              </a:ext>
            </a:extLst>
          </p:cNvPr>
          <p:cNvSpPr>
            <a:spLocks noGrp="1"/>
          </p:cNvSpPr>
          <p:nvPr/>
        </p:nvSpPr>
        <p:spPr>
          <a:xfrm>
            <a:off x="6477000" y="2133600"/>
            <a:ext cx="5029200" cy="3619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>
            <a:defPPr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defPPr>
          </a:lstStyle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Route aware arrival estimates using a mapping service.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Map based location entry and per vehicle travel speeds.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A reliability score for volunteers derived from accept, decline and completion history.</a:t>
            </a:r>
          </a:p>
          <a:p>
            <a:pPr marL="228600" indent="-114300">
              <a:spcAft>
                <a:spcPts val="1600"/>
              </a:spcAft>
              <a:buChar char="•"/>
              <a:defRPr sz="1275">
                <a:solidFill>
                  <a:srgbClr val="131A24"/>
                </a:solidFill>
                <a:latin typeface="Arial"/>
                <a:ea typeface="Arial"/>
                <a:cs typeface="Arial"/>
              </a:defRPr>
            </a:pPr>
            <a:r>
              <a:rPr sz="1275">
                <a:solidFill>
                  <a:srgbClr val="131A24"/>
                </a:solidFill>
                <a:latin typeface="Arial"/>
                <a:ea typeface="Arial"/>
                <a:cs typeface="Arial"/>
              </a:rPr>
              <a:t>Deployment, and SMS or WhatsApp notifications for organizations that do not use the application.</a:t>
            </a:r>
          </a:p>
        </p:txBody>
      </p:sp>
    </p:spTree>
    <p:extLst>
      <p:ext uri="{BB962C8B-B14F-4D97-AF65-F5344CB8AC3E}">
        <p14:creationId xmlns:p14="http://schemas.microsoft.com/office/powerpoint/2010/main" val="206309014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985</Words>
  <Application>Microsoft Macintosh PowerPoint</Application>
  <DocSecurity>0</DocSecurity>
  <PresentationFormat>Widescreen</PresentationFormat>
  <Paragraphs>144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Adithyan S Nair</cp:lastModifiedBy>
  <cp:revision>1</cp:revision>
  <dcterms:created xsi:type="dcterms:W3CDTF">2026-10-16T06:08:18Z</dcterms:created>
  <dcterms:modified xsi:type="dcterms:W3CDTF">2026-10-16T06:12:33Z</dcterms:modified>
</cp:coreProperties>
</file>