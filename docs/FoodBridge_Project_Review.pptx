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ddc255fd62491c" /><Relationship Type="http://schemas.openxmlformats.org/officeDocument/2006/relationships/extended-properties" Target="/docProps/app.xml" Id="Rdb8f61dfac9a481a" /><Relationship Type="http://schemas.openxmlformats.org/officeDocument/2006/relationships/officeDocument" Target="/ppt/presentation.xml" Id="R6d8e3ed89ccb43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ddb6235a8e492f"/>
  </p:sldMasterIdLst>
  <p:notesMasterIdLst>
    <p:notesMasterId xmlns:r="http://schemas.openxmlformats.org/officeDocument/2006/relationships" r:id="R88608b788eff4a39"/>
  </p:notesMasterIdLst>
  <p:sldIdLst>
    <p:sldId xmlns:r="http://schemas.openxmlformats.org/officeDocument/2006/relationships" id="256" r:id="R7cfb1b3f8152482b"/>
    <p:sldId xmlns:r="http://schemas.openxmlformats.org/officeDocument/2006/relationships" id="257" r:id="R3104b29e4ea8412b"/>
    <p:sldId xmlns:r="http://schemas.openxmlformats.org/officeDocument/2006/relationships" id="258" r:id="Reebcf2dc49674160"/>
    <p:sldId xmlns:r="http://schemas.openxmlformats.org/officeDocument/2006/relationships" id="259" r:id="R6705056787b04162"/>
    <p:sldId xmlns:r="http://schemas.openxmlformats.org/officeDocument/2006/relationships" id="260" r:id="Rdcd19829219c4a3b"/>
    <p:sldId xmlns:r="http://schemas.openxmlformats.org/officeDocument/2006/relationships" id="261" r:id="Ra1970b71e3e246f7"/>
    <p:sldId xmlns:r="http://schemas.openxmlformats.org/officeDocument/2006/relationships" id="262" r:id="Re9e0b390fdcd4563"/>
    <p:sldId xmlns:r="http://schemas.openxmlformats.org/officeDocument/2006/relationships" id="263" r:id="Rfbe6cbd320be4e34"/>
    <p:sldId xmlns:r="http://schemas.openxmlformats.org/officeDocument/2006/relationships" id="264" r:id="R93ab7a1426f141a4"/>
    <p:sldId xmlns:r="http://schemas.openxmlformats.org/officeDocument/2006/relationships" id="265" r:id="Rc9943d0f5ae74d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dcf9780ff34798" /><Relationship Type="http://schemas.openxmlformats.org/officeDocument/2006/relationships/slideMaster" Target="/ppt/slideMasters/slideMaster1.xml" Id="R34ddb6235a8e492f" /><Relationship Type="http://schemas.openxmlformats.org/officeDocument/2006/relationships/notesMaster" Target="/ppt/notesMasters/notesMaster1.xml" Id="R88608b788eff4a39" /><Relationship Type="http://schemas.openxmlformats.org/officeDocument/2006/relationships/presProps" Target="/ppt/presProps.xml" Id="R7bc73f52c33a4d0d" /><Relationship Type="http://schemas.openxmlformats.org/officeDocument/2006/relationships/tableStyles" Target="/ppt/tableStyles.xml" Id="R33cad05dbaa9467b" /><Relationship Type="http://schemas.openxmlformats.org/officeDocument/2006/relationships/slide" Target="/ppt/slides/slide1.xml" Id="R7cfb1b3f8152482b" /><Relationship Type="http://schemas.openxmlformats.org/officeDocument/2006/relationships/slide" Target="/ppt/slides/slide2.xml" Id="R3104b29e4ea8412b" /><Relationship Type="http://schemas.openxmlformats.org/officeDocument/2006/relationships/slide" Target="/ppt/slides/slide3.xml" Id="Reebcf2dc49674160" /><Relationship Type="http://schemas.openxmlformats.org/officeDocument/2006/relationships/slide" Target="/ppt/slides/slide4.xml" Id="R6705056787b04162" /><Relationship Type="http://schemas.openxmlformats.org/officeDocument/2006/relationships/slide" Target="/ppt/slides/slide5.xml" Id="Rdcd19829219c4a3b" /><Relationship Type="http://schemas.openxmlformats.org/officeDocument/2006/relationships/slide" Target="/ppt/slides/slide6.xml" Id="Ra1970b71e3e246f7" /><Relationship Type="http://schemas.openxmlformats.org/officeDocument/2006/relationships/slide" Target="/ppt/slides/slide7.xml" Id="Re9e0b390fdcd4563" /><Relationship Type="http://schemas.openxmlformats.org/officeDocument/2006/relationships/slide" Target="/ppt/slides/slide8.xml" Id="Rfbe6cbd320be4e34" /><Relationship Type="http://schemas.openxmlformats.org/officeDocument/2006/relationships/slide" Target="/ppt/slides/slide9.xml" Id="R93ab7a1426f141a4" /><Relationship Type="http://schemas.openxmlformats.org/officeDocument/2006/relationships/slide" Target="/ppt/slides/slide10.xml" Id="Rc9943d0f5ae74d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74923fb5f342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3f3ba2e82c4fb5" /><Relationship Type="http://schemas.openxmlformats.org/officeDocument/2006/relationships/notesMaster" Target="/ppt/notesMasters/notesMaster1.xml" Id="Ra1c2b4d574ff43c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6043cc0abc4ff8" /><Relationship Type="http://schemas.openxmlformats.org/officeDocument/2006/relationships/notesMaster" Target="/ppt/notesMasters/notesMaster1.xml" Id="R20d0db3a65614a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c1c6651226473f" /><Relationship Type="http://schemas.openxmlformats.org/officeDocument/2006/relationships/notesMaster" Target="/ppt/notesMasters/notesMaster1.xml" Id="R8f7b4b7bfced4f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3e1663579d4410" /><Relationship Type="http://schemas.openxmlformats.org/officeDocument/2006/relationships/notesMaster" Target="/ppt/notesMasters/notesMaster1.xml" Id="R467d7ba1d74d49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73a06a4a9e4d60" /><Relationship Type="http://schemas.openxmlformats.org/officeDocument/2006/relationships/notesMaster" Target="/ppt/notesMasters/notesMaster1.xml" Id="Re942fd230a794c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d5059c828d406d" /><Relationship Type="http://schemas.openxmlformats.org/officeDocument/2006/relationships/notesMaster" Target="/ppt/notesMasters/notesMaster1.xml" Id="Rec85d28db3bb4b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e4183c099c4a9c" /><Relationship Type="http://schemas.openxmlformats.org/officeDocument/2006/relationships/notesMaster" Target="/ppt/notesMasters/notesMaster1.xml" Id="R69f78c6614854f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08423455a64352" /><Relationship Type="http://schemas.openxmlformats.org/officeDocument/2006/relationships/notesMaster" Target="/ppt/notesMasters/notesMaster1.xml" Id="Rde5f48dadaa7449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56ef5eca194514" /><Relationship Type="http://schemas.openxmlformats.org/officeDocument/2006/relationships/notesMaster" Target="/ppt/notesMasters/notesMaster1.xml" Id="R467a78b5ea6b4d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121882d09748f9" /><Relationship Type="http://schemas.openxmlformats.org/officeDocument/2006/relationships/notesMaster" Target="/ppt/notesMasters/notesMaster1.xml" Id="Re394575a354c45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Cover. State the project title and the two questions the review answers: how the platform works, and what distinguishes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final two points define the problem this project addresses: safety and justification are absent from existing platforms.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answer to the question of original contribution. The three assumptions are the values the rule depends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the slides here and begin the live demonstration of the platform.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c6dbf87bff476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b88d2831d84f9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bb166a34df4f9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4db02215be4f6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988a88b5104d4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e1409f01dd4f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6F41E0-EB6A-4B3A-B63B-727BBBEDAA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60467F6-8D23-4138-BA55-951E84DA301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AE30AA0-AA9C-4819-8F41-BDA9E55F9C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D4F5C0-A614-42E9-B519-BCB2D0D471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BBFDA2F-A41B-4966-AD49-0169D8C3D6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37D4087-6501-4261-BF3B-B531370906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6E39595-AB7D-415B-85C7-FEA65006FD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2CE44A6-2AF7-43E6-BC73-7D359C6FD7E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BE46C0-8A1B-4332-8C04-9F56E5B67F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8FD1876-B446-46A3-991F-6FD7E435C1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24ca9cce1f4404" /><Relationship Type="http://schemas.openxmlformats.org/officeDocument/2006/relationships/slideLayout" Target="/ppt/slideLayouts/slideLayout1.xml" Id="Rcbee40ce7de84947" /><Relationship Type="http://schemas.openxmlformats.org/officeDocument/2006/relationships/slideLayout" Target="/ppt/slideLayouts/slideLayout2.xml" Id="Re6b8b4761d0b45d7" /><Relationship Type="http://schemas.openxmlformats.org/officeDocument/2006/relationships/slideLayout" Target="/ppt/slideLayouts/slideLayout3.xml" Id="R11390447112e4fcc" /><Relationship Type="http://schemas.openxmlformats.org/officeDocument/2006/relationships/slideLayout" Target="/ppt/slideLayouts/slideLayout4.xml" Id="R1755882daf954b7b" /><Relationship Type="http://schemas.openxmlformats.org/officeDocument/2006/relationships/slideLayout" Target="/ppt/slideLayouts/slideLayout5.xml" Id="R8f342d6136d840a2" /><Relationship Type="http://schemas.openxmlformats.org/officeDocument/2006/relationships/slideLayout" Target="/ppt/slideLayouts/slideLayout6.xml" Id="Re2ec0d9b3b1742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ee40ce7de84947"/>
    <p:sldLayoutId xmlns:r="http://schemas.openxmlformats.org/officeDocument/2006/relationships" id="2147483650" r:id="Re6b8b4761d0b45d7"/>
    <p:sldLayoutId xmlns:r="http://schemas.openxmlformats.org/officeDocument/2006/relationships" id="2147483651" r:id="R11390447112e4fcc"/>
    <p:sldLayoutId xmlns:r="http://schemas.openxmlformats.org/officeDocument/2006/relationships" id="2147483652" r:id="R1755882daf954b7b"/>
    <p:sldLayoutId xmlns:r="http://schemas.openxmlformats.org/officeDocument/2006/relationships" id="2147483653" r:id="R8f342d6136d840a2"/>
    <p:sldLayoutId xmlns:r="http://schemas.openxmlformats.org/officeDocument/2006/relationships" id="2147483654" r:id="Re2ec0d9b3b1742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ee7aae40e24bac" /><Relationship Type="http://schemas.openxmlformats.org/officeDocument/2006/relationships/image" Target="/ppt/media/image.png" Id="R47a163051683434f" /><Relationship Type="http://schemas.openxmlformats.org/officeDocument/2006/relationships/notesSlide" Target="/ppt/notesSlides/notesSlide1.xml" Id="Rdce1bdd826f447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464761965149d0" /><Relationship Type="http://schemas.openxmlformats.org/officeDocument/2006/relationships/notesSlide" Target="/ppt/notesSlides/notesSlide2.xml" Id="R86f335e9fc3b4e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cdf87bf32b4fa4" /><Relationship Type="http://schemas.openxmlformats.org/officeDocument/2006/relationships/notesSlide" Target="/ppt/notesSlides/notesSlide3.xml" Id="R3c0f1c4e59e044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767eb1bd39484f" /><Relationship Type="http://schemas.openxmlformats.org/officeDocument/2006/relationships/notesSlide" Target="/ppt/notesSlides/notesSlide4.xml" Id="R6b2ba860fb1a41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15a9f5bc064f58" /><Relationship Type="http://schemas.openxmlformats.org/officeDocument/2006/relationships/notesSlide" Target="/ppt/notesSlides/notesSlide5.xml" Id="R83219ea910ce43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b40a12944a4eea" /><Relationship Type="http://schemas.openxmlformats.org/officeDocument/2006/relationships/notesSlide" Target="/ppt/notesSlides/notesSlide6.xml" Id="R5e35bb3d2f124e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b717e6bbbb4397" /><Relationship Type="http://schemas.openxmlformats.org/officeDocument/2006/relationships/image" Target="/ppt/media/image2.png" Id="Re3a710d1becf43fb" /><Relationship Type="http://schemas.openxmlformats.org/officeDocument/2006/relationships/notesSlide" Target="/ppt/notesSlides/notesSlide7.xml" Id="R4130774c072a4c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1738a68f08436a" /><Relationship Type="http://schemas.openxmlformats.org/officeDocument/2006/relationships/image" Target="/ppt/media/image3.png" Id="R695c9971f9634f85" /><Relationship Type="http://schemas.openxmlformats.org/officeDocument/2006/relationships/notesSlide" Target="/ppt/notesSlides/notesSlide8.xml" Id="R9a83c4d72d8147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f039a29a81454c" /><Relationship Type="http://schemas.openxmlformats.org/officeDocument/2006/relationships/notesSlide" Target="/ppt/notesSlides/notesSlide9.xml" Id="R8e5ae4d4848a429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51919b1cf04ca6" /><Relationship Type="http://schemas.openxmlformats.org/officeDocument/2006/relationships/notesSlide" Target="/ppt/notesSlides/notesSlide10.xml" Id="Rb89413c10a3441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47E2A-BD34-4234-B648-8DD32AB33A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163051683434f"/>
          <a:stretch xmlns:a="http://schemas.openxmlformats.org/drawingml/2006/main"/>
        </p:blipFill>
        <p:spPr>
          <a:xfrm xmlns:a="http://schemas.openxmlformats.org/drawingml/2006/main">
            <a:off x="685800" y="800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7B3210-A2BD-4A08-AD99-8B7544ED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9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FoodBridge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0029A7-A8DB-4088-A41A-8F717379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An Intelligent Food Rescue Coordination and Resource Allocation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995206-7948-4D52-BEB1-5A358BD4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85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598159-8E5F-4479-A90D-23CB897E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Software Engineering Laboratory · Project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777DE-E874-4CB3-9A81-E9B175F2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Adithyan S Nair · Register number 24BAI1621</a:t>
            </a:r>
          </a:p>
        </p:txBody>
      </p:sp>
    </p:spTree>
    <p:extLst>
      <p:ext uri="{BB962C8B-B14F-4D97-AF65-F5344CB8AC3E}">
        <p14:creationId xmlns:p14="http://schemas.microsoft.com/office/powerpoint/2010/main" val="8342157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82AC03-698C-4472-8D93-5D600C3B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Problem statement and the gap in existing platforms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CE6CB539-B0F3-4315-A8CA-6F5EE1B5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Surplus food is discarded while the organizations that require it operate short of supply.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B596F400-1A12-4ED6-8D0D-8FEBBEA7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5989B-8D50-4804-B073-CBC4C44A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8204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5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31A24"/>
                </a:solidFill>
                <a:latin typeface="Arial"/>
                <a:ea typeface="Arial"/>
                <a:cs typeface="Arial"/>
              </a:rPr>
              <a:t>Donations are coordinated through telephone calls and messaging applications, which delays collection and results in lost donations.</a:t>
            </a:r>
          </a:p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5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31A24"/>
                </a:solidFill>
                <a:latin typeface="Arial"/>
                <a:ea typeface="Arial"/>
                <a:cs typeface="Arial"/>
              </a:rPr>
              <a:t>Most donation platforms publish a listing and allocate the food to the first organization that claims it.</a:t>
            </a:r>
          </a:p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5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31A24"/>
                </a:solidFill>
                <a:latin typeface="Arial"/>
                <a:ea typeface="Arial"/>
                <a:cs typeface="Arial"/>
              </a:rPr>
              <a:t>They do not verify that the food can reach the recipient before its safe consumption window closes.</a:t>
            </a:r>
          </a:p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5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31A24"/>
                </a:solidFill>
                <a:latin typeface="Arial"/>
                <a:ea typeface="Arial"/>
                <a:cs typeface="Arial"/>
              </a:rPr>
              <a:t>They neither measure cumulative distribution across organizations nor record the reasoning behind a selection.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E03512-EC11-4C07-BD87-0455613D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Assessment derived from the requirement study conducted for this project; not a published benchmark.</a:t>
            </a:r>
          </a:p>
        </p:txBody>
      </p:sp>
    </p:spTree>
    <p:extLst>
      <p:ext uri="{BB962C8B-B14F-4D97-AF65-F5344CB8AC3E}">
        <p14:creationId xmlns:p14="http://schemas.microsoft.com/office/powerpoint/2010/main" val="16712260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9B539FD-7431-4107-BB92-624EEE61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Differentiating features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CD6605DF-128D-49E8-88F3-D0A58277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Six design decisions separate FoodBridge from existing platforms and manual coordination.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B3E182A-CDD8-4396-8B47-EB897C79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EA5F0A-CDEC-44E8-87C5-BD460CC80888}"/>
              </a:ext>
            </a:extLst>
          </p:cNvPr>
          <p:cNvGraphicFramePr/>
          <p:nvPr/>
        </p:nvGraphicFramePr>
        <p:xfrm>
          <a:off xmlns:a="http://schemas.openxmlformats.org/drawingml/2006/main" x="685800" y="1866900"/>
          <a:ext xmlns:a="http://schemas.openxmlformats.org/drawingml/2006/main" cx="108204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0488"/>
                <a:gridCol w="3895344"/>
                <a:gridCol w="4544568"/>
              </a:tblGrid>
              <a:tr h="5061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Design decision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Typical platforms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FoodBridge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</a:tr>
              <a:tr h="5061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Recipient selection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Allocated to the first organization that claims the listing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All eligible organizations are ranked by the decision engine</a:t>
                      </a:r>
                    </a:p>
                  </a:txBody>
                  <a:tcPr marL="91440" marR="91440" marT="45720" marB="45720"/>
                </a:tc>
              </a:tr>
              <a:tr h="5061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Food safety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Expiry time displayed to the claimant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Organizations that cannot receive the food in time are excluded</a:t>
                      </a:r>
                    </a:p>
                  </a:txBody>
                  <a:tcPr marL="91440" marR="91440" marT="45720" marB="45720"/>
                </a:tc>
              </a:tr>
              <a:tr h="5061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Equitable distribution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Not measured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Quantities received in the previous 30 days influence the score</a:t>
                      </a:r>
                    </a:p>
                  </a:txBody>
                  <a:tcPr marL="91440" marR="91440" marT="45720" marB="45720"/>
                </a:tc>
              </a:tr>
              <a:tr h="5061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Transparency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No recorded justification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A written explanation is stored with every allocation</a:t>
                      </a:r>
                    </a:p>
                  </a:txBody>
                  <a:tcPr marL="91440" marR="91440" marT="45720" marB="45720"/>
                </a:tc>
              </a:tr>
              <a:tr h="5061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Volunteer coordination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Arranged privately between donor and recipient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Volunteers are matched by distance, workload and experience</a:t>
                      </a:r>
                    </a:p>
                  </a:txBody>
                  <a:tcPr marL="91440" marR="91440" marT="45720" marB="45720"/>
                </a:tc>
              </a:tr>
              <a:tr h="5061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Accountability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Basic donation history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Every action is recorded in the audit log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F87692-A083-4727-9349-A09FA3A5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Assessment based on the platforms and process examined during the requirement study.</a:t>
            </a:r>
          </a:p>
        </p:txBody>
      </p:sp>
    </p:spTree>
    <p:extLst>
      <p:ext uri="{BB962C8B-B14F-4D97-AF65-F5344CB8AC3E}">
        <p14:creationId xmlns:p14="http://schemas.microsoft.com/office/powerpoint/2010/main" val="18670803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B17EB2-686C-4965-BDF3-45053624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Functional scope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B7DD30C3-6D61-4AB3-A058-AD336764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Four actors and sixteen use cases, all implemented in the running system.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B42269D-9FB1-4BA9-BC3D-93AF8AD5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low-Donation registered">
            <a:extLst xmlns:a="http://schemas.openxmlformats.org/drawingml/2006/main">
              <a:ext uri="{FF2B5EF4-FFF2-40B4-BE49-F238E27FC236}">
                <a16:creationId xmlns:a16="http://schemas.microsoft.com/office/drawing/2014/main" id="{2E13E6CF-3809-42F3-B87D-66B9F174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C78C6-6A9A-45D1-9E8F-DAB35DB5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Donation registered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158BB2-8F5F-4738-A105-539CFB36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donor submits details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3B303-F36F-401A-B279-CC1ED342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574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low-Engine ranks recipients">
            <a:extLst xmlns:a="http://schemas.openxmlformats.org/drawingml/2006/main">
              <a:ext uri="{FF2B5EF4-FFF2-40B4-BE49-F238E27FC236}">
                <a16:creationId xmlns:a16="http://schemas.microsoft.com/office/drawing/2014/main" id="{76FC2C93-2DA2-4B72-9D86-26B48035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3835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110290-AA22-441D-A1AD-F91B415F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717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Engine ranks recipients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F2E221-9F4F-4F63-A2F5-FF027A6D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336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constraints, then scoring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D0050E-B788-4379-B455-0532795A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4574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low-Recipient accepts">
            <a:extLst xmlns:a="http://schemas.openxmlformats.org/drawingml/2006/main">
              <a:ext uri="{FF2B5EF4-FFF2-40B4-BE49-F238E27FC236}">
                <a16:creationId xmlns:a16="http://schemas.microsoft.com/office/drawing/2014/main" id="{1717B9D7-F36C-49D6-BF99-79FB3EA3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BF04A8-0394-4627-9326-631738EE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717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Recipient accepts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4ADEC-A521-4FAF-A7D0-8C4810D1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336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decision visible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57E974-2BBA-4045-B971-7947B900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574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low-Volunteer collects">
            <a:extLst xmlns:a="http://schemas.openxmlformats.org/drawingml/2006/main">
              <a:ext uri="{FF2B5EF4-FFF2-40B4-BE49-F238E27FC236}">
                <a16:creationId xmlns:a16="http://schemas.microsoft.com/office/drawing/2014/main" id="{A9F32C6D-4913-42C3-AB49-8A684276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835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DA1317-37C0-44F8-BD5D-ABBE8F74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Volunteer collects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F575F3-93B6-4F44-92FF-53C343B3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336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matched by distance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0E0E8F-6BB7-47AF-B022-CE771A25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low-Delivered">
            <a:extLst xmlns:a="http://schemas.openxmlformats.org/drawingml/2006/main">
              <a:ext uri="{FF2B5EF4-FFF2-40B4-BE49-F238E27FC236}">
                <a16:creationId xmlns:a16="http://schemas.microsoft.com/office/drawing/2014/main" id="{899B436C-D69F-45B3-A3BD-98DEB150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3835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1181B1-0B6B-4278-B686-9FCD0F0E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717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Delivered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2EDB4F-E2DC-4B79-8695-E2A70B23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5336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tracked to handover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AC09A6-D1CD-4C60-8B37-4CA3015E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4574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low-Reports update">
            <a:extLst xmlns:a="http://schemas.openxmlformats.org/drawingml/2006/main">
              <a:ext uri="{FF2B5EF4-FFF2-40B4-BE49-F238E27FC236}">
                <a16:creationId xmlns:a16="http://schemas.microsoft.com/office/drawing/2014/main" id="{8B8DC02C-3EE8-4164-A851-8CBE271F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3835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33F6C2-E545-43B5-8C4E-5AD08AD2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717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Reports update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0E12FC-270B-4316-BB06-AED34602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5336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rescues and audit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C91AD0-77A2-44DB-9343-26263CD3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8204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42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workflow proceeds from donation registration to a confirmed delivery, with the allocation decision recorded at each stage.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42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31A24"/>
                </a:solidFill>
                <a:latin typeface="Arial"/>
                <a:ea typeface="Arial"/>
                <a:cs typeface="Arial"/>
              </a:rPr>
              <a:t>Each role workspace exposes only the functions that the actor is authorised to perform.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42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engine operates on the server; the browser presents decisions and collects responses.</a:t>
            </a:r>
          </a:p>
        </p:txBody>
      </p:sp>
    </p:spTree>
    <p:extLst>
      <p:ext uri="{BB962C8B-B14F-4D97-AF65-F5344CB8AC3E}">
        <p14:creationId xmlns:p14="http://schemas.microsoft.com/office/powerpoint/2010/main" val="2648926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A69A7C-B46A-4F2F-B779-32F70E68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Allocation methodology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A65DD892-6CDE-4928-B7DB-D272274F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Four eligibility constraints are applied first; six weighted factors then determine the ranking.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5C068B8-56A2-403E-A8F5-5A363209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low-Verified organization">
            <a:extLst xmlns:a="http://schemas.openxmlformats.org/drawingml/2006/main">
              <a:ext uri="{FF2B5EF4-FFF2-40B4-BE49-F238E27FC236}">
                <a16:creationId xmlns:a16="http://schemas.microsoft.com/office/drawing/2014/main" id="{E6352121-D19B-4B0B-871D-AC73CF2B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2286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6E342-7555-47B0-93F4-99BF8381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Verified organization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E79C8-8039-4B03-A756-9486937B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85975"/>
            <a:ext cx="4191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low-Sufficient free storage">
            <a:extLst xmlns:a="http://schemas.openxmlformats.org/drawingml/2006/main">
              <a:ext uri="{FF2B5EF4-FFF2-40B4-BE49-F238E27FC236}">
                <a16:creationId xmlns:a16="http://schemas.microsoft.com/office/drawing/2014/main" id="{B818FF2D-73F0-4DAF-A5C0-9B84F3B1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28800"/>
            <a:ext cx="2286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A7D86-9812-4294-AE79-6E4C8CD6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62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Sufficient free storage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F5DAD6-C105-41FD-A72B-0ECBDE87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085975"/>
            <a:ext cx="4191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flow-Category accepted">
            <a:extLst xmlns:a="http://schemas.openxmlformats.org/drawingml/2006/main">
              <a:ext uri="{FF2B5EF4-FFF2-40B4-BE49-F238E27FC236}">
                <a16:creationId xmlns:a16="http://schemas.microsoft.com/office/drawing/2014/main" id="{DE6D3ABA-822D-4D71-A806-F4DA985E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28800"/>
            <a:ext cx="2286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8390E9-0EA1-43B2-A34C-6588A7E0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Category accepted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5176A-17C7-45A9-859B-0A7C0D2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85975"/>
            <a:ext cx="4191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low-Safe arrival feasible">
            <a:extLst xmlns:a="http://schemas.openxmlformats.org/drawingml/2006/main">
              <a:ext uri="{FF2B5EF4-FFF2-40B4-BE49-F238E27FC236}">
                <a16:creationId xmlns:a16="http://schemas.microsoft.com/office/drawing/2014/main" id="{4A3FBFAB-6BA7-42EE-AD21-1932E431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28800"/>
            <a:ext cx="2286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02F6E3-4427-48DB-8EE0-E8AC67AD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62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Safe arrival feasible</a:t>
            </a:r>
          </a:p>
        </p:txBody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4F1703-5253-4250-B084-8F3EC5CB49F2}"/>
              </a:ext>
            </a:extLst>
          </p:cNvPr>
          <p:cNvGraphicFramePr/>
          <p:nvPr/>
        </p:nvGraphicFramePr>
        <p:xfrm>
          <a:off xmlns:a="http://schemas.openxmlformats.org/drawingml/2006/main" x="685800" y="2743200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1047750"/>
                <a:gridCol w="7677150"/>
              </a:tblGrid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Factor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Weight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Basis of measurement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Expiry urgency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25%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Time remaining before the food becomes unsafe, weighted by the recipient's collection speed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Demand match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20%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Correspondence between the donation quantity and the registered demand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Storage fit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15%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Remaining storage capacity after intake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Proximity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15%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Distance from the pickup point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Food preference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15%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Whether the organization accepts the food category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Fair distribution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Quantity received by the organization during the previous 30 days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108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C1DC4F3-E779-4675-B876-608F12F7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Original contribution: the food-safety arrival rule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39E99AF6-0746-4CDD-BE8A-9A5DE740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A constraint introduced in this project. Food must be able to arrive while it remains safe to serve.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7CA7AE4-75A3-44C6-9245-081544D4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6856B0-5F4A-4C91-A9D4-B7C2BC7F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5619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4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engine estimates the pickup to handover duration for each candidate organization from the travel distance and a handling allowance.</a:t>
            </a:r>
          </a:p>
          <a:p xmlns:a="http://schemas.openxmlformats.org/drawingml/2006/main">
            <a:pPr marL="228600" indent="-114300">
              <a:spcAft>
                <a:spcPts val="14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estimate is compared with the remaining safe window, retaining sixty minutes for serving.</a:t>
            </a:r>
          </a:p>
          <a:p xmlns:a="http://schemas.openxmlformats.org/drawingml/2006/main">
            <a:pPr marL="228600" indent="-114300">
              <a:spcAft>
                <a:spcPts val="14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Organizations that cannot arrive in time are excluded, and the reason is stored on the allocation.</a:t>
            </a:r>
          </a:p>
          <a:p xmlns:a="http://schemas.openxmlformats.org/drawingml/2006/main">
            <a:pPr marL="228600" indent="-114300">
              <a:spcAft>
                <a:spcPts val="14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Distance was initially treated as a scoring factor. Because late arrival is a safety failure rather than a lower priority, it was implemented as a hard constraint.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5723FF-EA16-4E62-91B2-F82BC95F2DDC}"/>
              </a:ext>
            </a:extLst>
          </p:cNvPr>
          <p:cNvGraphicFramePr/>
          <p:nvPr/>
        </p:nvGraphicFramePr>
        <p:xfrm>
          <a:off xmlns:a="http://schemas.openxmlformats.org/drawingml/2006/main" x="6762750" y="1981200"/>
          <a:ext xmlns:a="http://schemas.openxmlformats.org/drawingml/2006/main" cx="4743450" cy="2552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79411"/>
                <a:gridCol w="1047750"/>
                <a:gridCol w="1916289"/>
              </a:tblGrid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Organization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Distance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Outcome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Sneha Sadan Orphanage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11.6 km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Eligible, 15 minutes to spare</a:t>
                      </a:r>
                    </a:p>
                  </a:txBody>
                  <a:tcPr marL="91440" marR="91440" marT="45720" marB="45720"/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Sanjeevini Community Kitchen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11.8 km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Eligible, 15 minutes to spare</a:t>
                      </a:r>
                    </a:p>
                  </a:txBody>
                  <a:tcPr marL="91440" marR="91440" marT="45720" marB="45720"/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Three organizations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18 to 25 km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Excluded, 65 to 85 minutes required against 60 available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FF57D-AD8D-4285-8590-DA97B8F3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86300"/>
            <a:ext cx="4743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Assumptions: 20 km/h urban travel, 10 minutes handling, 60 minutes serving buffer.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4D6A2D-6C93-4F20-804B-05BC405C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Engine output recorded on 16 October 2026 from the seeded dataset.</a:t>
            </a:r>
          </a:p>
        </p:txBody>
      </p:sp>
    </p:spTree>
    <p:extLst>
      <p:ext uri="{BB962C8B-B14F-4D97-AF65-F5344CB8AC3E}">
        <p14:creationId xmlns:p14="http://schemas.microsoft.com/office/powerpoint/2010/main" val="19487748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3F484C-D1CE-4E12-B6CA-512B5649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System architecture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5F9083AE-FDC8-49E1-BF02-C428374B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The layered architecture submitted in the design phase, implemented as specified.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807768E-5B6F-4095-B75C-58D0D8C3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6AC5A-1513-4857-8553-34087F0D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476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Four layers: React presentation, Spring Boot REST application, business logic including the allocation engine, and JPA over MySQL.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Authentication issues a JWT at login; the server verifies the role and the ownership of each record.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allocation engine is an independent service, which keeps decision rules separate from the domain classes.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FA96B-FEFB-4B58-91E0-FA0317695B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a710d1becf43fb"/>
          <a:stretch xmlns:a="http://schemas.openxmlformats.org/drawingml/2006/main"/>
        </p:blipFill>
        <p:spPr>
          <a:xfrm xmlns:a="http://schemas.openxmlformats.org/drawingml/2006/main">
            <a:off x="5689934" y="1676400"/>
            <a:ext cx="4812632" cy="4762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7DC1D8-2B5C-46C9-A36F-02B36E36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Figure: overall layered system architecture, Lab 3 submission.</a:t>
            </a:r>
          </a:p>
        </p:txBody>
      </p:sp>
    </p:spTree>
    <p:extLst>
      <p:ext uri="{BB962C8B-B14F-4D97-AF65-F5344CB8AC3E}">
        <p14:creationId xmlns:p14="http://schemas.microsoft.com/office/powerpoint/2010/main" val="18357466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92D80C-0EAB-4F1B-BEDA-07B72344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Database design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686099FB-BF65-4A0F-BD3F-7C7758BF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The entity relationship model submitted in the design phase, implemented as twelve tables.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B6D6407-329D-4518-A156-A37DF013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94D4E-B08B-4564-81CF-08A147C8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4095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Twelve entities in third normal form.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Allocation, assignment and delivery are modelled separately, so a decision, a task and a delivery are tracked independently.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Recipient food preferences resolve the many to many relationship between organizations and categories.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7CB3B3-4F24-48BA-B6B5-636A4FA7A1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5c9971f9634f85"/>
          <a:stretch xmlns:a="http://schemas.openxmlformats.org/drawingml/2006/main"/>
        </p:blipFill>
        <p:spPr>
          <a:xfrm xmlns:a="http://schemas.openxmlformats.org/drawingml/2006/main">
            <a:off x="5145061" y="1638300"/>
            <a:ext cx="5902377" cy="48006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D45DC2-C814-4051-8C07-AFD208C6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Figure: entity relationship diagram, Lab 4 submission.</a:t>
            </a:r>
          </a:p>
        </p:txBody>
      </p:sp>
    </p:spTree>
    <p:extLst>
      <p:ext uri="{BB962C8B-B14F-4D97-AF65-F5344CB8AC3E}">
        <p14:creationId xmlns:p14="http://schemas.microsoft.com/office/powerpoint/2010/main" val="3214395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CF6E53-A1F6-4F5D-B095-07630982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Results and verification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72854574-9AA8-4C68-86D3-95F7FDC9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Measurements taken from the running system with the seeded dataset.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44D6116A-853C-4296-9CBD-3FFDFE2B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32D99-F926-44FA-A762-FD7661E9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14E94-B7FC-4CD4-9A42-677A42FB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donations registered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17221-4E94-480E-8555-17F7BCCA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05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414 kg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6E19D-BC51-48D3-8B4A-75F3603A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6220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food rescued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343CE7-4966-4B59-BAB2-53D4A0C3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905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1,035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B3A78-DAF7-41B3-BD72-736B6A94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6220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meals equivalent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EFD438-7D78-4FBD-B1EE-1D9E075A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91.7%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5B8BA8-DE25-4EF3-BF77-AE43BE13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allocations accepted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5B215-A11F-438B-A2AE-AE2C7E72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2895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56 minutes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8C581C-08CB-48C4-8649-0F1F0538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4861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pickup to confirmation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4F20CD-88C8-41E8-B21C-1E21F5C0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2895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9 of 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5B94A0-5081-49A9-8682-EF4581C7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4861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automated tests 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654176-CC5A-4F60-88DF-3C6E3EFE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08204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2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Nine automated tests cover the eligibility constraints, the scoring model, the fairness factor, the arrival rule and access control.</a:t>
            </a:r>
          </a:p>
          <a:p xmlns:a="http://schemas.openxmlformats.org/drawingml/2006/main">
            <a:pPr marL="228600" indent="-114300">
              <a:spcAft>
                <a:spcPts val="12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Eighteen API checks confirm the role restrictions, including rejection of unauthorised requests with 401 and 403 responses.</a:t>
            </a:r>
          </a:p>
          <a:p xmlns:a="http://schemas.openxmlformats.org/drawingml/2006/main">
            <a:pPr marL="228600" indent="-114300">
              <a:spcAft>
                <a:spcPts val="12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A complete rescue was executed end to end: donation, allocation, volunteer assignment, delivery and confirmation.</a:t>
            </a:r>
          </a:p>
        </p:txBody>
      </p:sp>
    </p:spTree>
    <p:extLst>
      <p:ext uri="{BB962C8B-B14F-4D97-AF65-F5344CB8AC3E}">
        <p14:creationId xmlns:p14="http://schemas.microsoft.com/office/powerpoint/2010/main" val="14275070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DFF864-8CBD-4879-AC33-4336B497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Limitations and future work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9EAD16F7-0BBA-474B-9938-AD2D017A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Stated explicitly, with the corresponding improvement for each limitation.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285418A-22D7-411D-BCF8-F6C46E15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8FD18-F3E5-4B18-9D5E-679078B0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Limitations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B7D00-7236-422E-9E6A-D31211A7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4953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Distances are calculated as straight lines; road routing and live traffic are not included.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A single average travel speed is applied to all volunteers.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Locations are stored as coordinates; there is no map input or address lookup.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Delivery tracking records status changes only; GPS positions are not streamed.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E6D0D4-AF7E-4141-B6AF-5DFBACBD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71650"/>
            <a:ext cx="502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2F5FF0-BD49-4B6B-B16D-C349AE52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33600"/>
            <a:ext cx="50292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Route aware arrival estimates using a mapping service.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Map based location entry and per vehicle travel speeds.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A reliability score for volunteers derived from accept, decline and completion history.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Deployment, and SMS or WhatsApp notifications for organizations that do not use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577015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2026-10-16T03:49:35.1930000Z</dcterms:created>
  <dcterms:modified xsi:type="dcterms:W3CDTF">2026-10-16T03:49:35.1930000Z</dcterms:modified>
</coreProperties>
</file>