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76ab7f3763c47f3" /><Relationship Type="http://schemas.openxmlformats.org/officeDocument/2006/relationships/extended-properties" Target="/docProps/app.xml" Id="R9290885303b9437e" /><Relationship Type="http://schemas.openxmlformats.org/officeDocument/2006/relationships/officeDocument" Target="/ppt/presentation.xml" Id="R722e368b19c0410b" /></Relationships>
</file>

<file path=ppt/presentation.xml><?xml version="1.0" encoding="utf-8"?>
<p:presentation xmlns:p="http://schemas.openxmlformats.org/presentationml/2006/main">
  <p:sldMasterIdLst>
    <p:sldMasterId xmlns:r="http://schemas.openxmlformats.org/officeDocument/2006/relationships" id="2147483648" r:id="R86e99215941846d8"/>
  </p:sldMasterIdLst>
  <p:notesMasterIdLst>
    <p:notesMasterId xmlns:r="http://schemas.openxmlformats.org/officeDocument/2006/relationships" r:id="R687e9e970a074d9d"/>
  </p:notesMasterIdLst>
  <p:sldIdLst>
    <p:sldId xmlns:r="http://schemas.openxmlformats.org/officeDocument/2006/relationships" id="256" r:id="Rd9240eea9c514a23"/>
    <p:sldId xmlns:r="http://schemas.openxmlformats.org/officeDocument/2006/relationships" id="257" r:id="R6377a5db567849c3"/>
    <p:sldId xmlns:r="http://schemas.openxmlformats.org/officeDocument/2006/relationships" id="258" r:id="R3593137fda7c407b"/>
    <p:sldId xmlns:r="http://schemas.openxmlformats.org/officeDocument/2006/relationships" id="259" r:id="R9c06c330a28b4fc0"/>
    <p:sldId xmlns:r="http://schemas.openxmlformats.org/officeDocument/2006/relationships" id="260" r:id="R35c03b5de28d4ef2"/>
    <p:sldId xmlns:r="http://schemas.openxmlformats.org/officeDocument/2006/relationships" id="261" r:id="Ra4c934b50fae4b7e"/>
    <p:sldId xmlns:r="http://schemas.openxmlformats.org/officeDocument/2006/relationships" id="262" r:id="R7f34c98d00f9426d"/>
    <p:sldId xmlns:r="http://schemas.openxmlformats.org/officeDocument/2006/relationships" id="263" r:id="Rf70f03e843b44c62"/>
    <p:sldId xmlns:r="http://schemas.openxmlformats.org/officeDocument/2006/relationships" id="264" r:id="Rd600b616c6ac4002"/>
    <p:sldId xmlns:r="http://schemas.openxmlformats.org/officeDocument/2006/relationships" id="265" r:id="R8ef577847b4c456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73c662e06b4dbc" /><Relationship Type="http://schemas.openxmlformats.org/officeDocument/2006/relationships/slideMaster" Target="/ppt/slideMasters/slideMaster1.xml" Id="R86e99215941846d8" /><Relationship Type="http://schemas.openxmlformats.org/officeDocument/2006/relationships/notesMaster" Target="/ppt/notesMasters/notesMaster1.xml" Id="R687e9e970a074d9d" /><Relationship Type="http://schemas.openxmlformats.org/officeDocument/2006/relationships/presProps" Target="/ppt/presProps.xml" Id="R99a40899239b4bc0" /><Relationship Type="http://schemas.openxmlformats.org/officeDocument/2006/relationships/tableStyles" Target="/ppt/tableStyles.xml" Id="R4dec30ad4c1d4d99" /><Relationship Type="http://schemas.openxmlformats.org/officeDocument/2006/relationships/slide" Target="/ppt/slides/slide1.xml" Id="Rd9240eea9c514a23" /><Relationship Type="http://schemas.openxmlformats.org/officeDocument/2006/relationships/slide" Target="/ppt/slides/slide2.xml" Id="R6377a5db567849c3" /><Relationship Type="http://schemas.openxmlformats.org/officeDocument/2006/relationships/slide" Target="/ppt/slides/slide3.xml" Id="R3593137fda7c407b" /><Relationship Type="http://schemas.openxmlformats.org/officeDocument/2006/relationships/slide" Target="/ppt/slides/slide4.xml" Id="R9c06c330a28b4fc0" /><Relationship Type="http://schemas.openxmlformats.org/officeDocument/2006/relationships/slide" Target="/ppt/slides/slide5.xml" Id="R35c03b5de28d4ef2" /><Relationship Type="http://schemas.openxmlformats.org/officeDocument/2006/relationships/slide" Target="/ppt/slides/slide6.xml" Id="Ra4c934b50fae4b7e" /><Relationship Type="http://schemas.openxmlformats.org/officeDocument/2006/relationships/slide" Target="/ppt/slides/slide7.xml" Id="R7f34c98d00f9426d" /><Relationship Type="http://schemas.openxmlformats.org/officeDocument/2006/relationships/slide" Target="/ppt/slides/slide8.xml" Id="Rf70f03e843b44c62" /><Relationship Type="http://schemas.openxmlformats.org/officeDocument/2006/relationships/slide" Target="/ppt/slides/slide9.xml" Id="Rd600b616c6ac4002" /><Relationship Type="http://schemas.openxmlformats.org/officeDocument/2006/relationships/slide" Target="/ppt/slides/slide10.xml" Id="R8ef577847b4c456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2f94979b284e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70bab111b149c6" /><Relationship Type="http://schemas.openxmlformats.org/officeDocument/2006/relationships/notesMaster" Target="/ppt/notesMasters/notesMaster1.xml" Id="Rc3882e3e7e6546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dc63f9dca44360" /><Relationship Type="http://schemas.openxmlformats.org/officeDocument/2006/relationships/notesMaster" Target="/ppt/notesMasters/notesMaster1.xml" Id="R1c39a24d6e3843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226df3ba7a42b2" /><Relationship Type="http://schemas.openxmlformats.org/officeDocument/2006/relationships/notesMaster" Target="/ppt/notesMasters/notesMaster1.xml" Id="Rf981d732d00543d3" /></Relationships>
</file>

<file path=ppt/notesSlides/_rels/notesSlide4.xml.rels>&#65279;<?xml version="1.0" encoding="utf-8"?><Relationships xmlns="http://schemas.openxmlformats.org/package/2006/relationships"><Relationship Type="http://schemas.openxmlformats.org/officeDocument/2006/relationships/slide" Target="/ppt/slides/slide4.xml" Id="R27d5682b64a04eba" /><Relationship Type="http://schemas.openxmlformats.org/officeDocument/2006/relationships/notesMaster" Target="/ppt/notesMasters/notesMaster1.xml" Id="R772afa0bef4243d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7cfc77a0ef4bd2" /><Relationship Type="http://schemas.openxmlformats.org/officeDocument/2006/relationships/notesMaster" Target="/ppt/notesMasters/notesMaster1.xml" Id="R82e63357bd5346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d1d10d0b96304d15" /><Relationship Type="http://schemas.openxmlformats.org/officeDocument/2006/relationships/notesMaster" Target="/ppt/notesMasters/notesMaster1.xml" Id="Rff5c4e54778d46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f50472fb814d91" /><Relationship Type="http://schemas.openxmlformats.org/officeDocument/2006/relationships/notesMaster" Target="/ppt/notesMasters/notesMaster1.xml" Id="R1fc75c0c602144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6c424c4cf96e434a" /><Relationship Type="http://schemas.openxmlformats.org/officeDocument/2006/relationships/notesMaster" Target="/ppt/notesMasters/notesMaster1.xml" Id="R1e7822616b04457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032cc62aca40bb" /><Relationship Type="http://schemas.openxmlformats.org/officeDocument/2006/relationships/notesMaster" Target="/ppt/notesMasters/notesMaster1.xml" Id="R7bb5e72d07424e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0a9368f4a4640d5" /><Relationship Type="http://schemas.openxmlformats.org/officeDocument/2006/relationships/notesMaster" Target="/ppt/notesMasters/notesMaster1.xml" Id="R6b1a98f0cb2847f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10 seconds. Title, then one sentence: this review covers how the platform works and what distinguishes it. Move on quickly.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The last two points are the gap this project fills: safety and justification. Do not elaborate here, slide 3 covers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and the main emphasis of the review. Read two rows only and state that the remaining four are in the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Name the four actors and the sequence; the demonstration follows the same path on screen.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40 seconds. The four constraints first, then the six factors. Do not read every row aloud.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50 seconds, the key slide. State the rule, explain why it is a hard constraint rather than a score, give the three assumptions, then the recorded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Point at the submitted diagram, name the four layers, and mention JWT and the server side checks. If asked how a box maps to the code: Login and Signup pages plus the four role dashboards, EnginePage and AnalyticsPage in React. AuthController, DonationController, RecipientController, VolunteerController, AllocationController, NotificationController, AnalyticsController and AdminController. AuthService, DonationService, RecipientService, VolunteerService, DeliveryService, AllocationEngineService, NotificationService, AnalyticsService and AdminService. Twelve Spring Data repositories over twelve MySQL tables. Supporting components: SecurityConfig with JwtService and JwtAuthFilter, jakarta validation on the request objects, GlobalExceptionHandler, AuditService, and transactional service methods. Logging runs through the framework logger, SLF4J.</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25 seconds. Twelve entities in third normal form, and the reason allocation, assignment and delivery are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30 seconds. Read two or three figures, then the verification lines. The live reports reproduce these numbers.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20 seconds, then switch to the live demonstration. Open localhost:5173, sign in as administrator, open the Allocation Engine and use the urgent donation at the top of the queue. Preview decision reproduces the table on slide 6, then Run and allocate. Sign in as the recipient to accept, as the volunteer to collect, deliver and mark it delivered, then as the recipient again to confirm receipt. Finish on Reports and Analytics for the figures on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a29d8d2a7947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7b76a04163c424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5875f04d35429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d965acee9446b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a8ee27ad104d5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7c668ec1e4149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981B870-E13F-41FF-860F-E6BD0D354C4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FF4B9A0-21F4-4D76-AFF8-48C9C9EB4FE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40E0166-176F-4ED8-8E8A-5D43F8A610A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B1C1FE1-D2AE-4786-A04C-DD783E68FE4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A27D377-4E06-482B-AC59-07A343B3DE3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A08DBA5-3215-4A67-B722-C8297C9313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5CC8C88-4A46-4B79-904F-33B948045C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1199C75-73E7-4331-9924-D666E81E5D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B992AF-2169-4C1F-BC09-8DA1F359FE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BFFCF6-4364-4D94-BDEB-5DA58E7C07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5e2fb1c11f1486b" /><Relationship Type="http://schemas.openxmlformats.org/officeDocument/2006/relationships/slideLayout" Target="/ppt/slideLayouts/slideLayout1.xml" Id="R38f0d07892ef4b1d" /><Relationship Type="http://schemas.openxmlformats.org/officeDocument/2006/relationships/slideLayout" Target="/ppt/slideLayouts/slideLayout2.xml" Id="R1883358d918743d5" /><Relationship Type="http://schemas.openxmlformats.org/officeDocument/2006/relationships/slideLayout" Target="/ppt/slideLayouts/slideLayout3.xml" Id="R3156696ceff14b14" /><Relationship Type="http://schemas.openxmlformats.org/officeDocument/2006/relationships/slideLayout" Target="/ppt/slideLayouts/slideLayout4.xml" Id="R434f95b8decd4a97" /><Relationship Type="http://schemas.openxmlformats.org/officeDocument/2006/relationships/slideLayout" Target="/ppt/slideLayouts/slideLayout5.xml" Id="R3f6b6495aebd489f" /><Relationship Type="http://schemas.openxmlformats.org/officeDocument/2006/relationships/slideLayout" Target="/ppt/slideLayouts/slideLayout6.xml" Id="Rd0b9cead6a8142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f0d07892ef4b1d"/>
    <p:sldLayoutId xmlns:r="http://schemas.openxmlformats.org/officeDocument/2006/relationships" id="2147483650" r:id="R1883358d918743d5"/>
    <p:sldLayoutId xmlns:r="http://schemas.openxmlformats.org/officeDocument/2006/relationships" id="2147483651" r:id="R3156696ceff14b14"/>
    <p:sldLayoutId xmlns:r="http://schemas.openxmlformats.org/officeDocument/2006/relationships" id="2147483652" r:id="R434f95b8decd4a97"/>
    <p:sldLayoutId xmlns:r="http://schemas.openxmlformats.org/officeDocument/2006/relationships" id="2147483653" r:id="R3f6b6495aebd489f"/>
    <p:sldLayoutId xmlns:r="http://schemas.openxmlformats.org/officeDocument/2006/relationships" id="2147483654" r:id="Rd0b9cead6a8142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be13623f80b4b40" /><Relationship Type="http://schemas.openxmlformats.org/officeDocument/2006/relationships/image" Target="/ppt/media/image.png" Id="R1a80bbf84bd243b0" /><Relationship Type="http://schemas.openxmlformats.org/officeDocument/2006/relationships/notesSlide" Target="/ppt/notesSlides/notesSlide1.xml" Id="R207fab72082246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4bebe66973642f8" /><Relationship Type="http://schemas.openxmlformats.org/officeDocument/2006/relationships/notesSlide" Target="/ppt/notesSlides/notesSlide2.xml" Id="R3d710f35ddcf444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b69a73c3c3f4320" /><Relationship Type="http://schemas.openxmlformats.org/officeDocument/2006/relationships/notesSlide" Target="/ppt/notesSlides/notesSlide3.xml" Id="R42826f65a06147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bfe8db4b8a487f" /><Relationship Type="http://schemas.openxmlformats.org/officeDocument/2006/relationships/notesSlide" Target="/ppt/notesSlides/notesSlide4.xml" Id="R29e374c4618a47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d33b2476e6e4c7a" /><Relationship Type="http://schemas.openxmlformats.org/officeDocument/2006/relationships/notesSlide" Target="/ppt/notesSlides/notesSlide5.xml" Id="R435fd1c9dc7446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1b61d43e624465" /><Relationship Type="http://schemas.openxmlformats.org/officeDocument/2006/relationships/notesSlide" Target="/ppt/notesSlides/notesSlide6.xml" Id="R44c325eb002c407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a275161a2684dbf" /><Relationship Type="http://schemas.openxmlformats.org/officeDocument/2006/relationships/image" Target="/ppt/media/image2.png" Id="Ra4394fff797840a7" /><Relationship Type="http://schemas.openxmlformats.org/officeDocument/2006/relationships/notesSlide" Target="/ppt/notesSlides/notesSlide7.xml" Id="Rbff68801ece14e9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4ee8b30f8ed47fd" /><Relationship Type="http://schemas.openxmlformats.org/officeDocument/2006/relationships/image" Target="/ppt/media/image3.png" Id="R4ec7883e7c8748e3" /><Relationship Type="http://schemas.openxmlformats.org/officeDocument/2006/relationships/notesSlide" Target="/ppt/notesSlides/notesSlide8.xml" Id="R4912fa22104a4c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1a46f3c89424759" /><Relationship Type="http://schemas.openxmlformats.org/officeDocument/2006/relationships/notesSlide" Target="/ppt/notesSlides/notesSlide9.xml" Id="R4fa02e098e0c48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410102fe1a44190" /><Relationship Type="http://schemas.openxmlformats.org/officeDocument/2006/relationships/notesSlide" Target="/ppt/notesSlides/notesSlide10.xml" Id="Raf5a6a85dc534ec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5B325CFC-B04C-4A86-BE5B-15BDEEDCD5C4}"/>
              </a:ext>
            </a:extLst>
          </p:cNvPr>
          <p:cNvPicPr>
            <a:picLocks xmlns:a="http://schemas.openxmlformats.org/drawingml/2006/main" noChangeAspect="1"/>
          </p:cNvPicPr>
          <p:nvPr/>
        </p:nvPicPr>
        <p:blipFill>
          <a:blip xmlns:r="http://schemas.openxmlformats.org/officeDocument/2006/relationships" xmlns:a="http://schemas.openxmlformats.org/drawingml/2006/main" r:embed="R1a80bbf84bd243b0"/>
          <a:stretch xmlns:a="http://schemas.openxmlformats.org/drawingml/2006/main"/>
        </p:blipFill>
        <p:spPr>
          <a:xfrm xmlns:a="http://schemas.openxmlformats.org/drawingml/2006/main">
            <a:off x="685800" y="800100"/>
            <a:ext cx="800100" cy="8001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AE58C6-60D9-4068-A71B-A39FB6B76516}"/>
              </a:ext>
            </a:extLst>
          </p:cNvPr>
          <p:cNvSpPr>
            <a:spLocks xmlns:a="http://schemas.openxmlformats.org/drawingml/2006/main" noGrp="1"/>
          </p:cNvSpPr>
          <p:nvPr/>
        </p:nvSpPr>
        <p:spPr>
          <a:xfrm xmlns:a="http://schemas.openxmlformats.org/drawingml/2006/main">
            <a:off x="685800" y="2209800"/>
            <a:ext cx="108204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900" b="1">
                <a:solidFill>
                  <a:srgbClr val="131A24"/>
                </a:solidFill>
                <a:latin typeface="Arial"/>
                <a:ea typeface="Arial"/>
                <a:cs typeface="Arial"/>
              </a:defRPr>
            </a:defPPr>
          </a:lstStyle>
          <a:p xmlns:a="http://schemas.openxmlformats.org/drawingml/2006/main">
            <a:pPr>
              <a:defRPr sz="3900" b="1">
                <a:solidFill>
                  <a:srgbClr val="131A24"/>
                </a:solidFill>
                <a:latin typeface="Arial"/>
                <a:ea typeface="Arial"/>
                <a:cs typeface="Arial"/>
              </a:defRPr>
            </a:pPr>
            <a:r>
              <a:rPr sz="3900" b="1">
                <a:solidFill>
                  <a:srgbClr val="131A24"/>
                </a:solidFill>
                <a:latin typeface="Arial"/>
                <a:ea typeface="Arial"/>
                <a:cs typeface="Arial"/>
              </a:rPr>
              <a:t>FoodBridge</a:t>
            </a:r>
          </a:p>
        </p:txBody>
      </p:sp>
      <p:sp>
        <p:nvSpPr>
          <p:cNvPr id="3" name="">
            <a:extLst xmlns:a="http://schemas.openxmlformats.org/drawingml/2006/main">
              <a:ext uri="{FF2B5EF4-FFF2-40B4-BE49-F238E27FC236}">
                <a16:creationId xmlns:a16="http://schemas.microsoft.com/office/drawing/2014/main" id="{3AC662E4-65EE-4C1C-851C-361EA325BBE0}"/>
              </a:ext>
            </a:extLst>
          </p:cNvPr>
          <p:cNvSpPr>
            <a:spLocks xmlns:a="http://schemas.openxmlformats.org/drawingml/2006/main" noGrp="1"/>
          </p:cNvSpPr>
          <p:nvPr/>
        </p:nvSpPr>
        <p:spPr>
          <a:xfrm xmlns:a="http://schemas.openxmlformats.org/drawingml/2006/main">
            <a:off x="685800" y="2933700"/>
            <a:ext cx="952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650" b="0">
                <a:solidFill>
                  <a:srgbClr val="52606F"/>
                </a:solidFill>
                <a:latin typeface="Arial"/>
                <a:ea typeface="Arial"/>
                <a:cs typeface="Arial"/>
              </a:defRPr>
            </a:defPPr>
          </a:lstStyle>
          <a:p xmlns:a="http://schemas.openxmlformats.org/drawingml/2006/main">
            <a:pPr>
              <a:defRPr sz="1650" b="0">
                <a:solidFill>
                  <a:srgbClr val="52606F"/>
                </a:solidFill>
                <a:latin typeface="Arial"/>
                <a:ea typeface="Arial"/>
                <a:cs typeface="Arial"/>
              </a:defRPr>
            </a:pPr>
            <a:r>
              <a:rPr sz="1650" b="0">
                <a:solidFill>
                  <a:srgbClr val="52606F"/>
                </a:solidFill>
                <a:latin typeface="Arial"/>
                <a:ea typeface="Arial"/>
                <a:cs typeface="Arial"/>
              </a:rPr>
              <a:t>An Intelligent Food Rescue Coordination and Resource Allocation Platform</a:t>
            </a:r>
          </a:p>
        </p:txBody>
      </p:sp>
      <p:sp>
        <p:nvSpPr>
          <p:cNvPr id="4" name="">
            <a:extLst xmlns:a="http://schemas.openxmlformats.org/drawingml/2006/main">
              <a:ext uri="{FF2B5EF4-FFF2-40B4-BE49-F238E27FC236}">
                <a16:creationId xmlns:a16="http://schemas.microsoft.com/office/drawing/2014/main" id="{FB08770A-C19C-45D6-A740-799661655FAE}"/>
              </a:ext>
            </a:extLst>
          </p:cNvPr>
          <p:cNvSpPr>
            <a:spLocks xmlns:a="http://schemas.openxmlformats.org/drawingml/2006/main" noGrp="1"/>
          </p:cNvSpPr>
          <p:nvPr/>
        </p:nvSpPr>
        <p:spPr>
          <a:xfrm xmlns:a="http://schemas.openxmlformats.org/drawingml/2006/main">
            <a:off x="685800" y="3619500"/>
            <a:ext cx="2857500" cy="19050"/>
          </a:xfrm>
          <a:prstGeom xmlns:a="http://schemas.openxmlformats.org/drawingml/2006/main" prst="rect">
            <a:avLst/>
          </a:prstGeom>
          <a:solidFill xmlns:a="http://schemas.openxmlformats.org/drawingml/2006/main">
            <a:srgbClr val="0E7C5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40A0684-45C0-4197-8192-C89D1725060A}"/>
              </a:ext>
            </a:extLst>
          </p:cNvPr>
          <p:cNvSpPr>
            <a:spLocks xmlns:a="http://schemas.openxmlformats.org/drawingml/2006/main" noGrp="1"/>
          </p:cNvSpPr>
          <p:nvPr/>
        </p:nvSpPr>
        <p:spPr>
          <a:xfrm xmlns:a="http://schemas.openxmlformats.org/drawingml/2006/main">
            <a:off x="685800" y="38290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b="0">
                <a:solidFill>
                  <a:srgbClr val="8A94A3"/>
                </a:solidFill>
                <a:latin typeface="Arial"/>
                <a:ea typeface="Arial"/>
                <a:cs typeface="Arial"/>
              </a:defRPr>
            </a:defPPr>
          </a:lstStyle>
          <a:p xmlns:a="http://schemas.openxmlformats.org/drawingml/2006/main">
            <a:pPr>
              <a:defRPr sz="1275" b="0">
                <a:solidFill>
                  <a:srgbClr val="8A94A3"/>
                </a:solidFill>
                <a:latin typeface="Arial"/>
                <a:ea typeface="Arial"/>
                <a:cs typeface="Arial"/>
              </a:defRPr>
            </a:pPr>
            <a:r>
              <a:rPr sz="1275" b="0">
                <a:solidFill>
                  <a:srgbClr val="8A94A3"/>
                </a:solidFill>
                <a:latin typeface="Arial"/>
                <a:ea typeface="Arial"/>
                <a:cs typeface="Arial"/>
              </a:rPr>
              <a:t>Software Engineering Laboratory · Project Review</a:t>
            </a:r>
          </a:p>
        </p:txBody>
      </p:sp>
      <p:sp>
        <p:nvSpPr>
          <p:cNvPr id="6" name="">
            <a:extLst xmlns:a="http://schemas.openxmlformats.org/drawingml/2006/main">
              <a:ext uri="{FF2B5EF4-FFF2-40B4-BE49-F238E27FC236}">
                <a16:creationId xmlns:a16="http://schemas.microsoft.com/office/drawing/2014/main" id="{63B9CE8B-F3DC-4B3A-88F1-A27BBC1AD288}"/>
              </a:ext>
            </a:extLst>
          </p:cNvPr>
          <p:cNvSpPr>
            <a:spLocks xmlns:a="http://schemas.openxmlformats.org/drawingml/2006/main" noGrp="1"/>
          </p:cNvSpPr>
          <p:nvPr/>
        </p:nvSpPr>
        <p:spPr>
          <a:xfrm xmlns:a="http://schemas.openxmlformats.org/drawingml/2006/main">
            <a:off x="685800" y="411480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1">
                <a:solidFill>
                  <a:srgbClr val="131A24"/>
                </a:solidFill>
                <a:latin typeface="Arial"/>
                <a:ea typeface="Arial"/>
                <a:cs typeface="Arial"/>
              </a:defRPr>
            </a:defPPr>
          </a:lstStyle>
          <a:p xmlns:a="http://schemas.openxmlformats.org/drawingml/2006/main">
            <a:pPr>
              <a:defRPr sz="1575" b="1">
                <a:solidFill>
                  <a:srgbClr val="131A24"/>
                </a:solidFill>
                <a:latin typeface="Arial"/>
                <a:ea typeface="Arial"/>
                <a:cs typeface="Arial"/>
              </a:defRPr>
            </a:pPr>
            <a:r>
              <a:rPr sz="1575" b="1">
                <a:solidFill>
                  <a:srgbClr val="131A24"/>
                </a:solidFill>
                <a:latin typeface="Arial"/>
                <a:ea typeface="Arial"/>
                <a:cs typeface="Arial"/>
              </a:rPr>
              <a:t>Adithyan S Nair · Register number 24BAI1621</a:t>
            </a:r>
          </a:p>
        </p:txBody>
      </p:sp>
    </p:spTree>
    <p:extLst>
      <p:ext uri="{BB962C8B-B14F-4D97-AF65-F5344CB8AC3E}">
        <p14:creationId xmlns:p14="http://schemas.microsoft.com/office/powerpoint/2010/main" val="17428296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8478906-EE34-43F9-8676-85C8675392CF}"/>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2 / 10</a:t>
            </a:r>
          </a:p>
        </p:txBody>
      </p:sp>
      <p:sp>
        <p:nvSpPr>
          <p:cNvPr id="2" name="slide-title">
            <a:extLst xmlns:a="http://schemas.openxmlformats.org/drawingml/2006/main">
              <a:ext uri="{FF2B5EF4-FFF2-40B4-BE49-F238E27FC236}">
                <a16:creationId xmlns:a16="http://schemas.microsoft.com/office/drawing/2014/main" id="{90B1EA3D-D19A-44E0-B512-93B8CA405BD2}"/>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Problem statement and the gap in existing platforms</a:t>
            </a:r>
          </a:p>
        </p:txBody>
      </p:sp>
      <p:sp>
        <p:nvSpPr>
          <p:cNvPr id="3" name="slide-lead">
            <a:extLst xmlns:a="http://schemas.openxmlformats.org/drawingml/2006/main">
              <a:ext uri="{FF2B5EF4-FFF2-40B4-BE49-F238E27FC236}">
                <a16:creationId xmlns:a16="http://schemas.microsoft.com/office/drawing/2014/main" id="{B9C887B4-FEE2-4759-AC88-E1C946935EEE}"/>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Surplus food is discarded while the organizations that require it operate short of supply.</a:t>
            </a:r>
          </a:p>
        </p:txBody>
      </p:sp>
      <p:sp>
        <p:nvSpPr>
          <p:cNvPr id="4" name="title-rule">
            <a:extLst xmlns:a="http://schemas.openxmlformats.org/drawingml/2006/main">
              <a:ext uri="{FF2B5EF4-FFF2-40B4-BE49-F238E27FC236}">
                <a16:creationId xmlns:a16="http://schemas.microsoft.com/office/drawing/2014/main" id="{757A336A-AA6E-46BA-8911-F01C710589FA}"/>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8813F7E-B3FB-4343-B262-68B8814C84A3}"/>
              </a:ext>
            </a:extLst>
          </p:cNvPr>
          <p:cNvSpPr>
            <a:spLocks xmlns:a="http://schemas.openxmlformats.org/drawingml/2006/main" noGrp="1"/>
          </p:cNvSpPr>
          <p:nvPr/>
        </p:nvSpPr>
        <p:spPr>
          <a:xfrm xmlns:a="http://schemas.openxmlformats.org/drawingml/2006/main">
            <a:off x="685800" y="1905000"/>
            <a:ext cx="1082040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00">
                <a:solidFill>
                  <a:srgbClr val="131A24"/>
                </a:solidFill>
                <a:latin typeface="Arial"/>
                <a:ea typeface="Arial"/>
                <a:cs typeface="Arial"/>
              </a:defRPr>
            </a:defPPr>
          </a:lstStyle>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Donations are coordinated through telephone calls and messaging applications, which delays collection and results in lost donations.</a:t>
            </a:r>
          </a:p>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Most donation platforms publish a listing and allocate the food to the first organization that claims it.</a:t>
            </a:r>
          </a:p>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They do not verify that the food can reach the recipient before its safe consumption window closes.</a:t>
            </a:r>
          </a:p>
          <a:p xmlns:a="http://schemas.openxmlformats.org/drawingml/2006/main">
            <a:pPr marL="228600" indent="-114300">
              <a:spcAft>
                <a:spcPts val="1800"/>
              </a:spcAft>
              <a:buChar char="•"/>
              <a:defRPr sz="1500">
                <a:solidFill>
                  <a:srgbClr val="131A24"/>
                </a:solidFill>
                <a:latin typeface="Arial"/>
                <a:ea typeface="Arial"/>
                <a:cs typeface="Arial"/>
              </a:defRPr>
            </a:pPr>
            <a:r>
              <a:rPr sz="1500">
                <a:solidFill>
                  <a:srgbClr val="131A24"/>
                </a:solidFill>
                <a:latin typeface="Arial"/>
                <a:ea typeface="Arial"/>
                <a:cs typeface="Arial"/>
              </a:rPr>
              <a:t>They neither measure cumulative distribution across organizations nor record the reasoning behind a selection.</a:t>
            </a:r>
          </a:p>
        </p:txBody>
      </p:sp>
      <p:sp>
        <p:nvSpPr>
          <p:cNvPr id="6" name="">
            <a:extLst xmlns:a="http://schemas.openxmlformats.org/drawingml/2006/main">
              <a:ext uri="{FF2B5EF4-FFF2-40B4-BE49-F238E27FC236}">
                <a16:creationId xmlns:a16="http://schemas.microsoft.com/office/drawing/2014/main" id="{9EF04B92-0047-4C47-86EA-9D04D6C1A82F}"/>
              </a:ext>
            </a:extLst>
          </p:cNvPr>
          <p:cNvSpPr>
            <a:spLocks xmlns:a="http://schemas.openxmlformats.org/drawingml/2006/main" noGrp="1"/>
          </p:cNvSpPr>
          <p:nvPr/>
        </p:nvSpPr>
        <p:spPr>
          <a:xfrm xmlns:a="http://schemas.openxmlformats.org/drawingml/2006/main">
            <a:off x="685800" y="546735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8A94A3"/>
                </a:solidFill>
                <a:latin typeface="Arial"/>
                <a:ea typeface="Arial"/>
                <a:cs typeface="Arial"/>
              </a:defRPr>
            </a:defPPr>
          </a:lstStyle>
          <a:p xmlns:a="http://schemas.openxmlformats.org/drawingml/2006/main">
            <a:pPr>
              <a:defRPr sz="1125" b="0">
                <a:solidFill>
                  <a:srgbClr val="8A94A3"/>
                </a:solidFill>
                <a:latin typeface="Arial"/>
                <a:ea typeface="Arial"/>
                <a:cs typeface="Arial"/>
              </a:defRPr>
            </a:pPr>
            <a:r>
              <a:rPr sz="1125" b="0">
                <a:solidFill>
                  <a:srgbClr val="8A94A3"/>
                </a:solidFill>
                <a:latin typeface="Arial"/>
                <a:ea typeface="Arial"/>
                <a:cs typeface="Arial"/>
              </a:rPr>
              <a:t>Assessment derived from the requirement study conducted for this project; not a published benchmark.</a:t>
            </a:r>
          </a:p>
        </p:txBody>
      </p:sp>
    </p:spTree>
    <p:extLst>
      <p:ext uri="{BB962C8B-B14F-4D97-AF65-F5344CB8AC3E}">
        <p14:creationId xmlns:p14="http://schemas.microsoft.com/office/powerpoint/2010/main" val="24607569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3D2A180-560C-47AC-A550-31EFB4CD770B}"/>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3 / 10</a:t>
            </a:r>
          </a:p>
        </p:txBody>
      </p:sp>
      <p:sp>
        <p:nvSpPr>
          <p:cNvPr id="2" name="slide-title">
            <a:extLst xmlns:a="http://schemas.openxmlformats.org/drawingml/2006/main">
              <a:ext uri="{FF2B5EF4-FFF2-40B4-BE49-F238E27FC236}">
                <a16:creationId xmlns:a16="http://schemas.microsoft.com/office/drawing/2014/main" id="{9768DE46-FFE2-4CBF-81A0-1BCE9CF3DCD3}"/>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Differentiating features</a:t>
            </a:r>
          </a:p>
        </p:txBody>
      </p:sp>
      <p:sp>
        <p:nvSpPr>
          <p:cNvPr id="3" name="slide-lead">
            <a:extLst xmlns:a="http://schemas.openxmlformats.org/drawingml/2006/main">
              <a:ext uri="{FF2B5EF4-FFF2-40B4-BE49-F238E27FC236}">
                <a16:creationId xmlns:a16="http://schemas.microsoft.com/office/drawing/2014/main" id="{1F056ECA-325C-47E8-A7D6-B63C271AE84A}"/>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Six design decisions separate FoodBridge from existing platforms and manual coordination.</a:t>
            </a:r>
          </a:p>
        </p:txBody>
      </p:sp>
      <p:sp>
        <p:nvSpPr>
          <p:cNvPr id="4" name="title-rule">
            <a:extLst xmlns:a="http://schemas.openxmlformats.org/drawingml/2006/main">
              <a:ext uri="{FF2B5EF4-FFF2-40B4-BE49-F238E27FC236}">
                <a16:creationId xmlns:a16="http://schemas.microsoft.com/office/drawing/2014/main" id="{326816BC-79C3-496F-90C7-BB04E6F888DB}"/>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graphicFrame>
        <p:nvGraphicFramePr>
          <p:cNvPr id="5" name="">
            <a:extLst xmlns:a="http://schemas.openxmlformats.org/drawingml/2006/main">
              <a:ext uri="{FF2B5EF4-FFF2-40B4-BE49-F238E27FC236}">
                <a16:creationId xmlns:a16="http://schemas.microsoft.com/office/drawing/2014/main" id="{CAE94DE5-8D8E-46FD-B5BE-DB164FE2C46D}"/>
              </a:ext>
            </a:extLst>
          </p:cNvPr>
          <p:cNvGraphicFramePr/>
          <p:nvPr/>
        </p:nvGraphicFramePr>
        <p:xfrm>
          <a:off xmlns:a="http://schemas.openxmlformats.org/drawingml/2006/main" x="685800" y="1866900"/>
          <a:ext xmlns:a="http://schemas.openxmlformats.org/drawingml/2006/main" cx="10820400" cy="3543300"/>
        </p:xfrm>
        <a:graphic xmlns:a="http://schemas.openxmlformats.org/drawingml/2006/main">
          <a:graphicData uri="http://schemas.openxmlformats.org/drawingml/2006/table">
            <a:tbl>
              <a:tblPr/>
              <a:tblGrid>
                <a:gridCol w="2380488"/>
                <a:gridCol w="3895344"/>
                <a:gridCol w="4544568"/>
              </a:tblGrid>
              <a:tr h="506186">
                <a:tc>
                  <a:txBody>
                    <a:bodyPr>
                      <a:noAutofit/>
                    </a:bodyPr>
                    <a:lstStyle/>
                    <a:p>
                      <a:r>
                        <a:rPr sz="1050" b="1">
                          <a:solidFill>
                            <a:srgbClr val="131A24"/>
                          </a:solidFill>
                          <a:latin typeface="Arial"/>
                          <a:ea typeface="Arial"/>
                          <a:cs typeface="Arial"/>
                        </a:rPr>
                        <a:t>Design decision</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Typical platforms</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FoodBridge</a:t>
                      </a:r>
                    </a:p>
                  </a:txBody>
                  <a:tcPr marL="91440" marR="91440" marT="45720" marB="45720">
                    <a:solidFill>
                      <a:srgbClr val="F5F7F8"/>
                    </a:solidFill>
                  </a:tcPr>
                </a:tc>
              </a:tr>
              <a:tr h="506186">
                <a:tc>
                  <a:txBody>
                    <a:bodyPr>
                      <a:noAutofit/>
                    </a:bodyPr>
                    <a:lstStyle/>
                    <a:p>
                      <a:r>
                        <a:rPr sz="1050">
                          <a:solidFill>
                            <a:srgbClr val="131A24"/>
                          </a:solidFill>
                          <a:latin typeface="Arial"/>
                          <a:ea typeface="Arial"/>
                          <a:cs typeface="Arial"/>
                        </a:rPr>
                        <a:t>Recipient selection</a:t>
                      </a:r>
                    </a:p>
                  </a:txBody>
                  <a:tcPr marL="91440" marR="91440" marT="45720" marB="45720"/>
                </a:tc>
                <a:tc>
                  <a:txBody>
                    <a:bodyPr>
                      <a:noAutofit/>
                    </a:bodyPr>
                    <a:lstStyle/>
                    <a:p>
                      <a:r>
                        <a:rPr sz="1050">
                          <a:solidFill>
                            <a:srgbClr val="131A24"/>
                          </a:solidFill>
                          <a:latin typeface="Arial"/>
                          <a:ea typeface="Arial"/>
                          <a:cs typeface="Arial"/>
                        </a:rPr>
                        <a:t>Allocated to the first organization that claims the listing</a:t>
                      </a:r>
                    </a:p>
                  </a:txBody>
                  <a:tcPr marL="91440" marR="91440" marT="45720" marB="45720"/>
                </a:tc>
                <a:tc>
                  <a:txBody>
                    <a:bodyPr>
                      <a:noAutofit/>
                    </a:bodyPr>
                    <a:lstStyle/>
                    <a:p>
                      <a:r>
                        <a:rPr sz="1050">
                          <a:solidFill>
                            <a:srgbClr val="131A24"/>
                          </a:solidFill>
                          <a:latin typeface="Arial"/>
                          <a:ea typeface="Arial"/>
                          <a:cs typeface="Arial"/>
                        </a:rPr>
                        <a:t>All eligible organizations are ranked by the decision engine</a:t>
                      </a:r>
                    </a:p>
                  </a:txBody>
                  <a:tcPr marL="91440" marR="91440" marT="45720" marB="45720"/>
                </a:tc>
              </a:tr>
              <a:tr h="506186">
                <a:tc>
                  <a:txBody>
                    <a:bodyPr>
                      <a:noAutofit/>
                    </a:bodyPr>
                    <a:lstStyle/>
                    <a:p>
                      <a:r>
                        <a:rPr sz="1050">
                          <a:solidFill>
                            <a:srgbClr val="131A24"/>
                          </a:solidFill>
                          <a:latin typeface="Arial"/>
                          <a:ea typeface="Arial"/>
                          <a:cs typeface="Arial"/>
                        </a:rPr>
                        <a:t>Food safety</a:t>
                      </a:r>
                    </a:p>
                  </a:txBody>
                  <a:tcPr marL="91440" marR="91440" marT="45720" marB="45720"/>
                </a:tc>
                <a:tc>
                  <a:txBody>
                    <a:bodyPr>
                      <a:noAutofit/>
                    </a:bodyPr>
                    <a:lstStyle/>
                    <a:p>
                      <a:r>
                        <a:rPr sz="1050">
                          <a:solidFill>
                            <a:srgbClr val="131A24"/>
                          </a:solidFill>
                          <a:latin typeface="Arial"/>
                          <a:ea typeface="Arial"/>
                          <a:cs typeface="Arial"/>
                        </a:rPr>
                        <a:t>Expiry time displayed to the claimant</a:t>
                      </a:r>
                    </a:p>
                  </a:txBody>
                  <a:tcPr marL="91440" marR="91440" marT="45720" marB="45720"/>
                </a:tc>
                <a:tc>
                  <a:txBody>
                    <a:bodyPr>
                      <a:noAutofit/>
                    </a:bodyPr>
                    <a:lstStyle/>
                    <a:p>
                      <a:r>
                        <a:rPr sz="1050">
                          <a:solidFill>
                            <a:srgbClr val="131A24"/>
                          </a:solidFill>
                          <a:latin typeface="Arial"/>
                          <a:ea typeface="Arial"/>
                          <a:cs typeface="Arial"/>
                        </a:rPr>
                        <a:t>Organizations that cannot receive the food in time are excluded</a:t>
                      </a:r>
                    </a:p>
                  </a:txBody>
                  <a:tcPr marL="91440" marR="91440" marT="45720" marB="45720"/>
                </a:tc>
              </a:tr>
              <a:tr h="506186">
                <a:tc>
                  <a:txBody>
                    <a:bodyPr>
                      <a:noAutofit/>
                    </a:bodyPr>
                    <a:lstStyle/>
                    <a:p>
                      <a:r>
                        <a:rPr sz="1050">
                          <a:solidFill>
                            <a:srgbClr val="131A24"/>
                          </a:solidFill>
                          <a:latin typeface="Arial"/>
                          <a:ea typeface="Arial"/>
                          <a:cs typeface="Arial"/>
                        </a:rPr>
                        <a:t>Equitable distribution</a:t>
                      </a:r>
                    </a:p>
                  </a:txBody>
                  <a:tcPr marL="91440" marR="91440" marT="45720" marB="45720"/>
                </a:tc>
                <a:tc>
                  <a:txBody>
                    <a:bodyPr>
                      <a:noAutofit/>
                    </a:bodyPr>
                    <a:lstStyle/>
                    <a:p>
                      <a:r>
                        <a:rPr sz="1050">
                          <a:solidFill>
                            <a:srgbClr val="131A24"/>
                          </a:solidFill>
                          <a:latin typeface="Arial"/>
                          <a:ea typeface="Arial"/>
                          <a:cs typeface="Arial"/>
                        </a:rPr>
                        <a:t>Not measured</a:t>
                      </a:r>
                    </a:p>
                  </a:txBody>
                  <a:tcPr marL="91440" marR="91440" marT="45720" marB="45720"/>
                </a:tc>
                <a:tc>
                  <a:txBody>
                    <a:bodyPr>
                      <a:noAutofit/>
                    </a:bodyPr>
                    <a:lstStyle/>
                    <a:p>
                      <a:r>
                        <a:rPr sz="1050">
                          <a:solidFill>
                            <a:srgbClr val="131A24"/>
                          </a:solidFill>
                          <a:latin typeface="Arial"/>
                          <a:ea typeface="Arial"/>
                          <a:cs typeface="Arial"/>
                        </a:rPr>
                        <a:t>Quantities received in the previous 30 days influence the score</a:t>
                      </a:r>
                    </a:p>
                  </a:txBody>
                  <a:tcPr marL="91440" marR="91440" marT="45720" marB="45720"/>
                </a:tc>
              </a:tr>
              <a:tr h="506186">
                <a:tc>
                  <a:txBody>
                    <a:bodyPr>
                      <a:noAutofit/>
                    </a:bodyPr>
                    <a:lstStyle/>
                    <a:p>
                      <a:r>
                        <a:rPr sz="1050">
                          <a:solidFill>
                            <a:srgbClr val="131A24"/>
                          </a:solidFill>
                          <a:latin typeface="Arial"/>
                          <a:ea typeface="Arial"/>
                          <a:cs typeface="Arial"/>
                        </a:rPr>
                        <a:t>Transparency</a:t>
                      </a:r>
                    </a:p>
                  </a:txBody>
                  <a:tcPr marL="91440" marR="91440" marT="45720" marB="45720"/>
                </a:tc>
                <a:tc>
                  <a:txBody>
                    <a:bodyPr>
                      <a:noAutofit/>
                    </a:bodyPr>
                    <a:lstStyle/>
                    <a:p>
                      <a:r>
                        <a:rPr sz="1050">
                          <a:solidFill>
                            <a:srgbClr val="131A24"/>
                          </a:solidFill>
                          <a:latin typeface="Arial"/>
                          <a:ea typeface="Arial"/>
                          <a:cs typeface="Arial"/>
                        </a:rPr>
                        <a:t>No recorded justification</a:t>
                      </a:r>
                    </a:p>
                  </a:txBody>
                  <a:tcPr marL="91440" marR="91440" marT="45720" marB="45720"/>
                </a:tc>
                <a:tc>
                  <a:txBody>
                    <a:bodyPr>
                      <a:noAutofit/>
                    </a:bodyPr>
                    <a:lstStyle/>
                    <a:p>
                      <a:r>
                        <a:rPr sz="1050">
                          <a:solidFill>
                            <a:srgbClr val="131A24"/>
                          </a:solidFill>
                          <a:latin typeface="Arial"/>
                          <a:ea typeface="Arial"/>
                          <a:cs typeface="Arial"/>
                        </a:rPr>
                        <a:t>A written explanation is stored with every allocation</a:t>
                      </a:r>
                    </a:p>
                  </a:txBody>
                  <a:tcPr marL="91440" marR="91440" marT="45720" marB="45720"/>
                </a:tc>
              </a:tr>
              <a:tr h="506186">
                <a:tc>
                  <a:txBody>
                    <a:bodyPr>
                      <a:noAutofit/>
                    </a:bodyPr>
                    <a:lstStyle/>
                    <a:p>
                      <a:r>
                        <a:rPr sz="1050">
                          <a:solidFill>
                            <a:srgbClr val="131A24"/>
                          </a:solidFill>
                          <a:latin typeface="Arial"/>
                          <a:ea typeface="Arial"/>
                          <a:cs typeface="Arial"/>
                        </a:rPr>
                        <a:t>Volunteer coordination</a:t>
                      </a:r>
                    </a:p>
                  </a:txBody>
                  <a:tcPr marL="91440" marR="91440" marT="45720" marB="45720"/>
                </a:tc>
                <a:tc>
                  <a:txBody>
                    <a:bodyPr>
                      <a:noAutofit/>
                    </a:bodyPr>
                    <a:lstStyle/>
                    <a:p>
                      <a:r>
                        <a:rPr sz="1050">
                          <a:solidFill>
                            <a:srgbClr val="131A24"/>
                          </a:solidFill>
                          <a:latin typeface="Arial"/>
                          <a:ea typeface="Arial"/>
                          <a:cs typeface="Arial"/>
                        </a:rPr>
                        <a:t>Arranged privately between donor and recipient</a:t>
                      </a:r>
                    </a:p>
                  </a:txBody>
                  <a:tcPr marL="91440" marR="91440" marT="45720" marB="45720"/>
                </a:tc>
                <a:tc>
                  <a:txBody>
                    <a:bodyPr>
                      <a:noAutofit/>
                    </a:bodyPr>
                    <a:lstStyle/>
                    <a:p>
                      <a:r>
                        <a:rPr sz="1050">
                          <a:solidFill>
                            <a:srgbClr val="131A24"/>
                          </a:solidFill>
                          <a:latin typeface="Arial"/>
                          <a:ea typeface="Arial"/>
                          <a:cs typeface="Arial"/>
                        </a:rPr>
                        <a:t>Volunteers are matched by distance, workload and experience</a:t>
                      </a:r>
                    </a:p>
                  </a:txBody>
                  <a:tcPr marL="91440" marR="91440" marT="45720" marB="45720"/>
                </a:tc>
              </a:tr>
              <a:tr h="506186">
                <a:tc>
                  <a:txBody>
                    <a:bodyPr>
                      <a:noAutofit/>
                    </a:bodyPr>
                    <a:lstStyle/>
                    <a:p>
                      <a:r>
                        <a:rPr sz="1050">
                          <a:solidFill>
                            <a:srgbClr val="131A24"/>
                          </a:solidFill>
                          <a:latin typeface="Arial"/>
                          <a:ea typeface="Arial"/>
                          <a:cs typeface="Arial"/>
                        </a:rPr>
                        <a:t>Accountability</a:t>
                      </a:r>
                    </a:p>
                  </a:txBody>
                  <a:tcPr marL="91440" marR="91440" marT="45720" marB="45720"/>
                </a:tc>
                <a:tc>
                  <a:txBody>
                    <a:bodyPr>
                      <a:noAutofit/>
                    </a:bodyPr>
                    <a:lstStyle/>
                    <a:p>
                      <a:r>
                        <a:rPr sz="1050">
                          <a:solidFill>
                            <a:srgbClr val="131A24"/>
                          </a:solidFill>
                          <a:latin typeface="Arial"/>
                          <a:ea typeface="Arial"/>
                          <a:cs typeface="Arial"/>
                        </a:rPr>
                        <a:t>Basic donation history</a:t>
                      </a:r>
                    </a:p>
                  </a:txBody>
                  <a:tcPr marL="91440" marR="91440" marT="45720" marB="45720"/>
                </a:tc>
                <a:tc>
                  <a:txBody>
                    <a:bodyPr>
                      <a:noAutofit/>
                    </a:bodyPr>
                    <a:lstStyle/>
                    <a:p>
                      <a:r>
                        <a:rPr sz="1050">
                          <a:solidFill>
                            <a:srgbClr val="131A24"/>
                          </a:solidFill>
                          <a:latin typeface="Arial"/>
                          <a:ea typeface="Arial"/>
                          <a:cs typeface="Arial"/>
                        </a:rPr>
                        <a:t>Every action is recorded in the audit log</a:t>
                      </a:r>
                    </a:p>
                  </a:txBody>
                  <a:tcPr marL="91440" marR="91440" marT="45720" marB="45720"/>
                </a:tc>
              </a:tr>
            </a:tbl>
          </a:graphicData>
        </a:graphic>
      </p:graphicFrame>
      <p:sp>
        <p:nvSpPr>
          <p:cNvPr id="6" name="">
            <a:extLst xmlns:a="http://schemas.openxmlformats.org/drawingml/2006/main">
              <a:ext uri="{FF2B5EF4-FFF2-40B4-BE49-F238E27FC236}">
                <a16:creationId xmlns:a16="http://schemas.microsoft.com/office/drawing/2014/main" id="{245F3E5C-1540-4D13-88C3-517CC868B3AF}"/>
              </a:ext>
            </a:extLst>
          </p:cNvPr>
          <p:cNvSpPr>
            <a:spLocks xmlns:a="http://schemas.openxmlformats.org/drawingml/2006/main" noGrp="1"/>
          </p:cNvSpPr>
          <p:nvPr/>
        </p:nvSpPr>
        <p:spPr>
          <a:xfrm xmlns:a="http://schemas.openxmlformats.org/drawingml/2006/main">
            <a:off x="685800" y="56007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8A94A3"/>
                </a:solidFill>
                <a:latin typeface="Arial"/>
                <a:ea typeface="Arial"/>
                <a:cs typeface="Arial"/>
              </a:defRPr>
            </a:defPPr>
          </a:lstStyle>
          <a:p xmlns:a="http://schemas.openxmlformats.org/drawingml/2006/main">
            <a:pPr>
              <a:defRPr sz="1125" b="0">
                <a:solidFill>
                  <a:srgbClr val="8A94A3"/>
                </a:solidFill>
                <a:latin typeface="Arial"/>
                <a:ea typeface="Arial"/>
                <a:cs typeface="Arial"/>
              </a:defRPr>
            </a:pPr>
            <a:r>
              <a:rPr sz="1125" b="0">
                <a:solidFill>
                  <a:srgbClr val="8A94A3"/>
                </a:solidFill>
                <a:latin typeface="Arial"/>
                <a:ea typeface="Arial"/>
                <a:cs typeface="Arial"/>
              </a:rPr>
              <a:t>Assessment based on the platforms and process examined during the requirement study.</a:t>
            </a:r>
          </a:p>
        </p:txBody>
      </p:sp>
    </p:spTree>
    <p:extLst>
      <p:ext uri="{BB962C8B-B14F-4D97-AF65-F5344CB8AC3E}">
        <p14:creationId xmlns:p14="http://schemas.microsoft.com/office/powerpoint/2010/main" val="20504824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40A9456-C345-4EC9-8E26-A366D41DFF14}"/>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4 / 10</a:t>
            </a:r>
          </a:p>
        </p:txBody>
      </p:sp>
      <p:sp>
        <p:nvSpPr>
          <p:cNvPr id="2" name="slide-title">
            <a:extLst xmlns:a="http://schemas.openxmlformats.org/drawingml/2006/main">
              <a:ext uri="{FF2B5EF4-FFF2-40B4-BE49-F238E27FC236}">
                <a16:creationId xmlns:a16="http://schemas.microsoft.com/office/drawing/2014/main" id="{AEB2A442-458C-41D7-8756-1B0BAC9F5ADC}"/>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Functional scope</a:t>
            </a:r>
          </a:p>
        </p:txBody>
      </p:sp>
      <p:sp>
        <p:nvSpPr>
          <p:cNvPr id="3" name="slide-lead">
            <a:extLst xmlns:a="http://schemas.openxmlformats.org/drawingml/2006/main">
              <a:ext uri="{FF2B5EF4-FFF2-40B4-BE49-F238E27FC236}">
                <a16:creationId xmlns:a16="http://schemas.microsoft.com/office/drawing/2014/main" id="{0CAA238A-F487-4E32-BC2C-7B5FEC2A6C78}"/>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Four actors and sixteen use cases, all implemented in the running system.</a:t>
            </a:r>
          </a:p>
        </p:txBody>
      </p:sp>
      <p:sp>
        <p:nvSpPr>
          <p:cNvPr id="4" name="title-rule">
            <a:extLst xmlns:a="http://schemas.openxmlformats.org/drawingml/2006/main">
              <a:ext uri="{FF2B5EF4-FFF2-40B4-BE49-F238E27FC236}">
                <a16:creationId xmlns:a16="http://schemas.microsoft.com/office/drawing/2014/main" id="{1DDB2FDA-1530-41F2-B69E-B3CCCD358082}"/>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flow-Donation registered">
            <a:extLst xmlns:a="http://schemas.openxmlformats.org/drawingml/2006/main">
              <a:ext uri="{FF2B5EF4-FFF2-40B4-BE49-F238E27FC236}">
                <a16:creationId xmlns:a16="http://schemas.microsoft.com/office/drawing/2014/main" id="{3F6763F5-35E3-4ADE-88B5-4C2BE6313191}"/>
              </a:ext>
            </a:extLst>
          </p:cNvPr>
          <p:cNvSpPr>
            <a:spLocks xmlns:a="http://schemas.openxmlformats.org/drawingml/2006/main" noGrp="1"/>
          </p:cNvSpPr>
          <p:nvPr/>
        </p:nvSpPr>
        <p:spPr>
          <a:xfrm xmlns:a="http://schemas.openxmlformats.org/drawingml/2006/main">
            <a:off x="68580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6" name="">
            <a:extLst xmlns:a="http://schemas.openxmlformats.org/drawingml/2006/main">
              <a:ext uri="{FF2B5EF4-FFF2-40B4-BE49-F238E27FC236}">
                <a16:creationId xmlns:a16="http://schemas.microsoft.com/office/drawing/2014/main" id="{0A42004A-9ED4-4CCE-A91B-C453E89BCA10}"/>
              </a:ext>
            </a:extLst>
          </p:cNvPr>
          <p:cNvSpPr>
            <a:spLocks xmlns:a="http://schemas.openxmlformats.org/drawingml/2006/main" noGrp="1"/>
          </p:cNvSpPr>
          <p:nvPr/>
        </p:nvSpPr>
        <p:spPr>
          <a:xfrm xmlns:a="http://schemas.openxmlformats.org/drawingml/2006/main">
            <a:off x="78105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Donation registered</a:t>
            </a:r>
          </a:p>
        </p:txBody>
      </p:sp>
      <p:sp>
        <p:nvSpPr>
          <p:cNvPr id="7" name="">
            <a:extLst xmlns:a="http://schemas.openxmlformats.org/drawingml/2006/main">
              <a:ext uri="{FF2B5EF4-FFF2-40B4-BE49-F238E27FC236}">
                <a16:creationId xmlns:a16="http://schemas.microsoft.com/office/drawing/2014/main" id="{81B72C06-33EE-4FB4-9D8E-DA7248F12C5F}"/>
              </a:ext>
            </a:extLst>
          </p:cNvPr>
          <p:cNvSpPr>
            <a:spLocks xmlns:a="http://schemas.openxmlformats.org/drawingml/2006/main" noGrp="1"/>
          </p:cNvSpPr>
          <p:nvPr/>
        </p:nvSpPr>
        <p:spPr>
          <a:xfrm xmlns:a="http://schemas.openxmlformats.org/drawingml/2006/main">
            <a:off x="78105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donor submits details</a:t>
            </a:r>
          </a:p>
        </p:txBody>
      </p:sp>
      <p:sp>
        <p:nvSpPr>
          <p:cNvPr id="8" name="">
            <a:extLst xmlns:a="http://schemas.openxmlformats.org/drawingml/2006/main">
              <a:ext uri="{FF2B5EF4-FFF2-40B4-BE49-F238E27FC236}">
                <a16:creationId xmlns:a16="http://schemas.microsoft.com/office/drawing/2014/main" id="{C5CC7FE8-9E09-4BC6-88DB-D2148AC0BD5B}"/>
              </a:ext>
            </a:extLst>
          </p:cNvPr>
          <p:cNvSpPr>
            <a:spLocks xmlns:a="http://schemas.openxmlformats.org/drawingml/2006/main" noGrp="1"/>
          </p:cNvSpPr>
          <p:nvPr/>
        </p:nvSpPr>
        <p:spPr>
          <a:xfrm xmlns:a="http://schemas.openxmlformats.org/drawingml/2006/main">
            <a:off x="217170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9" name="flow-Engine ranks recipients">
            <a:extLst xmlns:a="http://schemas.openxmlformats.org/drawingml/2006/main">
              <a:ext uri="{FF2B5EF4-FFF2-40B4-BE49-F238E27FC236}">
                <a16:creationId xmlns:a16="http://schemas.microsoft.com/office/drawing/2014/main" id="{D82AE36B-52AC-458C-94A2-C7B43654E913}"/>
              </a:ext>
            </a:extLst>
          </p:cNvPr>
          <p:cNvSpPr>
            <a:spLocks xmlns:a="http://schemas.openxmlformats.org/drawingml/2006/main" noGrp="1"/>
          </p:cNvSpPr>
          <p:nvPr/>
        </p:nvSpPr>
        <p:spPr>
          <a:xfrm xmlns:a="http://schemas.openxmlformats.org/drawingml/2006/main">
            <a:off x="245745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10" name="">
            <a:extLst xmlns:a="http://schemas.openxmlformats.org/drawingml/2006/main">
              <a:ext uri="{FF2B5EF4-FFF2-40B4-BE49-F238E27FC236}">
                <a16:creationId xmlns:a16="http://schemas.microsoft.com/office/drawing/2014/main" id="{9EFABDAE-E97F-40AB-A388-7660FD1BA47C}"/>
              </a:ext>
            </a:extLst>
          </p:cNvPr>
          <p:cNvSpPr>
            <a:spLocks xmlns:a="http://schemas.openxmlformats.org/drawingml/2006/main" noGrp="1"/>
          </p:cNvSpPr>
          <p:nvPr/>
        </p:nvSpPr>
        <p:spPr>
          <a:xfrm xmlns:a="http://schemas.openxmlformats.org/drawingml/2006/main">
            <a:off x="255270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Engine ranks recipients</a:t>
            </a:r>
          </a:p>
        </p:txBody>
      </p:sp>
      <p:sp>
        <p:nvSpPr>
          <p:cNvPr id="11" name="">
            <a:extLst xmlns:a="http://schemas.openxmlformats.org/drawingml/2006/main">
              <a:ext uri="{FF2B5EF4-FFF2-40B4-BE49-F238E27FC236}">
                <a16:creationId xmlns:a16="http://schemas.microsoft.com/office/drawing/2014/main" id="{D3A09F6D-F4E5-4C81-AA3F-F6954754675D}"/>
              </a:ext>
            </a:extLst>
          </p:cNvPr>
          <p:cNvSpPr>
            <a:spLocks xmlns:a="http://schemas.openxmlformats.org/drawingml/2006/main" noGrp="1"/>
          </p:cNvSpPr>
          <p:nvPr/>
        </p:nvSpPr>
        <p:spPr>
          <a:xfrm xmlns:a="http://schemas.openxmlformats.org/drawingml/2006/main">
            <a:off x="255270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constraints, then scoring</a:t>
            </a:r>
          </a:p>
        </p:txBody>
      </p:sp>
      <p:sp>
        <p:nvSpPr>
          <p:cNvPr id="12" name="">
            <a:extLst xmlns:a="http://schemas.openxmlformats.org/drawingml/2006/main">
              <a:ext uri="{FF2B5EF4-FFF2-40B4-BE49-F238E27FC236}">
                <a16:creationId xmlns:a16="http://schemas.microsoft.com/office/drawing/2014/main" id="{8AE92F97-B388-4153-B7D8-DC6FF5B819F6}"/>
              </a:ext>
            </a:extLst>
          </p:cNvPr>
          <p:cNvSpPr>
            <a:spLocks xmlns:a="http://schemas.openxmlformats.org/drawingml/2006/main" noGrp="1"/>
          </p:cNvSpPr>
          <p:nvPr/>
        </p:nvSpPr>
        <p:spPr>
          <a:xfrm xmlns:a="http://schemas.openxmlformats.org/drawingml/2006/main">
            <a:off x="394335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3" name="flow-Recipient accepts">
            <a:extLst xmlns:a="http://schemas.openxmlformats.org/drawingml/2006/main">
              <a:ext uri="{FF2B5EF4-FFF2-40B4-BE49-F238E27FC236}">
                <a16:creationId xmlns:a16="http://schemas.microsoft.com/office/drawing/2014/main" id="{297BCCBF-3D61-435E-9541-39A4CF5E2120}"/>
              </a:ext>
            </a:extLst>
          </p:cNvPr>
          <p:cNvSpPr>
            <a:spLocks xmlns:a="http://schemas.openxmlformats.org/drawingml/2006/main" noGrp="1"/>
          </p:cNvSpPr>
          <p:nvPr/>
        </p:nvSpPr>
        <p:spPr>
          <a:xfrm xmlns:a="http://schemas.openxmlformats.org/drawingml/2006/main">
            <a:off x="422910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14" name="">
            <a:extLst xmlns:a="http://schemas.openxmlformats.org/drawingml/2006/main">
              <a:ext uri="{FF2B5EF4-FFF2-40B4-BE49-F238E27FC236}">
                <a16:creationId xmlns:a16="http://schemas.microsoft.com/office/drawing/2014/main" id="{9C8DE7D7-A96F-493C-A72A-F456F039E6C5}"/>
              </a:ext>
            </a:extLst>
          </p:cNvPr>
          <p:cNvSpPr>
            <a:spLocks xmlns:a="http://schemas.openxmlformats.org/drawingml/2006/main" noGrp="1"/>
          </p:cNvSpPr>
          <p:nvPr/>
        </p:nvSpPr>
        <p:spPr>
          <a:xfrm xmlns:a="http://schemas.openxmlformats.org/drawingml/2006/main">
            <a:off x="432435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Recipient accepts</a:t>
            </a:r>
          </a:p>
        </p:txBody>
      </p:sp>
      <p:sp>
        <p:nvSpPr>
          <p:cNvPr id="15" name="">
            <a:extLst xmlns:a="http://schemas.openxmlformats.org/drawingml/2006/main">
              <a:ext uri="{FF2B5EF4-FFF2-40B4-BE49-F238E27FC236}">
                <a16:creationId xmlns:a16="http://schemas.microsoft.com/office/drawing/2014/main" id="{A7492570-A0CF-43F5-9F6B-8A054176F8D0}"/>
              </a:ext>
            </a:extLst>
          </p:cNvPr>
          <p:cNvSpPr>
            <a:spLocks xmlns:a="http://schemas.openxmlformats.org/drawingml/2006/main" noGrp="1"/>
          </p:cNvSpPr>
          <p:nvPr/>
        </p:nvSpPr>
        <p:spPr>
          <a:xfrm xmlns:a="http://schemas.openxmlformats.org/drawingml/2006/main">
            <a:off x="432435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decision visible</a:t>
            </a:r>
          </a:p>
        </p:txBody>
      </p:sp>
      <p:sp>
        <p:nvSpPr>
          <p:cNvPr id="16" name="">
            <a:extLst xmlns:a="http://schemas.openxmlformats.org/drawingml/2006/main">
              <a:ext uri="{FF2B5EF4-FFF2-40B4-BE49-F238E27FC236}">
                <a16:creationId xmlns:a16="http://schemas.microsoft.com/office/drawing/2014/main" id="{D2202C63-51FD-4ABE-AD11-C59E4640B312}"/>
              </a:ext>
            </a:extLst>
          </p:cNvPr>
          <p:cNvSpPr>
            <a:spLocks xmlns:a="http://schemas.openxmlformats.org/drawingml/2006/main" noGrp="1"/>
          </p:cNvSpPr>
          <p:nvPr/>
        </p:nvSpPr>
        <p:spPr>
          <a:xfrm xmlns:a="http://schemas.openxmlformats.org/drawingml/2006/main">
            <a:off x="571500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7" name="flow-Volunteer collects">
            <a:extLst xmlns:a="http://schemas.openxmlformats.org/drawingml/2006/main">
              <a:ext uri="{FF2B5EF4-FFF2-40B4-BE49-F238E27FC236}">
                <a16:creationId xmlns:a16="http://schemas.microsoft.com/office/drawing/2014/main" id="{530D18E1-7E02-4AE9-A292-C54659144B6A}"/>
              </a:ext>
            </a:extLst>
          </p:cNvPr>
          <p:cNvSpPr>
            <a:spLocks xmlns:a="http://schemas.openxmlformats.org/drawingml/2006/main" noGrp="1"/>
          </p:cNvSpPr>
          <p:nvPr/>
        </p:nvSpPr>
        <p:spPr>
          <a:xfrm xmlns:a="http://schemas.openxmlformats.org/drawingml/2006/main">
            <a:off x="600075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18" name="">
            <a:extLst xmlns:a="http://schemas.openxmlformats.org/drawingml/2006/main">
              <a:ext uri="{FF2B5EF4-FFF2-40B4-BE49-F238E27FC236}">
                <a16:creationId xmlns:a16="http://schemas.microsoft.com/office/drawing/2014/main" id="{DCC161B8-D96F-4725-AC77-E43DF35C384A}"/>
              </a:ext>
            </a:extLst>
          </p:cNvPr>
          <p:cNvSpPr>
            <a:spLocks xmlns:a="http://schemas.openxmlformats.org/drawingml/2006/main" noGrp="1"/>
          </p:cNvSpPr>
          <p:nvPr/>
        </p:nvSpPr>
        <p:spPr>
          <a:xfrm xmlns:a="http://schemas.openxmlformats.org/drawingml/2006/main">
            <a:off x="609600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Volunteer collects</a:t>
            </a:r>
          </a:p>
        </p:txBody>
      </p:sp>
      <p:sp>
        <p:nvSpPr>
          <p:cNvPr id="19" name="">
            <a:extLst xmlns:a="http://schemas.openxmlformats.org/drawingml/2006/main">
              <a:ext uri="{FF2B5EF4-FFF2-40B4-BE49-F238E27FC236}">
                <a16:creationId xmlns:a16="http://schemas.microsoft.com/office/drawing/2014/main" id="{5AE18CBA-1707-47CA-B66D-07796B95C2AE}"/>
              </a:ext>
            </a:extLst>
          </p:cNvPr>
          <p:cNvSpPr>
            <a:spLocks xmlns:a="http://schemas.openxmlformats.org/drawingml/2006/main" noGrp="1"/>
          </p:cNvSpPr>
          <p:nvPr/>
        </p:nvSpPr>
        <p:spPr>
          <a:xfrm xmlns:a="http://schemas.openxmlformats.org/drawingml/2006/main">
            <a:off x="609600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matched by distance</a:t>
            </a:r>
          </a:p>
        </p:txBody>
      </p:sp>
      <p:sp>
        <p:nvSpPr>
          <p:cNvPr id="20" name="">
            <a:extLst xmlns:a="http://schemas.openxmlformats.org/drawingml/2006/main">
              <a:ext uri="{FF2B5EF4-FFF2-40B4-BE49-F238E27FC236}">
                <a16:creationId xmlns:a16="http://schemas.microsoft.com/office/drawing/2014/main" id="{6C7BC9E7-FAFD-4362-97A3-EE99CD56980A}"/>
              </a:ext>
            </a:extLst>
          </p:cNvPr>
          <p:cNvSpPr>
            <a:spLocks xmlns:a="http://schemas.openxmlformats.org/drawingml/2006/main" noGrp="1"/>
          </p:cNvSpPr>
          <p:nvPr/>
        </p:nvSpPr>
        <p:spPr>
          <a:xfrm xmlns:a="http://schemas.openxmlformats.org/drawingml/2006/main">
            <a:off x="748665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21" name="flow-Delivered">
            <a:extLst xmlns:a="http://schemas.openxmlformats.org/drawingml/2006/main">
              <a:ext uri="{FF2B5EF4-FFF2-40B4-BE49-F238E27FC236}">
                <a16:creationId xmlns:a16="http://schemas.microsoft.com/office/drawing/2014/main" id="{8EFFF1DC-CB41-47D4-9EC2-F2CA63935B88}"/>
              </a:ext>
            </a:extLst>
          </p:cNvPr>
          <p:cNvSpPr>
            <a:spLocks xmlns:a="http://schemas.openxmlformats.org/drawingml/2006/main" noGrp="1"/>
          </p:cNvSpPr>
          <p:nvPr/>
        </p:nvSpPr>
        <p:spPr>
          <a:xfrm xmlns:a="http://schemas.openxmlformats.org/drawingml/2006/main">
            <a:off x="777240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22" name="">
            <a:extLst xmlns:a="http://schemas.openxmlformats.org/drawingml/2006/main">
              <a:ext uri="{FF2B5EF4-FFF2-40B4-BE49-F238E27FC236}">
                <a16:creationId xmlns:a16="http://schemas.microsoft.com/office/drawing/2014/main" id="{E6FCFE44-B88F-42FB-B6FE-2300F113E1D9}"/>
              </a:ext>
            </a:extLst>
          </p:cNvPr>
          <p:cNvSpPr>
            <a:spLocks xmlns:a="http://schemas.openxmlformats.org/drawingml/2006/main" noGrp="1"/>
          </p:cNvSpPr>
          <p:nvPr/>
        </p:nvSpPr>
        <p:spPr>
          <a:xfrm xmlns:a="http://schemas.openxmlformats.org/drawingml/2006/main">
            <a:off x="786765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Delivered</a:t>
            </a:r>
          </a:p>
        </p:txBody>
      </p:sp>
      <p:sp>
        <p:nvSpPr>
          <p:cNvPr id="23" name="">
            <a:extLst xmlns:a="http://schemas.openxmlformats.org/drawingml/2006/main">
              <a:ext uri="{FF2B5EF4-FFF2-40B4-BE49-F238E27FC236}">
                <a16:creationId xmlns:a16="http://schemas.microsoft.com/office/drawing/2014/main" id="{87161F6A-8A2B-4019-984F-BB8EB6DD1930}"/>
              </a:ext>
            </a:extLst>
          </p:cNvPr>
          <p:cNvSpPr>
            <a:spLocks xmlns:a="http://schemas.openxmlformats.org/drawingml/2006/main" noGrp="1"/>
          </p:cNvSpPr>
          <p:nvPr/>
        </p:nvSpPr>
        <p:spPr>
          <a:xfrm xmlns:a="http://schemas.openxmlformats.org/drawingml/2006/main">
            <a:off x="786765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tracked to handover</a:t>
            </a:r>
          </a:p>
        </p:txBody>
      </p:sp>
      <p:sp>
        <p:nvSpPr>
          <p:cNvPr id="24" name="">
            <a:extLst xmlns:a="http://schemas.openxmlformats.org/drawingml/2006/main">
              <a:ext uri="{FF2B5EF4-FFF2-40B4-BE49-F238E27FC236}">
                <a16:creationId xmlns:a16="http://schemas.microsoft.com/office/drawing/2014/main" id="{11DAAE27-590A-431B-9FF5-A100331E52FD}"/>
              </a:ext>
            </a:extLst>
          </p:cNvPr>
          <p:cNvSpPr>
            <a:spLocks xmlns:a="http://schemas.openxmlformats.org/drawingml/2006/main" noGrp="1"/>
          </p:cNvSpPr>
          <p:nvPr/>
        </p:nvSpPr>
        <p:spPr>
          <a:xfrm xmlns:a="http://schemas.openxmlformats.org/drawingml/2006/main">
            <a:off x="9258300" y="2457450"/>
            <a:ext cx="2286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25" name="flow-Reports update">
            <a:extLst xmlns:a="http://schemas.openxmlformats.org/drawingml/2006/main">
              <a:ext uri="{FF2B5EF4-FFF2-40B4-BE49-F238E27FC236}">
                <a16:creationId xmlns:a16="http://schemas.microsoft.com/office/drawing/2014/main" id="{B1ACAE33-BD8D-410A-87FB-38B8FB3E92E5}"/>
              </a:ext>
            </a:extLst>
          </p:cNvPr>
          <p:cNvSpPr>
            <a:spLocks xmlns:a="http://schemas.openxmlformats.org/drawingml/2006/main" noGrp="1"/>
          </p:cNvSpPr>
          <p:nvPr/>
        </p:nvSpPr>
        <p:spPr>
          <a:xfrm xmlns:a="http://schemas.openxmlformats.org/drawingml/2006/main">
            <a:off x="9544050" y="2038350"/>
            <a:ext cx="1428750" cy="9906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E1E5EA"/>
            </a:solidFill>
            <a:prstDash val="solid"/>
          </a:ln>
        </p:spPr>
      </p:sp>
      <p:sp>
        <p:nvSpPr>
          <p:cNvPr id="26" name="">
            <a:extLst xmlns:a="http://schemas.openxmlformats.org/drawingml/2006/main">
              <a:ext uri="{FF2B5EF4-FFF2-40B4-BE49-F238E27FC236}">
                <a16:creationId xmlns:a16="http://schemas.microsoft.com/office/drawing/2014/main" id="{E2D8B3F5-8EA1-40DA-95C4-F4A5A4E51AA3}"/>
              </a:ext>
            </a:extLst>
          </p:cNvPr>
          <p:cNvSpPr>
            <a:spLocks xmlns:a="http://schemas.openxmlformats.org/drawingml/2006/main" noGrp="1"/>
          </p:cNvSpPr>
          <p:nvPr/>
        </p:nvSpPr>
        <p:spPr>
          <a:xfrm xmlns:a="http://schemas.openxmlformats.org/drawingml/2006/main">
            <a:off x="9639300" y="217170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Reports update</a:t>
            </a:r>
          </a:p>
        </p:txBody>
      </p:sp>
      <p:sp>
        <p:nvSpPr>
          <p:cNvPr id="27" name="">
            <a:extLst xmlns:a="http://schemas.openxmlformats.org/drawingml/2006/main">
              <a:ext uri="{FF2B5EF4-FFF2-40B4-BE49-F238E27FC236}">
                <a16:creationId xmlns:a16="http://schemas.microsoft.com/office/drawing/2014/main" id="{B7D7B793-D6A7-4CF3-ADF7-3AC71EBE3D30}"/>
              </a:ext>
            </a:extLst>
          </p:cNvPr>
          <p:cNvSpPr>
            <a:spLocks xmlns:a="http://schemas.openxmlformats.org/drawingml/2006/main" noGrp="1"/>
          </p:cNvSpPr>
          <p:nvPr/>
        </p:nvSpPr>
        <p:spPr>
          <a:xfrm xmlns:a="http://schemas.openxmlformats.org/drawingml/2006/main">
            <a:off x="9639300" y="2533650"/>
            <a:ext cx="123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38" b="0">
                <a:solidFill>
                  <a:srgbClr val="52606F"/>
                </a:solidFill>
                <a:latin typeface="Arial"/>
                <a:ea typeface="Arial"/>
                <a:cs typeface="Arial"/>
              </a:defRPr>
            </a:defPPr>
          </a:lstStyle>
          <a:p xmlns:a="http://schemas.openxmlformats.org/drawingml/2006/main">
            <a:pPr>
              <a:defRPr sz="938" b="0">
                <a:solidFill>
                  <a:srgbClr val="52606F"/>
                </a:solidFill>
                <a:latin typeface="Arial"/>
                <a:ea typeface="Arial"/>
                <a:cs typeface="Arial"/>
              </a:defRPr>
            </a:pPr>
            <a:r>
              <a:rPr sz="938" b="0">
                <a:solidFill>
                  <a:srgbClr val="52606F"/>
                </a:solidFill>
                <a:latin typeface="Arial"/>
                <a:ea typeface="Arial"/>
                <a:cs typeface="Arial"/>
              </a:rPr>
              <a:t>rescues and audit</a:t>
            </a:r>
          </a:p>
        </p:txBody>
      </p:sp>
      <p:sp>
        <p:nvSpPr>
          <p:cNvPr id="28" name="">
            <a:extLst xmlns:a="http://schemas.openxmlformats.org/drawingml/2006/main">
              <a:ext uri="{FF2B5EF4-FFF2-40B4-BE49-F238E27FC236}">
                <a16:creationId xmlns:a16="http://schemas.microsoft.com/office/drawing/2014/main" id="{31730B61-9FFF-496B-80BB-808F7077EC79}"/>
              </a:ext>
            </a:extLst>
          </p:cNvPr>
          <p:cNvSpPr>
            <a:spLocks xmlns:a="http://schemas.openxmlformats.org/drawingml/2006/main" noGrp="1"/>
          </p:cNvSpPr>
          <p:nvPr/>
        </p:nvSpPr>
        <p:spPr>
          <a:xfrm xmlns:a="http://schemas.openxmlformats.org/drawingml/2006/main">
            <a:off x="685800" y="3543300"/>
            <a:ext cx="1082040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425">
                <a:solidFill>
                  <a:srgbClr val="131A24"/>
                </a:solidFill>
                <a:latin typeface="Arial"/>
                <a:ea typeface="Arial"/>
                <a:cs typeface="Arial"/>
              </a:defRPr>
            </a:defPPr>
          </a:lstStyle>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The workflow proceeds from donation registration to a confirmed delivery, with the allocation decision recorded at each stage.</a:t>
            </a:r>
          </a:p>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Each role workspace exposes only the functions that the actor is authorised to perform.</a:t>
            </a:r>
          </a:p>
          <a:p xmlns:a="http://schemas.openxmlformats.org/drawingml/2006/main">
            <a:pPr marL="228600" indent="-114300">
              <a:spcAft>
                <a:spcPts val="1600"/>
              </a:spcAft>
              <a:buChar char="•"/>
              <a:defRPr sz="1425">
                <a:solidFill>
                  <a:srgbClr val="131A24"/>
                </a:solidFill>
                <a:latin typeface="Arial"/>
                <a:ea typeface="Arial"/>
                <a:cs typeface="Arial"/>
              </a:defRPr>
            </a:pPr>
            <a:r>
              <a:rPr sz="1425">
                <a:solidFill>
                  <a:srgbClr val="131A24"/>
                </a:solidFill>
                <a:latin typeface="Arial"/>
                <a:ea typeface="Arial"/>
                <a:cs typeface="Arial"/>
              </a:rPr>
              <a:t>The engine operates on the server; the browser presents decisions and collects responses.</a:t>
            </a:r>
          </a:p>
        </p:txBody>
      </p:sp>
    </p:spTree>
    <p:extLst>
      <p:ext uri="{BB962C8B-B14F-4D97-AF65-F5344CB8AC3E}">
        <p14:creationId xmlns:p14="http://schemas.microsoft.com/office/powerpoint/2010/main" val="141119904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81D211A-1426-4FEE-B80D-13A8AC5393E8}"/>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5 / 10</a:t>
            </a:r>
          </a:p>
        </p:txBody>
      </p:sp>
      <p:sp>
        <p:nvSpPr>
          <p:cNvPr id="2" name="slide-title">
            <a:extLst xmlns:a="http://schemas.openxmlformats.org/drawingml/2006/main">
              <a:ext uri="{FF2B5EF4-FFF2-40B4-BE49-F238E27FC236}">
                <a16:creationId xmlns:a16="http://schemas.microsoft.com/office/drawing/2014/main" id="{D566BEC3-74A6-45A6-B0B7-9A3E66CA6F77}"/>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Allocation methodology</a:t>
            </a:r>
          </a:p>
        </p:txBody>
      </p:sp>
      <p:sp>
        <p:nvSpPr>
          <p:cNvPr id="3" name="slide-lead">
            <a:extLst xmlns:a="http://schemas.openxmlformats.org/drawingml/2006/main">
              <a:ext uri="{FF2B5EF4-FFF2-40B4-BE49-F238E27FC236}">
                <a16:creationId xmlns:a16="http://schemas.microsoft.com/office/drawing/2014/main" id="{F00743D5-B894-44D9-B819-9E078CC27E29}"/>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Four eligibility constraints are applied first; six weighted factors then determine the ranking.</a:t>
            </a:r>
          </a:p>
        </p:txBody>
      </p:sp>
      <p:sp>
        <p:nvSpPr>
          <p:cNvPr id="4" name="title-rule">
            <a:extLst xmlns:a="http://schemas.openxmlformats.org/drawingml/2006/main">
              <a:ext uri="{FF2B5EF4-FFF2-40B4-BE49-F238E27FC236}">
                <a16:creationId xmlns:a16="http://schemas.microsoft.com/office/drawing/2014/main" id="{B5666BE3-894A-4A0D-911B-CFDB61F99D32}"/>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flow-Verified organization">
            <a:extLst xmlns:a="http://schemas.openxmlformats.org/drawingml/2006/main">
              <a:ext uri="{FF2B5EF4-FFF2-40B4-BE49-F238E27FC236}">
                <a16:creationId xmlns:a16="http://schemas.microsoft.com/office/drawing/2014/main" id="{806FC91E-402B-40EE-AF77-831090CE0570}"/>
              </a:ext>
            </a:extLst>
          </p:cNvPr>
          <p:cNvSpPr>
            <a:spLocks xmlns:a="http://schemas.openxmlformats.org/drawingml/2006/main" noGrp="1"/>
          </p:cNvSpPr>
          <p:nvPr/>
        </p:nvSpPr>
        <p:spPr>
          <a:xfrm xmlns:a="http://schemas.openxmlformats.org/drawingml/2006/main">
            <a:off x="6858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6" name="">
            <a:extLst xmlns:a="http://schemas.openxmlformats.org/drawingml/2006/main">
              <a:ext uri="{FF2B5EF4-FFF2-40B4-BE49-F238E27FC236}">
                <a16:creationId xmlns:a16="http://schemas.microsoft.com/office/drawing/2014/main" id="{3B32E60A-0C5C-4A84-B060-997BA27C1E7E}"/>
              </a:ext>
            </a:extLst>
          </p:cNvPr>
          <p:cNvSpPr>
            <a:spLocks xmlns:a="http://schemas.openxmlformats.org/drawingml/2006/main" noGrp="1"/>
          </p:cNvSpPr>
          <p:nvPr/>
        </p:nvSpPr>
        <p:spPr>
          <a:xfrm xmlns:a="http://schemas.openxmlformats.org/drawingml/2006/main">
            <a:off x="7810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Verified organization</a:t>
            </a:r>
          </a:p>
        </p:txBody>
      </p:sp>
      <p:sp>
        <p:nvSpPr>
          <p:cNvPr id="7" name="">
            <a:extLst xmlns:a="http://schemas.openxmlformats.org/drawingml/2006/main">
              <a:ext uri="{FF2B5EF4-FFF2-40B4-BE49-F238E27FC236}">
                <a16:creationId xmlns:a16="http://schemas.microsoft.com/office/drawing/2014/main" id="{F670BE05-992E-45B8-8D1B-484F80FA9834}"/>
              </a:ext>
            </a:extLst>
          </p:cNvPr>
          <p:cNvSpPr>
            <a:spLocks xmlns:a="http://schemas.openxmlformats.org/drawingml/2006/main" noGrp="1"/>
          </p:cNvSpPr>
          <p:nvPr/>
        </p:nvSpPr>
        <p:spPr>
          <a:xfrm xmlns:a="http://schemas.openxmlformats.org/drawingml/2006/main">
            <a:off x="3028950" y="2085975"/>
            <a:ext cx="4191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8" name="flow-Sufficient free storage">
            <a:extLst xmlns:a="http://schemas.openxmlformats.org/drawingml/2006/main">
              <a:ext uri="{FF2B5EF4-FFF2-40B4-BE49-F238E27FC236}">
                <a16:creationId xmlns:a16="http://schemas.microsoft.com/office/drawing/2014/main" id="{03993384-7629-4877-8B96-2AEBE25FD7AC}"/>
              </a:ext>
            </a:extLst>
          </p:cNvPr>
          <p:cNvSpPr>
            <a:spLocks xmlns:a="http://schemas.openxmlformats.org/drawingml/2006/main" noGrp="1"/>
          </p:cNvSpPr>
          <p:nvPr/>
        </p:nvSpPr>
        <p:spPr>
          <a:xfrm xmlns:a="http://schemas.openxmlformats.org/drawingml/2006/main">
            <a:off x="35052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9" name="">
            <a:extLst xmlns:a="http://schemas.openxmlformats.org/drawingml/2006/main">
              <a:ext uri="{FF2B5EF4-FFF2-40B4-BE49-F238E27FC236}">
                <a16:creationId xmlns:a16="http://schemas.microsoft.com/office/drawing/2014/main" id="{AF49C5DC-E8CE-463A-87CB-D763935C372C}"/>
              </a:ext>
            </a:extLst>
          </p:cNvPr>
          <p:cNvSpPr>
            <a:spLocks xmlns:a="http://schemas.openxmlformats.org/drawingml/2006/main" noGrp="1"/>
          </p:cNvSpPr>
          <p:nvPr/>
        </p:nvSpPr>
        <p:spPr>
          <a:xfrm xmlns:a="http://schemas.openxmlformats.org/drawingml/2006/main">
            <a:off x="36004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Sufficient free storage</a:t>
            </a:r>
          </a:p>
        </p:txBody>
      </p:sp>
      <p:sp>
        <p:nvSpPr>
          <p:cNvPr id="10" name="">
            <a:extLst xmlns:a="http://schemas.openxmlformats.org/drawingml/2006/main">
              <a:ext uri="{FF2B5EF4-FFF2-40B4-BE49-F238E27FC236}">
                <a16:creationId xmlns:a16="http://schemas.microsoft.com/office/drawing/2014/main" id="{C8489F76-2CAB-4344-AF10-8726640F844D}"/>
              </a:ext>
            </a:extLst>
          </p:cNvPr>
          <p:cNvSpPr>
            <a:spLocks xmlns:a="http://schemas.openxmlformats.org/drawingml/2006/main" noGrp="1"/>
          </p:cNvSpPr>
          <p:nvPr/>
        </p:nvSpPr>
        <p:spPr>
          <a:xfrm xmlns:a="http://schemas.openxmlformats.org/drawingml/2006/main">
            <a:off x="5848350" y="2085975"/>
            <a:ext cx="4191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1" name="flow-Category accepted">
            <a:extLst xmlns:a="http://schemas.openxmlformats.org/drawingml/2006/main">
              <a:ext uri="{FF2B5EF4-FFF2-40B4-BE49-F238E27FC236}">
                <a16:creationId xmlns:a16="http://schemas.microsoft.com/office/drawing/2014/main" id="{7E5B46A0-03AE-4232-8FBD-6014BDA309EF}"/>
              </a:ext>
            </a:extLst>
          </p:cNvPr>
          <p:cNvSpPr>
            <a:spLocks xmlns:a="http://schemas.openxmlformats.org/drawingml/2006/main" noGrp="1"/>
          </p:cNvSpPr>
          <p:nvPr/>
        </p:nvSpPr>
        <p:spPr>
          <a:xfrm xmlns:a="http://schemas.openxmlformats.org/drawingml/2006/main">
            <a:off x="63246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12" name="">
            <a:extLst xmlns:a="http://schemas.openxmlformats.org/drawingml/2006/main">
              <a:ext uri="{FF2B5EF4-FFF2-40B4-BE49-F238E27FC236}">
                <a16:creationId xmlns:a16="http://schemas.microsoft.com/office/drawing/2014/main" id="{8C9C9CBE-898E-453C-8D59-0A1B3C6B6E8D}"/>
              </a:ext>
            </a:extLst>
          </p:cNvPr>
          <p:cNvSpPr>
            <a:spLocks xmlns:a="http://schemas.openxmlformats.org/drawingml/2006/main" noGrp="1"/>
          </p:cNvSpPr>
          <p:nvPr/>
        </p:nvSpPr>
        <p:spPr>
          <a:xfrm xmlns:a="http://schemas.openxmlformats.org/drawingml/2006/main">
            <a:off x="64198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Category accepted</a:t>
            </a:r>
          </a:p>
        </p:txBody>
      </p:sp>
      <p:sp>
        <p:nvSpPr>
          <p:cNvPr id="13" name="">
            <a:extLst xmlns:a="http://schemas.openxmlformats.org/drawingml/2006/main">
              <a:ext uri="{FF2B5EF4-FFF2-40B4-BE49-F238E27FC236}">
                <a16:creationId xmlns:a16="http://schemas.microsoft.com/office/drawing/2014/main" id="{9562DA42-E0ED-4175-85E3-A90B72E61E30}"/>
              </a:ext>
            </a:extLst>
          </p:cNvPr>
          <p:cNvSpPr>
            <a:spLocks xmlns:a="http://schemas.openxmlformats.org/drawingml/2006/main" noGrp="1"/>
          </p:cNvSpPr>
          <p:nvPr/>
        </p:nvSpPr>
        <p:spPr>
          <a:xfrm xmlns:a="http://schemas.openxmlformats.org/drawingml/2006/main">
            <a:off x="8667750" y="2085975"/>
            <a:ext cx="419100" cy="152400"/>
          </a:xfrm>
          <a:prstGeom xmlns:a="http://schemas.openxmlformats.org/drawingml/2006/main" prst="rightArrow">
            <a:avLst/>
          </a:prstGeom>
          <a:solidFill xmlns:a="http://schemas.openxmlformats.org/drawingml/2006/main">
            <a:srgbClr val="8A94A3"/>
          </a:solidFill>
          <a:ln xmlns:a="http://schemas.openxmlformats.org/drawingml/2006/main" w="0">
            <a:noFill/>
            <a:prstDash val="solid"/>
          </a:ln>
        </p:spPr>
      </p:sp>
      <p:sp>
        <p:nvSpPr>
          <p:cNvPr id="14" name="flow-Safe arrival feasible">
            <a:extLst xmlns:a="http://schemas.openxmlformats.org/drawingml/2006/main">
              <a:ext uri="{FF2B5EF4-FFF2-40B4-BE49-F238E27FC236}">
                <a16:creationId xmlns:a16="http://schemas.microsoft.com/office/drawing/2014/main" id="{B09F98ED-4789-4358-811B-0047C9A85019}"/>
              </a:ext>
            </a:extLst>
          </p:cNvPr>
          <p:cNvSpPr>
            <a:spLocks xmlns:a="http://schemas.openxmlformats.org/drawingml/2006/main" noGrp="1"/>
          </p:cNvSpPr>
          <p:nvPr/>
        </p:nvSpPr>
        <p:spPr>
          <a:xfrm xmlns:a="http://schemas.openxmlformats.org/drawingml/2006/main">
            <a:off x="9144000" y="1828800"/>
            <a:ext cx="2286000" cy="514350"/>
          </a:xfrm>
          <a:prstGeom xmlns:a="http://schemas.openxmlformats.org/drawingml/2006/main" prst="roundRect">
            <a:avLst>
              <a:gd name="adj" fmla="val 14815"/>
            </a:avLst>
          </a:prstGeom>
          <a:solidFill xmlns:a="http://schemas.openxmlformats.org/drawingml/2006/main">
            <a:srgbClr val="FFFFFF"/>
          </a:solidFill>
          <a:ln xmlns:a="http://schemas.openxmlformats.org/drawingml/2006/main" w="9525">
            <a:solidFill>
              <a:srgbClr val="E1E5EA"/>
            </a:solidFill>
            <a:prstDash val="solid"/>
          </a:ln>
        </p:spPr>
      </p:sp>
      <p:sp>
        <p:nvSpPr>
          <p:cNvPr id="15" name="">
            <a:extLst xmlns:a="http://schemas.openxmlformats.org/drawingml/2006/main">
              <a:ext uri="{FF2B5EF4-FFF2-40B4-BE49-F238E27FC236}">
                <a16:creationId xmlns:a16="http://schemas.microsoft.com/office/drawing/2014/main" id="{B971D58A-4F67-46B6-A360-12DA15FF7925}"/>
              </a:ext>
            </a:extLst>
          </p:cNvPr>
          <p:cNvSpPr>
            <a:spLocks xmlns:a="http://schemas.openxmlformats.org/drawingml/2006/main" noGrp="1"/>
          </p:cNvSpPr>
          <p:nvPr/>
        </p:nvSpPr>
        <p:spPr>
          <a:xfrm xmlns:a="http://schemas.openxmlformats.org/drawingml/2006/main">
            <a:off x="9239250" y="1962150"/>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131A24"/>
                </a:solidFill>
                <a:latin typeface="Arial"/>
                <a:ea typeface="Arial"/>
                <a:cs typeface="Arial"/>
              </a:defRPr>
            </a:defPPr>
          </a:lstStyle>
          <a:p xmlns:a="http://schemas.openxmlformats.org/drawingml/2006/main">
            <a:pPr>
              <a:defRPr sz="1125" b="1">
                <a:solidFill>
                  <a:srgbClr val="131A24"/>
                </a:solidFill>
                <a:latin typeface="Arial"/>
                <a:ea typeface="Arial"/>
                <a:cs typeface="Arial"/>
              </a:defRPr>
            </a:pPr>
            <a:r>
              <a:rPr sz="1125" b="1">
                <a:solidFill>
                  <a:srgbClr val="131A24"/>
                </a:solidFill>
                <a:latin typeface="Arial"/>
                <a:ea typeface="Arial"/>
                <a:cs typeface="Arial"/>
              </a:rPr>
              <a:t>Safe arrival feasible</a:t>
            </a:r>
          </a:p>
        </p:txBody>
      </p:sp>
      <p:graphicFrame>
        <p:nvGraphicFramePr>
          <p:cNvPr id="16" name="">
            <a:extLst xmlns:a="http://schemas.openxmlformats.org/drawingml/2006/main">
              <a:ext uri="{FF2B5EF4-FFF2-40B4-BE49-F238E27FC236}">
                <a16:creationId xmlns:a16="http://schemas.microsoft.com/office/drawing/2014/main" id="{CC02FCA8-65C1-4EB6-98B0-A4F32709074C}"/>
              </a:ext>
            </a:extLst>
          </p:cNvPr>
          <p:cNvGraphicFramePr/>
          <p:nvPr/>
        </p:nvGraphicFramePr>
        <p:xfrm>
          <a:off xmlns:a="http://schemas.openxmlformats.org/drawingml/2006/main" x="685800" y="2743200"/>
          <a:ext xmlns:a="http://schemas.openxmlformats.org/drawingml/2006/main" cx="10820400" cy="2857500"/>
        </p:xfrm>
        <a:graphic xmlns:a="http://schemas.openxmlformats.org/drawingml/2006/main">
          <a:graphicData uri="http://schemas.openxmlformats.org/drawingml/2006/table">
            <a:tbl>
              <a:tblPr/>
              <a:tblGrid>
                <a:gridCol w="2095500"/>
                <a:gridCol w="1047750"/>
                <a:gridCol w="7677150"/>
              </a:tblGrid>
              <a:tr h="408214">
                <a:tc>
                  <a:txBody>
                    <a:bodyPr>
                      <a:noAutofit/>
                    </a:bodyPr>
                    <a:lstStyle/>
                    <a:p>
                      <a:r>
                        <a:rPr sz="1125" b="1">
                          <a:solidFill>
                            <a:srgbClr val="131A24"/>
                          </a:solidFill>
                          <a:latin typeface="Arial"/>
                          <a:ea typeface="Arial"/>
                          <a:cs typeface="Arial"/>
                        </a:rPr>
                        <a:t>Factor</a:t>
                      </a:r>
                    </a:p>
                  </a:txBody>
                  <a:tcPr marL="91440" marR="91440" marT="45720" marB="45720">
                    <a:solidFill>
                      <a:srgbClr val="F5F7F8"/>
                    </a:solidFill>
                  </a:tcPr>
                </a:tc>
                <a:tc>
                  <a:txBody>
                    <a:bodyPr>
                      <a:noAutofit/>
                    </a:bodyPr>
                    <a:lstStyle/>
                    <a:p>
                      <a:r>
                        <a:rPr sz="1125" b="1">
                          <a:solidFill>
                            <a:srgbClr val="131A24"/>
                          </a:solidFill>
                          <a:latin typeface="Arial"/>
                          <a:ea typeface="Arial"/>
                          <a:cs typeface="Arial"/>
                        </a:rPr>
                        <a:t>Weight</a:t>
                      </a:r>
                    </a:p>
                  </a:txBody>
                  <a:tcPr marL="91440" marR="91440" marT="45720" marB="45720">
                    <a:solidFill>
                      <a:srgbClr val="F5F7F8"/>
                    </a:solidFill>
                  </a:tcPr>
                </a:tc>
                <a:tc>
                  <a:txBody>
                    <a:bodyPr>
                      <a:noAutofit/>
                    </a:bodyPr>
                    <a:lstStyle/>
                    <a:p>
                      <a:r>
                        <a:rPr sz="1125" b="1">
                          <a:solidFill>
                            <a:srgbClr val="131A24"/>
                          </a:solidFill>
                          <a:latin typeface="Arial"/>
                          <a:ea typeface="Arial"/>
                          <a:cs typeface="Arial"/>
                        </a:rPr>
                        <a:t>Basis of measurement</a:t>
                      </a:r>
                    </a:p>
                  </a:txBody>
                  <a:tcPr marL="91440" marR="91440" marT="45720" marB="45720">
                    <a:solidFill>
                      <a:srgbClr val="F5F7F8"/>
                    </a:solidFill>
                  </a:tcPr>
                </a:tc>
              </a:tr>
              <a:tr h="408214">
                <a:tc>
                  <a:txBody>
                    <a:bodyPr>
                      <a:noAutofit/>
                    </a:bodyPr>
                    <a:lstStyle/>
                    <a:p>
                      <a:r>
                        <a:rPr sz="1125">
                          <a:solidFill>
                            <a:srgbClr val="131A24"/>
                          </a:solidFill>
                          <a:latin typeface="Arial"/>
                          <a:ea typeface="Arial"/>
                          <a:cs typeface="Arial"/>
                        </a:rPr>
                        <a:t>Expiry urgency</a:t>
                      </a:r>
                    </a:p>
                  </a:txBody>
                  <a:tcPr marL="91440" marR="91440" marT="45720" marB="45720"/>
                </a:tc>
                <a:tc>
                  <a:txBody>
                    <a:bodyPr>
                      <a:noAutofit/>
                    </a:bodyPr>
                    <a:lstStyle/>
                    <a:p>
                      <a:r>
                        <a:rPr sz="1125">
                          <a:solidFill>
                            <a:srgbClr val="131A24"/>
                          </a:solidFill>
                          <a:latin typeface="Arial"/>
                          <a:ea typeface="Arial"/>
                          <a:cs typeface="Arial"/>
                        </a:rPr>
                        <a:t>25%</a:t>
                      </a:r>
                    </a:p>
                  </a:txBody>
                  <a:tcPr marL="91440" marR="91440" marT="45720" marB="45720"/>
                </a:tc>
                <a:tc>
                  <a:txBody>
                    <a:bodyPr>
                      <a:noAutofit/>
                    </a:bodyPr>
                    <a:lstStyle/>
                    <a:p>
                      <a:r>
                        <a:rPr sz="1125">
                          <a:solidFill>
                            <a:srgbClr val="131A24"/>
                          </a:solidFill>
                          <a:latin typeface="Arial"/>
                          <a:ea typeface="Arial"/>
                          <a:cs typeface="Arial"/>
                        </a:rPr>
                        <a:t>Time remaining before the food becomes unsafe, weighted by the recipient's collection speed</a:t>
                      </a:r>
                    </a:p>
                  </a:txBody>
                  <a:tcPr marL="91440" marR="91440" marT="45720" marB="45720"/>
                </a:tc>
              </a:tr>
              <a:tr h="408214">
                <a:tc>
                  <a:txBody>
                    <a:bodyPr>
                      <a:noAutofit/>
                    </a:bodyPr>
                    <a:lstStyle/>
                    <a:p>
                      <a:r>
                        <a:rPr sz="1125">
                          <a:solidFill>
                            <a:srgbClr val="131A24"/>
                          </a:solidFill>
                          <a:latin typeface="Arial"/>
                          <a:ea typeface="Arial"/>
                          <a:cs typeface="Arial"/>
                        </a:rPr>
                        <a:t>Demand match</a:t>
                      </a:r>
                    </a:p>
                  </a:txBody>
                  <a:tcPr marL="91440" marR="91440" marT="45720" marB="45720"/>
                </a:tc>
                <a:tc>
                  <a:txBody>
                    <a:bodyPr>
                      <a:noAutofit/>
                    </a:bodyPr>
                    <a:lstStyle/>
                    <a:p>
                      <a:r>
                        <a:rPr sz="1125">
                          <a:solidFill>
                            <a:srgbClr val="131A24"/>
                          </a:solidFill>
                          <a:latin typeface="Arial"/>
                          <a:ea typeface="Arial"/>
                          <a:cs typeface="Arial"/>
                        </a:rPr>
                        <a:t>20%</a:t>
                      </a:r>
                    </a:p>
                  </a:txBody>
                  <a:tcPr marL="91440" marR="91440" marT="45720" marB="45720"/>
                </a:tc>
                <a:tc>
                  <a:txBody>
                    <a:bodyPr>
                      <a:noAutofit/>
                    </a:bodyPr>
                    <a:lstStyle/>
                    <a:p>
                      <a:r>
                        <a:rPr sz="1125">
                          <a:solidFill>
                            <a:srgbClr val="131A24"/>
                          </a:solidFill>
                          <a:latin typeface="Arial"/>
                          <a:ea typeface="Arial"/>
                          <a:cs typeface="Arial"/>
                        </a:rPr>
                        <a:t>Correspondence between the donation quantity and the registered demand</a:t>
                      </a:r>
                    </a:p>
                  </a:txBody>
                  <a:tcPr marL="91440" marR="91440" marT="45720" marB="45720"/>
                </a:tc>
              </a:tr>
              <a:tr h="408214">
                <a:tc>
                  <a:txBody>
                    <a:bodyPr>
                      <a:noAutofit/>
                    </a:bodyPr>
                    <a:lstStyle/>
                    <a:p>
                      <a:r>
                        <a:rPr sz="1125">
                          <a:solidFill>
                            <a:srgbClr val="131A24"/>
                          </a:solidFill>
                          <a:latin typeface="Arial"/>
                          <a:ea typeface="Arial"/>
                          <a:cs typeface="Arial"/>
                        </a:rPr>
                        <a:t>Storage fit</a:t>
                      </a:r>
                    </a:p>
                  </a:txBody>
                  <a:tcPr marL="91440" marR="91440" marT="45720" marB="45720"/>
                </a:tc>
                <a:tc>
                  <a:txBody>
                    <a:bodyPr>
                      <a:noAutofit/>
                    </a:bodyPr>
                    <a:lstStyle/>
                    <a:p>
                      <a:r>
                        <a:rPr sz="1125">
                          <a:solidFill>
                            <a:srgbClr val="131A24"/>
                          </a:solidFill>
                          <a:latin typeface="Arial"/>
                          <a:ea typeface="Arial"/>
                          <a:cs typeface="Arial"/>
                        </a:rPr>
                        <a:t>15%</a:t>
                      </a:r>
                    </a:p>
                  </a:txBody>
                  <a:tcPr marL="91440" marR="91440" marT="45720" marB="45720"/>
                </a:tc>
                <a:tc>
                  <a:txBody>
                    <a:bodyPr>
                      <a:noAutofit/>
                    </a:bodyPr>
                    <a:lstStyle/>
                    <a:p>
                      <a:r>
                        <a:rPr sz="1125">
                          <a:solidFill>
                            <a:srgbClr val="131A24"/>
                          </a:solidFill>
                          <a:latin typeface="Arial"/>
                          <a:ea typeface="Arial"/>
                          <a:cs typeface="Arial"/>
                        </a:rPr>
                        <a:t>Remaining storage capacity after intake</a:t>
                      </a:r>
                    </a:p>
                  </a:txBody>
                  <a:tcPr marL="91440" marR="91440" marT="45720" marB="45720"/>
                </a:tc>
              </a:tr>
              <a:tr h="408214">
                <a:tc>
                  <a:txBody>
                    <a:bodyPr>
                      <a:noAutofit/>
                    </a:bodyPr>
                    <a:lstStyle/>
                    <a:p>
                      <a:r>
                        <a:rPr sz="1125">
                          <a:solidFill>
                            <a:srgbClr val="131A24"/>
                          </a:solidFill>
                          <a:latin typeface="Arial"/>
                          <a:ea typeface="Arial"/>
                          <a:cs typeface="Arial"/>
                        </a:rPr>
                        <a:t>Proximity</a:t>
                      </a:r>
                    </a:p>
                  </a:txBody>
                  <a:tcPr marL="91440" marR="91440" marT="45720" marB="45720"/>
                </a:tc>
                <a:tc>
                  <a:txBody>
                    <a:bodyPr>
                      <a:noAutofit/>
                    </a:bodyPr>
                    <a:lstStyle/>
                    <a:p>
                      <a:r>
                        <a:rPr sz="1125">
                          <a:solidFill>
                            <a:srgbClr val="131A24"/>
                          </a:solidFill>
                          <a:latin typeface="Arial"/>
                          <a:ea typeface="Arial"/>
                          <a:cs typeface="Arial"/>
                        </a:rPr>
                        <a:t>15%</a:t>
                      </a:r>
                    </a:p>
                  </a:txBody>
                  <a:tcPr marL="91440" marR="91440" marT="45720" marB="45720"/>
                </a:tc>
                <a:tc>
                  <a:txBody>
                    <a:bodyPr>
                      <a:noAutofit/>
                    </a:bodyPr>
                    <a:lstStyle/>
                    <a:p>
                      <a:r>
                        <a:rPr sz="1125">
                          <a:solidFill>
                            <a:srgbClr val="131A24"/>
                          </a:solidFill>
                          <a:latin typeface="Arial"/>
                          <a:ea typeface="Arial"/>
                          <a:cs typeface="Arial"/>
                        </a:rPr>
                        <a:t>Distance from the pickup point</a:t>
                      </a:r>
                    </a:p>
                  </a:txBody>
                  <a:tcPr marL="91440" marR="91440" marT="45720" marB="45720"/>
                </a:tc>
              </a:tr>
              <a:tr h="408214">
                <a:tc>
                  <a:txBody>
                    <a:bodyPr>
                      <a:noAutofit/>
                    </a:bodyPr>
                    <a:lstStyle/>
                    <a:p>
                      <a:r>
                        <a:rPr sz="1125">
                          <a:solidFill>
                            <a:srgbClr val="131A24"/>
                          </a:solidFill>
                          <a:latin typeface="Arial"/>
                          <a:ea typeface="Arial"/>
                          <a:cs typeface="Arial"/>
                        </a:rPr>
                        <a:t>Food preference</a:t>
                      </a:r>
                    </a:p>
                  </a:txBody>
                  <a:tcPr marL="91440" marR="91440" marT="45720" marB="45720"/>
                </a:tc>
                <a:tc>
                  <a:txBody>
                    <a:bodyPr>
                      <a:noAutofit/>
                    </a:bodyPr>
                    <a:lstStyle/>
                    <a:p>
                      <a:r>
                        <a:rPr sz="1125">
                          <a:solidFill>
                            <a:srgbClr val="131A24"/>
                          </a:solidFill>
                          <a:latin typeface="Arial"/>
                          <a:ea typeface="Arial"/>
                          <a:cs typeface="Arial"/>
                        </a:rPr>
                        <a:t>15%</a:t>
                      </a:r>
                    </a:p>
                  </a:txBody>
                  <a:tcPr marL="91440" marR="91440" marT="45720" marB="45720"/>
                </a:tc>
                <a:tc>
                  <a:txBody>
                    <a:bodyPr>
                      <a:noAutofit/>
                    </a:bodyPr>
                    <a:lstStyle/>
                    <a:p>
                      <a:r>
                        <a:rPr sz="1125">
                          <a:solidFill>
                            <a:srgbClr val="131A24"/>
                          </a:solidFill>
                          <a:latin typeface="Arial"/>
                          <a:ea typeface="Arial"/>
                          <a:cs typeface="Arial"/>
                        </a:rPr>
                        <a:t>Whether the organization accepts the food category</a:t>
                      </a:r>
                    </a:p>
                  </a:txBody>
                  <a:tcPr marL="91440" marR="91440" marT="45720" marB="45720"/>
                </a:tc>
              </a:tr>
              <a:tr h="408214">
                <a:tc>
                  <a:txBody>
                    <a:bodyPr>
                      <a:noAutofit/>
                    </a:bodyPr>
                    <a:lstStyle/>
                    <a:p>
                      <a:r>
                        <a:rPr sz="1125">
                          <a:solidFill>
                            <a:srgbClr val="131A24"/>
                          </a:solidFill>
                          <a:latin typeface="Arial"/>
                          <a:ea typeface="Arial"/>
                          <a:cs typeface="Arial"/>
                        </a:rPr>
                        <a:t>Fair distribution</a:t>
                      </a:r>
                    </a:p>
                  </a:txBody>
                  <a:tcPr marL="91440" marR="91440" marT="45720" marB="45720"/>
                </a:tc>
                <a:tc>
                  <a:txBody>
                    <a:bodyPr>
                      <a:noAutofit/>
                    </a:bodyPr>
                    <a:lstStyle/>
                    <a:p>
                      <a:r>
                        <a:rPr sz="1125">
                          <a:solidFill>
                            <a:srgbClr val="131A24"/>
                          </a:solidFill>
                          <a:latin typeface="Arial"/>
                          <a:ea typeface="Arial"/>
                          <a:cs typeface="Arial"/>
                        </a:rPr>
                        <a:t>10%</a:t>
                      </a:r>
                    </a:p>
                  </a:txBody>
                  <a:tcPr marL="91440" marR="91440" marT="45720" marB="45720"/>
                </a:tc>
                <a:tc>
                  <a:txBody>
                    <a:bodyPr>
                      <a:noAutofit/>
                    </a:bodyPr>
                    <a:lstStyle/>
                    <a:p>
                      <a:r>
                        <a:rPr sz="1125">
                          <a:solidFill>
                            <a:srgbClr val="131A24"/>
                          </a:solidFill>
                          <a:latin typeface="Arial"/>
                          <a:ea typeface="Arial"/>
                          <a:cs typeface="Arial"/>
                        </a:rPr>
                        <a:t>Quantity received by the organization during the previous 30 days</a:t>
                      </a:r>
                    </a:p>
                  </a:txBody>
                  <a:tcPr marL="91440" marR="91440" marT="45720" marB="45720"/>
                </a:tc>
              </a:tr>
            </a:tbl>
          </a:graphicData>
        </a:graphic>
      </p:graphicFrame>
    </p:spTree>
    <p:extLst>
      <p:ext uri="{BB962C8B-B14F-4D97-AF65-F5344CB8AC3E}">
        <p14:creationId xmlns:p14="http://schemas.microsoft.com/office/powerpoint/2010/main" val="7500183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09E1688-7B78-44D4-9708-6C35D112971C}"/>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6 / 10</a:t>
            </a:r>
          </a:p>
        </p:txBody>
      </p:sp>
      <p:sp>
        <p:nvSpPr>
          <p:cNvPr id="2" name="slide-title">
            <a:extLst xmlns:a="http://schemas.openxmlformats.org/drawingml/2006/main">
              <a:ext uri="{FF2B5EF4-FFF2-40B4-BE49-F238E27FC236}">
                <a16:creationId xmlns:a16="http://schemas.microsoft.com/office/drawing/2014/main" id="{D202DB67-C81F-499E-926B-2169E6DD2FBB}"/>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Original contribution: the food-safety arrival rule</a:t>
            </a:r>
          </a:p>
        </p:txBody>
      </p:sp>
      <p:sp>
        <p:nvSpPr>
          <p:cNvPr id="3" name="slide-lead">
            <a:extLst xmlns:a="http://schemas.openxmlformats.org/drawingml/2006/main">
              <a:ext uri="{FF2B5EF4-FFF2-40B4-BE49-F238E27FC236}">
                <a16:creationId xmlns:a16="http://schemas.microsoft.com/office/drawing/2014/main" id="{4900D3EF-3364-4AC5-954E-03C110D25946}"/>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A constraint introduced in this project. Food must be able to arrive while it remains safe to serve.</a:t>
            </a:r>
          </a:p>
        </p:txBody>
      </p:sp>
      <p:sp>
        <p:nvSpPr>
          <p:cNvPr id="4" name="title-rule">
            <a:extLst xmlns:a="http://schemas.openxmlformats.org/drawingml/2006/main">
              <a:ext uri="{FF2B5EF4-FFF2-40B4-BE49-F238E27FC236}">
                <a16:creationId xmlns:a16="http://schemas.microsoft.com/office/drawing/2014/main" id="{7D6C0968-4D10-4CB8-9296-90080EF0A6A1}"/>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A20378E-8283-4CE2-89FE-677C87755DBB}"/>
              </a:ext>
            </a:extLst>
          </p:cNvPr>
          <p:cNvSpPr>
            <a:spLocks xmlns:a="http://schemas.openxmlformats.org/drawingml/2006/main" noGrp="1"/>
          </p:cNvSpPr>
          <p:nvPr/>
        </p:nvSpPr>
        <p:spPr>
          <a:xfrm xmlns:a="http://schemas.openxmlformats.org/drawingml/2006/main">
            <a:off x="685800" y="1981200"/>
            <a:ext cx="5619750" cy="3048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stStyle>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The engine estimates the pickup to handover duration for each candidate organization from the travel distance and a handling allowance.</a:t>
            </a:r>
          </a:p>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The estimate is compared with the remaining safe window, retaining sixty minutes for serving.</a:t>
            </a:r>
          </a:p>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Organizations that cannot arrive in time are excluded, and the reason is stored on the allocation.</a:t>
            </a:r>
          </a:p>
          <a:p xmlns:a="http://schemas.openxmlformats.org/drawingml/2006/main">
            <a:pPr marL="228600" indent="-114300">
              <a:spcAft>
                <a:spcPts val="1400"/>
              </a:spcAft>
              <a:buChar char="•"/>
              <a:defRPr sz="1275">
                <a:solidFill>
                  <a:srgbClr val="131A24"/>
                </a:solidFill>
                <a:latin typeface="Arial"/>
                <a:ea typeface="Arial"/>
                <a:cs typeface="Arial"/>
              </a:defRPr>
            </a:pPr>
            <a:r>
              <a:rPr sz="1275">
                <a:solidFill>
                  <a:srgbClr val="131A24"/>
                </a:solidFill>
                <a:latin typeface="Arial"/>
                <a:ea typeface="Arial"/>
                <a:cs typeface="Arial"/>
              </a:rPr>
              <a:t>Distance was initially treated as a scoring factor. Because late arrival is a safety failure rather than a lower priority, it was implemented as a hard constraint.</a:t>
            </a:r>
          </a:p>
        </p:txBody>
      </p:sp>
      <p:graphicFrame>
        <p:nvGraphicFramePr>
          <p:cNvPr id="6" name="">
            <a:extLst xmlns:a="http://schemas.openxmlformats.org/drawingml/2006/main">
              <a:ext uri="{FF2B5EF4-FFF2-40B4-BE49-F238E27FC236}">
                <a16:creationId xmlns:a16="http://schemas.microsoft.com/office/drawing/2014/main" id="{2AC4B914-67BB-4951-8EF2-E6B6A16FD373}"/>
              </a:ext>
            </a:extLst>
          </p:cNvPr>
          <p:cNvGraphicFramePr/>
          <p:nvPr/>
        </p:nvGraphicFramePr>
        <p:xfrm>
          <a:off xmlns:a="http://schemas.openxmlformats.org/drawingml/2006/main" x="6762750" y="1981200"/>
          <a:ext xmlns:a="http://schemas.openxmlformats.org/drawingml/2006/main" cx="4743450" cy="2552700"/>
        </p:xfrm>
        <a:graphic xmlns:a="http://schemas.openxmlformats.org/drawingml/2006/main">
          <a:graphicData uri="http://schemas.openxmlformats.org/drawingml/2006/table">
            <a:tbl>
              <a:tblPr/>
              <a:tblGrid>
                <a:gridCol w="1779411"/>
                <a:gridCol w="1047750"/>
                <a:gridCol w="1916289"/>
              </a:tblGrid>
              <a:tr h="638175">
                <a:tc>
                  <a:txBody>
                    <a:bodyPr>
                      <a:noAutofit/>
                    </a:bodyPr>
                    <a:lstStyle/>
                    <a:p>
                      <a:r>
                        <a:rPr sz="1050" b="1">
                          <a:solidFill>
                            <a:srgbClr val="131A24"/>
                          </a:solidFill>
                          <a:latin typeface="Arial"/>
                          <a:ea typeface="Arial"/>
                          <a:cs typeface="Arial"/>
                        </a:rPr>
                        <a:t>Organization</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Distance</a:t>
                      </a:r>
                    </a:p>
                  </a:txBody>
                  <a:tcPr marL="91440" marR="91440" marT="45720" marB="45720">
                    <a:solidFill>
                      <a:srgbClr val="F5F7F8"/>
                    </a:solidFill>
                  </a:tcPr>
                </a:tc>
                <a:tc>
                  <a:txBody>
                    <a:bodyPr>
                      <a:noAutofit/>
                    </a:bodyPr>
                    <a:lstStyle/>
                    <a:p>
                      <a:r>
                        <a:rPr sz="1050" b="1">
                          <a:solidFill>
                            <a:srgbClr val="131A24"/>
                          </a:solidFill>
                          <a:latin typeface="Arial"/>
                          <a:ea typeface="Arial"/>
                          <a:cs typeface="Arial"/>
                        </a:rPr>
                        <a:t>Outcome</a:t>
                      </a:r>
                    </a:p>
                  </a:txBody>
                  <a:tcPr marL="91440" marR="91440" marT="45720" marB="45720">
                    <a:solidFill>
                      <a:srgbClr val="F5F7F8"/>
                    </a:solidFill>
                  </a:tcPr>
                </a:tc>
              </a:tr>
              <a:tr h="638175">
                <a:tc>
                  <a:txBody>
                    <a:bodyPr>
                      <a:noAutofit/>
                    </a:bodyPr>
                    <a:lstStyle/>
                    <a:p>
                      <a:r>
                        <a:rPr sz="1050">
                          <a:solidFill>
                            <a:srgbClr val="131A24"/>
                          </a:solidFill>
                          <a:latin typeface="Arial"/>
                          <a:ea typeface="Arial"/>
                          <a:cs typeface="Arial"/>
                        </a:rPr>
                        <a:t>Sneha Sadan Orphanage</a:t>
                      </a:r>
                    </a:p>
                  </a:txBody>
                  <a:tcPr marL="91440" marR="91440" marT="45720" marB="45720"/>
                </a:tc>
                <a:tc>
                  <a:txBody>
                    <a:bodyPr>
                      <a:noAutofit/>
                    </a:bodyPr>
                    <a:lstStyle/>
                    <a:p>
                      <a:r>
                        <a:rPr sz="1050">
                          <a:solidFill>
                            <a:srgbClr val="131A24"/>
                          </a:solidFill>
                          <a:latin typeface="Arial"/>
                          <a:ea typeface="Arial"/>
                          <a:cs typeface="Arial"/>
                        </a:rPr>
                        <a:t>11.6 km</a:t>
                      </a:r>
                    </a:p>
                  </a:txBody>
                  <a:tcPr marL="91440" marR="91440" marT="45720" marB="45720"/>
                </a:tc>
                <a:tc>
                  <a:txBody>
                    <a:bodyPr>
                      <a:noAutofit/>
                    </a:bodyPr>
                    <a:lstStyle/>
                    <a:p>
                      <a:r>
                        <a:rPr sz="1050">
                          <a:solidFill>
                            <a:srgbClr val="131A24"/>
                          </a:solidFill>
                          <a:latin typeface="Arial"/>
                          <a:ea typeface="Arial"/>
                          <a:cs typeface="Arial"/>
                        </a:rPr>
                        <a:t>Eligible, 15 minutes to spare</a:t>
                      </a:r>
                    </a:p>
                  </a:txBody>
                  <a:tcPr marL="91440" marR="91440" marT="45720" marB="45720"/>
                </a:tc>
              </a:tr>
              <a:tr h="638175">
                <a:tc>
                  <a:txBody>
                    <a:bodyPr>
                      <a:noAutofit/>
                    </a:bodyPr>
                    <a:lstStyle/>
                    <a:p>
                      <a:r>
                        <a:rPr sz="1050">
                          <a:solidFill>
                            <a:srgbClr val="131A24"/>
                          </a:solidFill>
                          <a:latin typeface="Arial"/>
                          <a:ea typeface="Arial"/>
                          <a:cs typeface="Arial"/>
                        </a:rPr>
                        <a:t>Sanjeevini Community Kitchen</a:t>
                      </a:r>
                    </a:p>
                  </a:txBody>
                  <a:tcPr marL="91440" marR="91440" marT="45720" marB="45720"/>
                </a:tc>
                <a:tc>
                  <a:txBody>
                    <a:bodyPr>
                      <a:noAutofit/>
                    </a:bodyPr>
                    <a:lstStyle/>
                    <a:p>
                      <a:r>
                        <a:rPr sz="1050">
                          <a:solidFill>
                            <a:srgbClr val="131A24"/>
                          </a:solidFill>
                          <a:latin typeface="Arial"/>
                          <a:ea typeface="Arial"/>
                          <a:cs typeface="Arial"/>
                        </a:rPr>
                        <a:t>11.8 km</a:t>
                      </a:r>
                    </a:p>
                  </a:txBody>
                  <a:tcPr marL="91440" marR="91440" marT="45720" marB="45720"/>
                </a:tc>
                <a:tc>
                  <a:txBody>
                    <a:bodyPr>
                      <a:noAutofit/>
                    </a:bodyPr>
                    <a:lstStyle/>
                    <a:p>
                      <a:r>
                        <a:rPr sz="1050">
                          <a:solidFill>
                            <a:srgbClr val="131A24"/>
                          </a:solidFill>
                          <a:latin typeface="Arial"/>
                          <a:ea typeface="Arial"/>
                          <a:cs typeface="Arial"/>
                        </a:rPr>
                        <a:t>Eligible, 15 minutes to spare</a:t>
                      </a:r>
                    </a:p>
                  </a:txBody>
                  <a:tcPr marL="91440" marR="91440" marT="45720" marB="45720"/>
                </a:tc>
              </a:tr>
              <a:tr h="638175">
                <a:tc>
                  <a:txBody>
                    <a:bodyPr>
                      <a:noAutofit/>
                    </a:bodyPr>
                    <a:lstStyle/>
                    <a:p>
                      <a:r>
                        <a:rPr sz="1050">
                          <a:solidFill>
                            <a:srgbClr val="131A24"/>
                          </a:solidFill>
                          <a:latin typeface="Arial"/>
                          <a:ea typeface="Arial"/>
                          <a:cs typeface="Arial"/>
                        </a:rPr>
                        <a:t>Three organizations</a:t>
                      </a:r>
                    </a:p>
                  </a:txBody>
                  <a:tcPr marL="91440" marR="91440" marT="45720" marB="45720"/>
                </a:tc>
                <a:tc>
                  <a:txBody>
                    <a:bodyPr>
                      <a:noAutofit/>
                    </a:bodyPr>
                    <a:lstStyle/>
                    <a:p>
                      <a:r>
                        <a:rPr sz="1050">
                          <a:solidFill>
                            <a:srgbClr val="131A24"/>
                          </a:solidFill>
                          <a:latin typeface="Arial"/>
                          <a:ea typeface="Arial"/>
                          <a:cs typeface="Arial"/>
                        </a:rPr>
                        <a:t>18 to 25 km</a:t>
                      </a:r>
                    </a:p>
                  </a:txBody>
                  <a:tcPr marL="91440" marR="91440" marT="45720" marB="45720"/>
                </a:tc>
                <a:tc>
                  <a:txBody>
                    <a:bodyPr>
                      <a:noAutofit/>
                    </a:bodyPr>
                    <a:lstStyle/>
                    <a:p>
                      <a:r>
                        <a:rPr sz="1050">
                          <a:solidFill>
                            <a:srgbClr val="131A24"/>
                          </a:solidFill>
                          <a:latin typeface="Arial"/>
                          <a:ea typeface="Arial"/>
                          <a:cs typeface="Arial"/>
                        </a:rPr>
                        <a:t>Excluded, 65 to 85 minutes required against 60 available</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9FF15B3C-97CC-4AB4-98B0-AFC07F71BF4B}"/>
              </a:ext>
            </a:extLst>
          </p:cNvPr>
          <p:cNvSpPr>
            <a:spLocks xmlns:a="http://schemas.openxmlformats.org/drawingml/2006/main" noGrp="1"/>
          </p:cNvSpPr>
          <p:nvPr/>
        </p:nvSpPr>
        <p:spPr>
          <a:xfrm xmlns:a="http://schemas.openxmlformats.org/drawingml/2006/main">
            <a:off x="6762750" y="4686300"/>
            <a:ext cx="47434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1">
                <a:solidFill>
                  <a:srgbClr val="0E7C57"/>
                </a:solidFill>
                <a:latin typeface="Arial"/>
                <a:ea typeface="Arial"/>
                <a:cs typeface="Arial"/>
              </a:defRPr>
            </a:defPPr>
          </a:lstStyle>
          <a:p xmlns:a="http://schemas.openxmlformats.org/drawingml/2006/main">
            <a:pPr>
              <a:defRPr sz="1125" b="1">
                <a:solidFill>
                  <a:srgbClr val="0E7C57"/>
                </a:solidFill>
                <a:latin typeface="Arial"/>
                <a:ea typeface="Arial"/>
                <a:cs typeface="Arial"/>
              </a:defRPr>
            </a:pPr>
            <a:r>
              <a:rPr sz="1125" b="1">
                <a:solidFill>
                  <a:srgbClr val="0E7C57"/>
                </a:solidFill>
                <a:latin typeface="Arial"/>
                <a:ea typeface="Arial"/>
                <a:cs typeface="Arial"/>
              </a:rPr>
              <a:t>Assumptions: 20 km/h urban travel, 10 minutes handling, 60 minutes serving buffer.</a:t>
            </a:r>
          </a:p>
        </p:txBody>
      </p:sp>
      <p:sp>
        <p:nvSpPr>
          <p:cNvPr id="8" name="">
            <a:extLst xmlns:a="http://schemas.openxmlformats.org/drawingml/2006/main">
              <a:ext uri="{FF2B5EF4-FFF2-40B4-BE49-F238E27FC236}">
                <a16:creationId xmlns:a16="http://schemas.microsoft.com/office/drawing/2014/main" id="{EB025881-7200-44C6-8B2C-CF5C1B59AE95}"/>
              </a:ext>
            </a:extLst>
          </p:cNvPr>
          <p:cNvSpPr>
            <a:spLocks xmlns:a="http://schemas.openxmlformats.org/drawingml/2006/main" noGrp="1"/>
          </p:cNvSpPr>
          <p:nvPr/>
        </p:nvSpPr>
        <p:spPr>
          <a:xfrm xmlns:a="http://schemas.openxmlformats.org/drawingml/2006/main">
            <a:off x="685800" y="57531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8A94A3"/>
                </a:solidFill>
                <a:latin typeface="Arial"/>
                <a:ea typeface="Arial"/>
                <a:cs typeface="Arial"/>
              </a:defRPr>
            </a:defPPr>
          </a:lstStyle>
          <a:p xmlns:a="http://schemas.openxmlformats.org/drawingml/2006/main">
            <a:pPr>
              <a:defRPr sz="1125" b="0">
                <a:solidFill>
                  <a:srgbClr val="8A94A3"/>
                </a:solidFill>
                <a:latin typeface="Arial"/>
                <a:ea typeface="Arial"/>
                <a:cs typeface="Arial"/>
              </a:defRPr>
            </a:pPr>
            <a:r>
              <a:rPr sz="1125" b="0">
                <a:solidFill>
                  <a:srgbClr val="8A94A3"/>
                </a:solidFill>
                <a:latin typeface="Arial"/>
                <a:ea typeface="Arial"/>
                <a:cs typeface="Arial"/>
              </a:rPr>
              <a:t>Engine output recorded on 16 October 2026 from the seeded dataset.</a:t>
            </a:r>
          </a:p>
        </p:txBody>
      </p:sp>
    </p:spTree>
    <p:extLst>
      <p:ext uri="{BB962C8B-B14F-4D97-AF65-F5344CB8AC3E}">
        <p14:creationId xmlns:p14="http://schemas.microsoft.com/office/powerpoint/2010/main" val="10945898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311D37-07E8-488C-8C7B-B120DA7E11D2}"/>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7 / 10</a:t>
            </a:r>
          </a:p>
        </p:txBody>
      </p:sp>
      <p:sp>
        <p:nvSpPr>
          <p:cNvPr id="2" name="slide-title">
            <a:extLst xmlns:a="http://schemas.openxmlformats.org/drawingml/2006/main">
              <a:ext uri="{FF2B5EF4-FFF2-40B4-BE49-F238E27FC236}">
                <a16:creationId xmlns:a16="http://schemas.microsoft.com/office/drawing/2014/main" id="{2E82BF42-3665-4D05-97AD-363DB45282F3}"/>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System architecture</a:t>
            </a:r>
          </a:p>
        </p:txBody>
      </p:sp>
      <p:sp>
        <p:nvSpPr>
          <p:cNvPr id="3" name="slide-lead">
            <a:extLst xmlns:a="http://schemas.openxmlformats.org/drawingml/2006/main">
              <a:ext uri="{FF2B5EF4-FFF2-40B4-BE49-F238E27FC236}">
                <a16:creationId xmlns:a16="http://schemas.microsoft.com/office/drawing/2014/main" id="{A5BA9A03-5093-4D1D-835B-FE7B91F886F3}"/>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The layered architecture submitted in the design phase, implemented as specified.</a:t>
            </a:r>
          </a:p>
        </p:txBody>
      </p:sp>
      <p:sp>
        <p:nvSpPr>
          <p:cNvPr id="4" name="title-rule">
            <a:extLst xmlns:a="http://schemas.openxmlformats.org/drawingml/2006/main">
              <a:ext uri="{FF2B5EF4-FFF2-40B4-BE49-F238E27FC236}">
                <a16:creationId xmlns:a16="http://schemas.microsoft.com/office/drawing/2014/main" id="{1794132C-75D2-4E85-965C-2F90783B0095}"/>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11F74A1-6E80-4829-91E0-C253D0654D40}"/>
              </a:ext>
            </a:extLst>
          </p:cNvPr>
          <p:cNvSpPr>
            <a:spLocks xmlns:a="http://schemas.openxmlformats.org/drawingml/2006/main" noGrp="1"/>
          </p:cNvSpPr>
          <p:nvPr/>
        </p:nvSpPr>
        <p:spPr>
          <a:xfrm xmlns:a="http://schemas.openxmlformats.org/drawingml/2006/main">
            <a:off x="685800" y="1981200"/>
            <a:ext cx="4476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a:solidFill>
                  <a:srgbClr val="131A24"/>
                </a:solidFill>
                <a:latin typeface="Arial"/>
                <a:ea typeface="Arial"/>
                <a:cs typeface="Arial"/>
              </a:defRPr>
            </a:defPPr>
          </a:lstStyle>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Four layers: React presentation, Spring Boot REST application, business logic including the allocation engine, and JPA over MySQL.</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Authentication issues a JWT at login; the server verifies the role and the ownership of each record.</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The allocation engine is an independent service, which keeps decision rules separate from the domain classes.</a:t>
            </a:r>
          </a:p>
        </p:txBody>
      </p:sp>
      <p:pic>
        <p:nvPicPr>
          <p:cNvPr id="6" name="">
            <a:extLst xmlns:a="http://schemas.openxmlformats.org/drawingml/2006/main">
              <a:ext uri="{FF2B5EF4-FFF2-40B4-BE49-F238E27FC236}">
                <a16:creationId xmlns:a16="http://schemas.microsoft.com/office/drawing/2014/main" id="{260403CA-A519-445D-B0D2-415DA19B229E}"/>
              </a:ext>
            </a:extLst>
          </p:cNvPr>
          <p:cNvPicPr>
            <a:picLocks xmlns:a="http://schemas.openxmlformats.org/drawingml/2006/main" noChangeAspect="1"/>
          </p:cNvPicPr>
          <p:nvPr/>
        </p:nvPicPr>
        <p:blipFill>
          <a:blip xmlns:r="http://schemas.openxmlformats.org/officeDocument/2006/relationships" xmlns:a="http://schemas.openxmlformats.org/drawingml/2006/main" r:embed="Ra4394fff797840a7"/>
          <a:stretch xmlns:a="http://schemas.openxmlformats.org/drawingml/2006/main"/>
        </p:blipFill>
        <p:spPr>
          <a:xfrm xmlns:a="http://schemas.openxmlformats.org/drawingml/2006/main">
            <a:off x="5689934" y="1676400"/>
            <a:ext cx="4812632" cy="47625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ED12DB4-5595-4DCB-8E8E-F9A8177CEE93}"/>
              </a:ext>
            </a:extLst>
          </p:cNvPr>
          <p:cNvSpPr>
            <a:spLocks xmlns:a="http://schemas.openxmlformats.org/drawingml/2006/main" noGrp="1"/>
          </p:cNvSpPr>
          <p:nvPr/>
        </p:nvSpPr>
        <p:spPr>
          <a:xfrm xmlns:a="http://schemas.openxmlformats.org/drawingml/2006/main">
            <a:off x="685800" y="57531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8A94A3"/>
                </a:solidFill>
                <a:latin typeface="Arial"/>
                <a:ea typeface="Arial"/>
                <a:cs typeface="Arial"/>
              </a:defRPr>
            </a:defPPr>
          </a:lstStyle>
          <a:p xmlns:a="http://schemas.openxmlformats.org/drawingml/2006/main">
            <a:pPr>
              <a:defRPr sz="1125" b="0">
                <a:solidFill>
                  <a:srgbClr val="8A94A3"/>
                </a:solidFill>
                <a:latin typeface="Arial"/>
                <a:ea typeface="Arial"/>
                <a:cs typeface="Arial"/>
              </a:defRPr>
            </a:pPr>
            <a:r>
              <a:rPr sz="1125" b="0">
                <a:solidFill>
                  <a:srgbClr val="8A94A3"/>
                </a:solidFill>
                <a:latin typeface="Arial"/>
                <a:ea typeface="Arial"/>
                <a:cs typeface="Arial"/>
              </a:rPr>
              <a:t>Figure: overall layered system architecture, Lab 3 submission.</a:t>
            </a:r>
          </a:p>
        </p:txBody>
      </p:sp>
    </p:spTree>
    <p:extLst>
      <p:ext uri="{BB962C8B-B14F-4D97-AF65-F5344CB8AC3E}">
        <p14:creationId xmlns:p14="http://schemas.microsoft.com/office/powerpoint/2010/main" val="482285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8E64BB8-A503-4639-B886-42D6C17C76CB}"/>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8 / 10</a:t>
            </a:r>
          </a:p>
        </p:txBody>
      </p:sp>
      <p:sp>
        <p:nvSpPr>
          <p:cNvPr id="2" name="slide-title">
            <a:extLst xmlns:a="http://schemas.openxmlformats.org/drawingml/2006/main">
              <a:ext uri="{FF2B5EF4-FFF2-40B4-BE49-F238E27FC236}">
                <a16:creationId xmlns:a16="http://schemas.microsoft.com/office/drawing/2014/main" id="{03BBB228-39DB-4808-B098-C9799E333F13}"/>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Database design</a:t>
            </a:r>
          </a:p>
        </p:txBody>
      </p:sp>
      <p:sp>
        <p:nvSpPr>
          <p:cNvPr id="3" name="slide-lead">
            <a:extLst xmlns:a="http://schemas.openxmlformats.org/drawingml/2006/main">
              <a:ext uri="{FF2B5EF4-FFF2-40B4-BE49-F238E27FC236}">
                <a16:creationId xmlns:a16="http://schemas.microsoft.com/office/drawing/2014/main" id="{94706A7B-B90F-4875-BDCD-D122C81244BE}"/>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The entity relationship model submitted in the design phase, implemented as twelve tables.</a:t>
            </a:r>
          </a:p>
        </p:txBody>
      </p:sp>
      <p:sp>
        <p:nvSpPr>
          <p:cNvPr id="4" name="title-rule">
            <a:extLst xmlns:a="http://schemas.openxmlformats.org/drawingml/2006/main">
              <a:ext uri="{FF2B5EF4-FFF2-40B4-BE49-F238E27FC236}">
                <a16:creationId xmlns:a16="http://schemas.microsoft.com/office/drawing/2014/main" id="{9525107D-F960-4D69-BA84-A80CB747DDE5}"/>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4C111E5-5337-428C-896B-F194C73FA9A8}"/>
              </a:ext>
            </a:extLst>
          </p:cNvPr>
          <p:cNvSpPr>
            <a:spLocks xmlns:a="http://schemas.openxmlformats.org/drawingml/2006/main" noGrp="1"/>
          </p:cNvSpPr>
          <p:nvPr/>
        </p:nvSpPr>
        <p:spPr>
          <a:xfrm xmlns:a="http://schemas.openxmlformats.org/drawingml/2006/main">
            <a:off x="685800" y="2057400"/>
            <a:ext cx="4095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a:solidFill>
                  <a:srgbClr val="131A24"/>
                </a:solidFill>
                <a:latin typeface="Arial"/>
                <a:ea typeface="Arial"/>
                <a:cs typeface="Arial"/>
              </a:defRPr>
            </a:defPPr>
          </a:lstStyle>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Twelve entities in third normal form.</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Allocation, assignment and delivery are modelled separately, so a decision, a task and a delivery are tracked independently.</a:t>
            </a:r>
          </a:p>
          <a:p xmlns:a="http://schemas.openxmlformats.org/drawingml/2006/main">
            <a:pPr marL="228600" indent="-114300">
              <a:spcAft>
                <a:spcPts val="1600"/>
              </a:spcAft>
              <a:buChar char="•"/>
              <a:defRPr sz="1200">
                <a:solidFill>
                  <a:srgbClr val="131A24"/>
                </a:solidFill>
                <a:latin typeface="Arial"/>
                <a:ea typeface="Arial"/>
                <a:cs typeface="Arial"/>
              </a:defRPr>
            </a:pPr>
            <a:r>
              <a:rPr sz="1200">
                <a:solidFill>
                  <a:srgbClr val="131A24"/>
                </a:solidFill>
                <a:latin typeface="Arial"/>
                <a:ea typeface="Arial"/>
                <a:cs typeface="Arial"/>
              </a:rPr>
              <a:t>Recipient food preferences resolve the many to many relationship between organizations and categories.</a:t>
            </a:r>
          </a:p>
        </p:txBody>
      </p:sp>
      <p:pic>
        <p:nvPicPr>
          <p:cNvPr id="6" name="">
            <a:extLst xmlns:a="http://schemas.openxmlformats.org/drawingml/2006/main">
              <a:ext uri="{FF2B5EF4-FFF2-40B4-BE49-F238E27FC236}">
                <a16:creationId xmlns:a16="http://schemas.microsoft.com/office/drawing/2014/main" id="{649E0069-843C-489F-A721-3EF09C3DF436}"/>
              </a:ext>
            </a:extLst>
          </p:cNvPr>
          <p:cNvPicPr>
            <a:picLocks xmlns:a="http://schemas.openxmlformats.org/drawingml/2006/main" noChangeAspect="1"/>
          </p:cNvPicPr>
          <p:nvPr/>
        </p:nvPicPr>
        <p:blipFill>
          <a:blip xmlns:r="http://schemas.openxmlformats.org/officeDocument/2006/relationships" xmlns:a="http://schemas.openxmlformats.org/drawingml/2006/main" r:embed="R4ec7883e7c8748e3"/>
          <a:stretch xmlns:a="http://schemas.openxmlformats.org/drawingml/2006/main"/>
        </p:blipFill>
        <p:spPr>
          <a:xfrm xmlns:a="http://schemas.openxmlformats.org/drawingml/2006/main">
            <a:off x="5145061" y="1638300"/>
            <a:ext cx="5902377" cy="4800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E52FE573-8401-4ABB-A38C-5BEE91BFE6A0}"/>
              </a:ext>
            </a:extLst>
          </p:cNvPr>
          <p:cNvSpPr>
            <a:spLocks xmlns:a="http://schemas.openxmlformats.org/drawingml/2006/main" noGrp="1"/>
          </p:cNvSpPr>
          <p:nvPr/>
        </p:nvSpPr>
        <p:spPr>
          <a:xfrm xmlns:a="http://schemas.openxmlformats.org/drawingml/2006/main">
            <a:off x="685800" y="5753100"/>
            <a:ext cx="10820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125" b="0">
                <a:solidFill>
                  <a:srgbClr val="8A94A3"/>
                </a:solidFill>
                <a:latin typeface="Arial"/>
                <a:ea typeface="Arial"/>
                <a:cs typeface="Arial"/>
              </a:defRPr>
            </a:defPPr>
          </a:lstStyle>
          <a:p xmlns:a="http://schemas.openxmlformats.org/drawingml/2006/main">
            <a:pPr>
              <a:defRPr sz="1125" b="0">
                <a:solidFill>
                  <a:srgbClr val="8A94A3"/>
                </a:solidFill>
                <a:latin typeface="Arial"/>
                <a:ea typeface="Arial"/>
                <a:cs typeface="Arial"/>
              </a:defRPr>
            </a:pPr>
            <a:r>
              <a:rPr sz="1125" b="0">
                <a:solidFill>
                  <a:srgbClr val="8A94A3"/>
                </a:solidFill>
                <a:latin typeface="Arial"/>
                <a:ea typeface="Arial"/>
                <a:cs typeface="Arial"/>
              </a:rPr>
              <a:t>Figure: entity relationship diagram, Lab 4 submission.</a:t>
            </a:r>
          </a:p>
        </p:txBody>
      </p:sp>
    </p:spTree>
    <p:extLst>
      <p:ext uri="{BB962C8B-B14F-4D97-AF65-F5344CB8AC3E}">
        <p14:creationId xmlns:p14="http://schemas.microsoft.com/office/powerpoint/2010/main" val="136343043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319006A-F2AE-4C1C-B57F-01A7B3DF3BD3}"/>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9 / 10</a:t>
            </a:r>
          </a:p>
        </p:txBody>
      </p:sp>
      <p:sp>
        <p:nvSpPr>
          <p:cNvPr id="2" name="slide-title">
            <a:extLst xmlns:a="http://schemas.openxmlformats.org/drawingml/2006/main">
              <a:ext uri="{FF2B5EF4-FFF2-40B4-BE49-F238E27FC236}">
                <a16:creationId xmlns:a16="http://schemas.microsoft.com/office/drawing/2014/main" id="{C52C02D8-8BB6-44E0-8D1B-7BA686F91D61}"/>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Results and verification</a:t>
            </a:r>
          </a:p>
        </p:txBody>
      </p:sp>
      <p:sp>
        <p:nvSpPr>
          <p:cNvPr id="3" name="slide-lead">
            <a:extLst xmlns:a="http://schemas.openxmlformats.org/drawingml/2006/main">
              <a:ext uri="{FF2B5EF4-FFF2-40B4-BE49-F238E27FC236}">
                <a16:creationId xmlns:a16="http://schemas.microsoft.com/office/drawing/2014/main" id="{AAAC7111-FCA2-468C-AA69-812E49D2E26E}"/>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Measurements taken from the running system with the seeded dataset.</a:t>
            </a:r>
          </a:p>
        </p:txBody>
      </p:sp>
      <p:sp>
        <p:nvSpPr>
          <p:cNvPr id="4" name="title-rule">
            <a:extLst xmlns:a="http://schemas.openxmlformats.org/drawingml/2006/main">
              <a:ext uri="{FF2B5EF4-FFF2-40B4-BE49-F238E27FC236}">
                <a16:creationId xmlns:a16="http://schemas.microsoft.com/office/drawing/2014/main" id="{DA7514CF-DBD0-400E-B533-0CBCAAF90E7B}"/>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85DA173-7525-4B0F-999D-418CAB128901}"/>
              </a:ext>
            </a:extLst>
          </p:cNvPr>
          <p:cNvSpPr>
            <a:spLocks xmlns:a="http://schemas.openxmlformats.org/drawingml/2006/main" noGrp="1"/>
          </p:cNvSpPr>
          <p:nvPr/>
        </p:nvSpPr>
        <p:spPr>
          <a:xfrm xmlns:a="http://schemas.openxmlformats.org/drawingml/2006/main">
            <a:off x="685800" y="19050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16</a:t>
            </a:r>
          </a:p>
        </p:txBody>
      </p:sp>
      <p:sp>
        <p:nvSpPr>
          <p:cNvPr id="6" name="">
            <a:extLst xmlns:a="http://schemas.openxmlformats.org/drawingml/2006/main">
              <a:ext uri="{FF2B5EF4-FFF2-40B4-BE49-F238E27FC236}">
                <a16:creationId xmlns:a16="http://schemas.microsoft.com/office/drawing/2014/main" id="{A3648B2B-AB85-4C6B-9B08-38E42DBC3EEE}"/>
              </a:ext>
            </a:extLst>
          </p:cNvPr>
          <p:cNvSpPr>
            <a:spLocks xmlns:a="http://schemas.openxmlformats.org/drawingml/2006/main" noGrp="1"/>
          </p:cNvSpPr>
          <p:nvPr/>
        </p:nvSpPr>
        <p:spPr>
          <a:xfrm xmlns:a="http://schemas.openxmlformats.org/drawingml/2006/main">
            <a:off x="685800" y="2362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donations registered</a:t>
            </a:r>
          </a:p>
        </p:txBody>
      </p:sp>
      <p:sp>
        <p:nvSpPr>
          <p:cNvPr id="7" name="">
            <a:extLst xmlns:a="http://schemas.openxmlformats.org/drawingml/2006/main">
              <a:ext uri="{FF2B5EF4-FFF2-40B4-BE49-F238E27FC236}">
                <a16:creationId xmlns:a16="http://schemas.microsoft.com/office/drawing/2014/main" id="{10CEF089-0D64-4431-92EB-325363A123EB}"/>
              </a:ext>
            </a:extLst>
          </p:cNvPr>
          <p:cNvSpPr>
            <a:spLocks xmlns:a="http://schemas.openxmlformats.org/drawingml/2006/main" noGrp="1"/>
          </p:cNvSpPr>
          <p:nvPr/>
        </p:nvSpPr>
        <p:spPr>
          <a:xfrm xmlns:a="http://schemas.openxmlformats.org/drawingml/2006/main">
            <a:off x="4305300" y="19050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414 kg</a:t>
            </a:r>
          </a:p>
        </p:txBody>
      </p:sp>
      <p:sp>
        <p:nvSpPr>
          <p:cNvPr id="8" name="">
            <a:extLst xmlns:a="http://schemas.openxmlformats.org/drawingml/2006/main">
              <a:ext uri="{FF2B5EF4-FFF2-40B4-BE49-F238E27FC236}">
                <a16:creationId xmlns:a16="http://schemas.microsoft.com/office/drawing/2014/main" id="{532236D2-0839-4F1B-A41C-C643DFA1E5A7}"/>
              </a:ext>
            </a:extLst>
          </p:cNvPr>
          <p:cNvSpPr>
            <a:spLocks xmlns:a="http://schemas.openxmlformats.org/drawingml/2006/main" noGrp="1"/>
          </p:cNvSpPr>
          <p:nvPr/>
        </p:nvSpPr>
        <p:spPr>
          <a:xfrm xmlns:a="http://schemas.openxmlformats.org/drawingml/2006/main">
            <a:off x="4305300" y="2362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food rescued</a:t>
            </a:r>
          </a:p>
        </p:txBody>
      </p:sp>
      <p:sp>
        <p:nvSpPr>
          <p:cNvPr id="9" name="">
            <a:extLst xmlns:a="http://schemas.openxmlformats.org/drawingml/2006/main">
              <a:ext uri="{FF2B5EF4-FFF2-40B4-BE49-F238E27FC236}">
                <a16:creationId xmlns:a16="http://schemas.microsoft.com/office/drawing/2014/main" id="{66A88774-18AD-4497-8295-EAEB316AA3AE}"/>
              </a:ext>
            </a:extLst>
          </p:cNvPr>
          <p:cNvSpPr>
            <a:spLocks xmlns:a="http://schemas.openxmlformats.org/drawingml/2006/main" noGrp="1"/>
          </p:cNvSpPr>
          <p:nvPr/>
        </p:nvSpPr>
        <p:spPr>
          <a:xfrm xmlns:a="http://schemas.openxmlformats.org/drawingml/2006/main">
            <a:off x="7924800" y="190500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1,035</a:t>
            </a:r>
          </a:p>
        </p:txBody>
      </p:sp>
      <p:sp>
        <p:nvSpPr>
          <p:cNvPr id="10" name="">
            <a:extLst xmlns:a="http://schemas.openxmlformats.org/drawingml/2006/main">
              <a:ext uri="{FF2B5EF4-FFF2-40B4-BE49-F238E27FC236}">
                <a16:creationId xmlns:a16="http://schemas.microsoft.com/office/drawing/2014/main" id="{5ADC71E2-4439-40FD-95B0-FBBDB62A7A4D}"/>
              </a:ext>
            </a:extLst>
          </p:cNvPr>
          <p:cNvSpPr>
            <a:spLocks xmlns:a="http://schemas.openxmlformats.org/drawingml/2006/main" noGrp="1"/>
          </p:cNvSpPr>
          <p:nvPr/>
        </p:nvSpPr>
        <p:spPr>
          <a:xfrm xmlns:a="http://schemas.openxmlformats.org/drawingml/2006/main">
            <a:off x="7924800" y="23622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meals equivalent</a:t>
            </a:r>
          </a:p>
        </p:txBody>
      </p:sp>
      <p:sp>
        <p:nvSpPr>
          <p:cNvPr id="11" name="">
            <a:extLst xmlns:a="http://schemas.openxmlformats.org/drawingml/2006/main">
              <a:ext uri="{FF2B5EF4-FFF2-40B4-BE49-F238E27FC236}">
                <a16:creationId xmlns:a16="http://schemas.microsoft.com/office/drawing/2014/main" id="{E9ACF140-0A44-4B52-8933-F80AB916FD62}"/>
              </a:ext>
            </a:extLst>
          </p:cNvPr>
          <p:cNvSpPr>
            <a:spLocks xmlns:a="http://schemas.openxmlformats.org/drawingml/2006/main" noGrp="1"/>
          </p:cNvSpPr>
          <p:nvPr/>
        </p:nvSpPr>
        <p:spPr>
          <a:xfrm xmlns:a="http://schemas.openxmlformats.org/drawingml/2006/main">
            <a:off x="685800" y="30289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91.7%</a:t>
            </a:r>
          </a:p>
        </p:txBody>
      </p:sp>
      <p:sp>
        <p:nvSpPr>
          <p:cNvPr id="12" name="">
            <a:extLst xmlns:a="http://schemas.openxmlformats.org/drawingml/2006/main">
              <a:ext uri="{FF2B5EF4-FFF2-40B4-BE49-F238E27FC236}">
                <a16:creationId xmlns:a16="http://schemas.microsoft.com/office/drawing/2014/main" id="{560BBB95-1645-47FA-B14F-699F8158F34E}"/>
              </a:ext>
            </a:extLst>
          </p:cNvPr>
          <p:cNvSpPr>
            <a:spLocks xmlns:a="http://schemas.openxmlformats.org/drawingml/2006/main" noGrp="1"/>
          </p:cNvSpPr>
          <p:nvPr/>
        </p:nvSpPr>
        <p:spPr>
          <a:xfrm xmlns:a="http://schemas.openxmlformats.org/drawingml/2006/main">
            <a:off x="685800" y="34861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allocations accepted</a:t>
            </a:r>
          </a:p>
        </p:txBody>
      </p:sp>
      <p:sp>
        <p:nvSpPr>
          <p:cNvPr id="13" name="">
            <a:extLst xmlns:a="http://schemas.openxmlformats.org/drawingml/2006/main">
              <a:ext uri="{FF2B5EF4-FFF2-40B4-BE49-F238E27FC236}">
                <a16:creationId xmlns:a16="http://schemas.microsoft.com/office/drawing/2014/main" id="{9111F5AB-437A-4389-8E29-0A1B875FB220}"/>
              </a:ext>
            </a:extLst>
          </p:cNvPr>
          <p:cNvSpPr>
            <a:spLocks xmlns:a="http://schemas.openxmlformats.org/drawingml/2006/main" noGrp="1"/>
          </p:cNvSpPr>
          <p:nvPr/>
        </p:nvSpPr>
        <p:spPr>
          <a:xfrm xmlns:a="http://schemas.openxmlformats.org/drawingml/2006/main">
            <a:off x="4305300" y="30289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56 minutes</a:t>
            </a:r>
          </a:p>
        </p:txBody>
      </p:sp>
      <p:sp>
        <p:nvSpPr>
          <p:cNvPr id="14" name="">
            <a:extLst xmlns:a="http://schemas.openxmlformats.org/drawingml/2006/main">
              <a:ext uri="{FF2B5EF4-FFF2-40B4-BE49-F238E27FC236}">
                <a16:creationId xmlns:a16="http://schemas.microsoft.com/office/drawing/2014/main" id="{29EAAC76-6FD3-422D-BEF9-E6007E6012F6}"/>
              </a:ext>
            </a:extLst>
          </p:cNvPr>
          <p:cNvSpPr>
            <a:spLocks xmlns:a="http://schemas.openxmlformats.org/drawingml/2006/main" noGrp="1"/>
          </p:cNvSpPr>
          <p:nvPr/>
        </p:nvSpPr>
        <p:spPr>
          <a:xfrm xmlns:a="http://schemas.openxmlformats.org/drawingml/2006/main">
            <a:off x="4305300" y="34861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pickup to confirmation</a:t>
            </a:r>
          </a:p>
        </p:txBody>
      </p:sp>
      <p:sp>
        <p:nvSpPr>
          <p:cNvPr id="15" name="">
            <a:extLst xmlns:a="http://schemas.openxmlformats.org/drawingml/2006/main">
              <a:ext uri="{FF2B5EF4-FFF2-40B4-BE49-F238E27FC236}">
                <a16:creationId xmlns:a16="http://schemas.microsoft.com/office/drawing/2014/main" id="{A2C4B9BA-3684-4530-B21B-5FE84D096E54}"/>
              </a:ext>
            </a:extLst>
          </p:cNvPr>
          <p:cNvSpPr>
            <a:spLocks xmlns:a="http://schemas.openxmlformats.org/drawingml/2006/main" noGrp="1"/>
          </p:cNvSpPr>
          <p:nvPr/>
        </p:nvSpPr>
        <p:spPr>
          <a:xfrm xmlns:a="http://schemas.openxmlformats.org/drawingml/2006/main">
            <a:off x="7924800" y="3028950"/>
            <a:ext cx="3238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2550" b="1">
                <a:solidFill>
                  <a:srgbClr val="0E7C57"/>
                </a:solidFill>
                <a:latin typeface="Arial"/>
                <a:ea typeface="Arial"/>
                <a:cs typeface="Arial"/>
              </a:defRPr>
            </a:defPPr>
          </a:lstStyle>
          <a:p xmlns:a="http://schemas.openxmlformats.org/drawingml/2006/main">
            <a:pPr>
              <a:defRPr sz="2550" b="1">
                <a:solidFill>
                  <a:srgbClr val="0E7C57"/>
                </a:solidFill>
                <a:latin typeface="Arial"/>
                <a:ea typeface="Arial"/>
                <a:cs typeface="Arial"/>
              </a:defRPr>
            </a:pPr>
            <a:r>
              <a:rPr sz="2550" b="1">
                <a:solidFill>
                  <a:srgbClr val="0E7C57"/>
                </a:solidFill>
                <a:latin typeface="Arial"/>
                <a:ea typeface="Arial"/>
                <a:cs typeface="Arial"/>
              </a:rPr>
              <a:t>9 of 9</a:t>
            </a:r>
          </a:p>
        </p:txBody>
      </p:sp>
      <p:sp>
        <p:nvSpPr>
          <p:cNvPr id="16" name="">
            <a:extLst xmlns:a="http://schemas.openxmlformats.org/drawingml/2006/main">
              <a:ext uri="{FF2B5EF4-FFF2-40B4-BE49-F238E27FC236}">
                <a16:creationId xmlns:a16="http://schemas.microsoft.com/office/drawing/2014/main" id="{5F3FBEA9-0D72-4A13-B2F3-43EA8EB300E8}"/>
              </a:ext>
            </a:extLst>
          </p:cNvPr>
          <p:cNvSpPr>
            <a:spLocks xmlns:a="http://schemas.openxmlformats.org/drawingml/2006/main" noGrp="1"/>
          </p:cNvSpPr>
          <p:nvPr/>
        </p:nvSpPr>
        <p:spPr>
          <a:xfrm xmlns:a="http://schemas.openxmlformats.org/drawingml/2006/main">
            <a:off x="7924800" y="348615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00" b="0">
                <a:solidFill>
                  <a:srgbClr val="52606F"/>
                </a:solidFill>
                <a:latin typeface="Arial"/>
                <a:ea typeface="Arial"/>
                <a:cs typeface="Arial"/>
              </a:defRPr>
            </a:defPPr>
          </a:lstStyle>
          <a:p xmlns:a="http://schemas.openxmlformats.org/drawingml/2006/main">
            <a:pPr>
              <a:defRPr sz="1200" b="0">
                <a:solidFill>
                  <a:srgbClr val="52606F"/>
                </a:solidFill>
                <a:latin typeface="Arial"/>
                <a:ea typeface="Arial"/>
                <a:cs typeface="Arial"/>
              </a:defRPr>
            </a:pPr>
            <a:r>
              <a:rPr sz="1200" b="0">
                <a:solidFill>
                  <a:srgbClr val="52606F"/>
                </a:solidFill>
                <a:latin typeface="Arial"/>
                <a:ea typeface="Arial"/>
                <a:cs typeface="Arial"/>
              </a:rPr>
              <a:t>automated tests pass</a:t>
            </a:r>
          </a:p>
        </p:txBody>
      </p:sp>
      <p:sp>
        <p:nvSpPr>
          <p:cNvPr id="17" name="">
            <a:extLst xmlns:a="http://schemas.openxmlformats.org/drawingml/2006/main">
              <a:ext uri="{FF2B5EF4-FFF2-40B4-BE49-F238E27FC236}">
                <a16:creationId xmlns:a16="http://schemas.microsoft.com/office/drawing/2014/main" id="{11603C69-CBE9-4F89-BEC9-834766960643}"/>
              </a:ext>
            </a:extLst>
          </p:cNvPr>
          <p:cNvSpPr>
            <a:spLocks xmlns:a="http://schemas.openxmlformats.org/drawingml/2006/main" noGrp="1"/>
          </p:cNvSpPr>
          <p:nvPr/>
        </p:nvSpPr>
        <p:spPr>
          <a:xfrm xmlns:a="http://schemas.openxmlformats.org/drawingml/2006/main">
            <a:off x="685800" y="4305300"/>
            <a:ext cx="10820400" cy="1905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stStyle>
          <a:p xmlns:a="http://schemas.openxmlformats.org/drawingml/2006/main">
            <a:pPr marL="228600" indent="-114300">
              <a:spcAft>
                <a:spcPts val="1200"/>
              </a:spcAft>
              <a:buChar char="•"/>
              <a:defRPr sz="1275">
                <a:solidFill>
                  <a:srgbClr val="131A24"/>
                </a:solidFill>
                <a:latin typeface="Arial"/>
                <a:ea typeface="Arial"/>
                <a:cs typeface="Arial"/>
              </a:defRPr>
            </a:pPr>
            <a:r>
              <a:rPr sz="1275">
                <a:solidFill>
                  <a:srgbClr val="131A24"/>
                </a:solidFill>
                <a:latin typeface="Arial"/>
                <a:ea typeface="Arial"/>
                <a:cs typeface="Arial"/>
              </a:rPr>
              <a:t>Nine automated tests cover the eligibility constraints, the scoring model, the fairness factor, the arrival rule and access control.</a:t>
            </a:r>
          </a:p>
          <a:p xmlns:a="http://schemas.openxmlformats.org/drawingml/2006/main">
            <a:pPr marL="228600" indent="-114300">
              <a:spcAft>
                <a:spcPts val="1200"/>
              </a:spcAft>
              <a:buChar char="•"/>
              <a:defRPr sz="1275">
                <a:solidFill>
                  <a:srgbClr val="131A24"/>
                </a:solidFill>
                <a:latin typeface="Arial"/>
                <a:ea typeface="Arial"/>
                <a:cs typeface="Arial"/>
              </a:defRPr>
            </a:pPr>
            <a:r>
              <a:rPr sz="1275">
                <a:solidFill>
                  <a:srgbClr val="131A24"/>
                </a:solidFill>
                <a:latin typeface="Arial"/>
                <a:ea typeface="Arial"/>
                <a:cs typeface="Arial"/>
              </a:rPr>
              <a:t>Eighteen API checks confirm the role restrictions, including rejection of unauthorised requests with 401 and 403 responses.</a:t>
            </a:r>
          </a:p>
          <a:p xmlns:a="http://schemas.openxmlformats.org/drawingml/2006/main">
            <a:pPr marL="228600" indent="-114300">
              <a:spcAft>
                <a:spcPts val="1200"/>
              </a:spcAft>
              <a:buChar char="•"/>
              <a:defRPr sz="1275">
                <a:solidFill>
                  <a:srgbClr val="131A24"/>
                </a:solidFill>
                <a:latin typeface="Arial"/>
                <a:ea typeface="Arial"/>
                <a:cs typeface="Arial"/>
              </a:defRPr>
            </a:pPr>
            <a:r>
              <a:rPr sz="1275">
                <a:solidFill>
                  <a:srgbClr val="131A24"/>
                </a:solidFill>
                <a:latin typeface="Arial"/>
                <a:ea typeface="Arial"/>
                <a:cs typeface="Arial"/>
              </a:rPr>
              <a:t>A complete rescue was executed end to end: donation, allocation, volunteer assignment, delivery and confirmation.</a:t>
            </a:r>
          </a:p>
        </p:txBody>
      </p:sp>
    </p:spTree>
    <p:extLst>
      <p:ext uri="{BB962C8B-B14F-4D97-AF65-F5344CB8AC3E}">
        <p14:creationId xmlns:p14="http://schemas.microsoft.com/office/powerpoint/2010/main" val="128625260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0A81199-A4F1-4177-9D08-729D11C45BD2}"/>
              </a:ext>
            </a:extLst>
          </p:cNvPr>
          <p:cNvSpPr>
            <a:spLocks xmlns:a="http://schemas.openxmlformats.org/drawingml/2006/main" noGrp="1"/>
          </p:cNvSpPr>
          <p:nvPr/>
        </p:nvSpPr>
        <p:spPr>
          <a:xfrm xmlns:a="http://schemas.openxmlformats.org/drawingml/2006/main">
            <a:off x="9906000" y="552450"/>
            <a:ext cx="1600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975" b="0">
                <a:solidFill>
                  <a:srgbClr val="8A94A3"/>
                </a:solidFill>
                <a:latin typeface="Arial"/>
                <a:ea typeface="Arial"/>
                <a:cs typeface="Arial"/>
              </a:defRPr>
            </a:defPPr>
          </a:lstStyle>
          <a:p xmlns:a="http://schemas.openxmlformats.org/drawingml/2006/main">
            <a:pPr>
              <a:defRPr sz="975" b="0">
                <a:solidFill>
                  <a:srgbClr val="8A94A3"/>
                </a:solidFill>
                <a:latin typeface="Arial"/>
                <a:ea typeface="Arial"/>
                <a:cs typeface="Arial"/>
              </a:defRPr>
            </a:pPr>
            <a:r>
              <a:rPr sz="975" b="0">
                <a:solidFill>
                  <a:srgbClr val="8A94A3"/>
                </a:solidFill>
                <a:latin typeface="Arial"/>
                <a:ea typeface="Arial"/>
                <a:cs typeface="Arial"/>
              </a:rPr>
              <a:t>10 / 10</a:t>
            </a:r>
          </a:p>
        </p:txBody>
      </p:sp>
      <p:sp>
        <p:nvSpPr>
          <p:cNvPr id="2" name="slide-title">
            <a:extLst xmlns:a="http://schemas.openxmlformats.org/drawingml/2006/main">
              <a:ext uri="{FF2B5EF4-FFF2-40B4-BE49-F238E27FC236}">
                <a16:creationId xmlns:a16="http://schemas.microsoft.com/office/drawing/2014/main" id="{997876BE-37F6-4263-833B-2EE25B3C5506}"/>
              </a:ext>
            </a:extLst>
          </p:cNvPr>
          <p:cNvSpPr>
            <a:spLocks xmlns:a="http://schemas.openxmlformats.org/drawingml/2006/main" noGrp="1"/>
          </p:cNvSpPr>
          <p:nvPr/>
        </p:nvSpPr>
        <p:spPr>
          <a:xfrm xmlns:a="http://schemas.openxmlformats.org/drawingml/2006/main">
            <a:off x="685800" y="495300"/>
            <a:ext cx="10820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3000" b="1">
                <a:solidFill>
                  <a:srgbClr val="131A24"/>
                </a:solidFill>
                <a:latin typeface="Arial"/>
                <a:ea typeface="Arial"/>
                <a:cs typeface="Arial"/>
              </a:defRPr>
            </a:defPPr>
          </a:lstStyle>
          <a:p xmlns:a="http://schemas.openxmlformats.org/drawingml/2006/main">
            <a:pPr>
              <a:defRPr sz="3000" b="1">
                <a:solidFill>
                  <a:srgbClr val="131A24"/>
                </a:solidFill>
                <a:latin typeface="Arial"/>
                <a:ea typeface="Arial"/>
                <a:cs typeface="Arial"/>
              </a:defRPr>
            </a:pPr>
            <a:r>
              <a:rPr sz="3000" b="1">
                <a:solidFill>
                  <a:srgbClr val="131A24"/>
                </a:solidFill>
                <a:latin typeface="Arial"/>
                <a:ea typeface="Arial"/>
                <a:cs typeface="Arial"/>
              </a:rPr>
              <a:t>Limitations and future work</a:t>
            </a:r>
          </a:p>
        </p:txBody>
      </p:sp>
      <p:sp>
        <p:nvSpPr>
          <p:cNvPr id="3" name="slide-lead">
            <a:extLst xmlns:a="http://schemas.openxmlformats.org/drawingml/2006/main">
              <a:ext uri="{FF2B5EF4-FFF2-40B4-BE49-F238E27FC236}">
                <a16:creationId xmlns:a16="http://schemas.microsoft.com/office/drawing/2014/main" id="{3690A88B-51AD-4689-9D3B-582F586F2C3B}"/>
              </a:ext>
            </a:extLst>
          </p:cNvPr>
          <p:cNvSpPr>
            <a:spLocks xmlns:a="http://schemas.openxmlformats.org/drawingml/2006/main" noGrp="1"/>
          </p:cNvSpPr>
          <p:nvPr/>
        </p:nvSpPr>
        <p:spPr>
          <a:xfrm xmlns:a="http://schemas.openxmlformats.org/drawingml/2006/main">
            <a:off x="685800" y="10668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575" b="0">
                <a:solidFill>
                  <a:srgbClr val="52606F"/>
                </a:solidFill>
                <a:latin typeface="Arial"/>
                <a:ea typeface="Arial"/>
                <a:cs typeface="Arial"/>
              </a:defRPr>
            </a:defPPr>
          </a:lstStyle>
          <a:p xmlns:a="http://schemas.openxmlformats.org/drawingml/2006/main">
            <a:pPr>
              <a:defRPr sz="1575" b="0">
                <a:solidFill>
                  <a:srgbClr val="52606F"/>
                </a:solidFill>
                <a:latin typeface="Arial"/>
                <a:ea typeface="Arial"/>
                <a:cs typeface="Arial"/>
              </a:defRPr>
            </a:pPr>
            <a:r>
              <a:rPr sz="1575" b="0">
                <a:solidFill>
                  <a:srgbClr val="52606F"/>
                </a:solidFill>
                <a:latin typeface="Arial"/>
                <a:ea typeface="Arial"/>
                <a:cs typeface="Arial"/>
              </a:rPr>
              <a:t>Stated explicitly, with the corresponding improvement for each limitation.</a:t>
            </a:r>
          </a:p>
        </p:txBody>
      </p:sp>
      <p:sp>
        <p:nvSpPr>
          <p:cNvPr id="4" name="title-rule">
            <a:extLst xmlns:a="http://schemas.openxmlformats.org/drawingml/2006/main">
              <a:ext uri="{FF2B5EF4-FFF2-40B4-BE49-F238E27FC236}">
                <a16:creationId xmlns:a16="http://schemas.microsoft.com/office/drawing/2014/main" id="{B2F53B46-E3B4-426F-8FC9-6AE6132084AF}"/>
              </a:ext>
            </a:extLst>
          </p:cNvPr>
          <p:cNvSpPr>
            <a:spLocks xmlns:a="http://schemas.openxmlformats.org/drawingml/2006/main" noGrp="1"/>
          </p:cNvSpPr>
          <p:nvPr/>
        </p:nvSpPr>
        <p:spPr>
          <a:xfrm xmlns:a="http://schemas.openxmlformats.org/drawingml/2006/main">
            <a:off x="685800" y="1504950"/>
            <a:ext cx="10820400" cy="9525"/>
          </a:xfrm>
          <a:prstGeom xmlns:a="http://schemas.openxmlformats.org/drawingml/2006/main" prst="rect">
            <a:avLst/>
          </a:prstGeom>
          <a:solidFill xmlns:a="http://schemas.openxmlformats.org/drawingml/2006/main">
            <a:srgbClr val="E1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DF0DA91-80F2-4519-B823-F00054651838}"/>
              </a:ext>
            </a:extLst>
          </p:cNvPr>
          <p:cNvSpPr>
            <a:spLocks xmlns:a="http://schemas.openxmlformats.org/drawingml/2006/main" noGrp="1"/>
          </p:cNvSpPr>
          <p:nvPr/>
        </p:nvSpPr>
        <p:spPr>
          <a:xfrm xmlns:a="http://schemas.openxmlformats.org/drawingml/2006/main">
            <a:off x="685800" y="1771650"/>
            <a:ext cx="10820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b="1">
                <a:solidFill>
                  <a:srgbClr val="131A24"/>
                </a:solidFill>
                <a:latin typeface="Arial"/>
                <a:ea typeface="Arial"/>
                <a:cs typeface="Arial"/>
              </a:defRPr>
            </a:defPPr>
          </a:lstStyle>
          <a:p xmlns:a="http://schemas.openxmlformats.org/drawingml/2006/main">
            <a:pPr>
              <a:defRPr sz="1275" b="1">
                <a:solidFill>
                  <a:srgbClr val="131A24"/>
                </a:solidFill>
                <a:latin typeface="Arial"/>
                <a:ea typeface="Arial"/>
                <a:cs typeface="Arial"/>
              </a:defRPr>
            </a:pPr>
            <a:r>
              <a:rPr sz="1275" b="1">
                <a:solidFill>
                  <a:srgbClr val="131A24"/>
                </a:solidFill>
                <a:latin typeface="Arial"/>
                <a:ea typeface="Arial"/>
                <a:cs typeface="Arial"/>
              </a:rPr>
              <a:t>Limitations</a:t>
            </a:r>
          </a:p>
        </p:txBody>
      </p:sp>
      <p:sp>
        <p:nvSpPr>
          <p:cNvPr id="6" name="">
            <a:extLst xmlns:a="http://schemas.openxmlformats.org/drawingml/2006/main">
              <a:ext uri="{FF2B5EF4-FFF2-40B4-BE49-F238E27FC236}">
                <a16:creationId xmlns:a16="http://schemas.microsoft.com/office/drawing/2014/main" id="{55F17960-8DB5-417B-A238-C24791ECE5F8}"/>
              </a:ext>
            </a:extLst>
          </p:cNvPr>
          <p:cNvSpPr>
            <a:spLocks xmlns:a="http://schemas.openxmlformats.org/drawingml/2006/main" noGrp="1"/>
          </p:cNvSpPr>
          <p:nvPr/>
        </p:nvSpPr>
        <p:spPr>
          <a:xfrm xmlns:a="http://schemas.openxmlformats.org/drawingml/2006/main">
            <a:off x="685800" y="2133600"/>
            <a:ext cx="49530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stStyle>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Distances are calculated as straight lines; road routing and live traffic are not included.</a:t>
            </a:r>
          </a:p>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A single average travel speed is applied to all volunteers.</a:t>
            </a:r>
          </a:p>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Locations are stored as coordinates; there is no map input or address lookup.</a:t>
            </a:r>
          </a:p>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Delivery tracking records status changes only; GPS positions are not streamed.</a:t>
            </a:r>
          </a:p>
        </p:txBody>
      </p:sp>
      <p:sp>
        <p:nvSpPr>
          <p:cNvPr id="7" name="">
            <a:extLst xmlns:a="http://schemas.openxmlformats.org/drawingml/2006/main">
              <a:ext uri="{FF2B5EF4-FFF2-40B4-BE49-F238E27FC236}">
                <a16:creationId xmlns:a16="http://schemas.microsoft.com/office/drawing/2014/main" id="{41573E89-DF57-47B9-A657-A75514BEE6F3}"/>
              </a:ext>
            </a:extLst>
          </p:cNvPr>
          <p:cNvSpPr>
            <a:spLocks xmlns:a="http://schemas.openxmlformats.org/drawingml/2006/main" noGrp="1"/>
          </p:cNvSpPr>
          <p:nvPr/>
        </p:nvSpPr>
        <p:spPr>
          <a:xfrm xmlns:a="http://schemas.openxmlformats.org/drawingml/2006/main">
            <a:off x="6477000" y="1771650"/>
            <a:ext cx="502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b="1">
                <a:solidFill>
                  <a:srgbClr val="131A24"/>
                </a:solidFill>
                <a:latin typeface="Arial"/>
                <a:ea typeface="Arial"/>
                <a:cs typeface="Arial"/>
              </a:defRPr>
            </a:defPPr>
          </a:lstStyle>
          <a:p xmlns:a="http://schemas.openxmlformats.org/drawingml/2006/main">
            <a:pPr>
              <a:defRPr sz="1275" b="1">
                <a:solidFill>
                  <a:srgbClr val="131A24"/>
                </a:solidFill>
                <a:latin typeface="Arial"/>
                <a:ea typeface="Arial"/>
                <a:cs typeface="Arial"/>
              </a:defRPr>
            </a:pPr>
            <a:r>
              <a:rPr sz="1275" b="1">
                <a:solidFill>
                  <a:srgbClr val="131A24"/>
                </a:solidFill>
                <a:latin typeface="Arial"/>
                <a:ea typeface="Arial"/>
                <a:cs typeface="Arial"/>
              </a:rPr>
              <a:t>Future work</a:t>
            </a:r>
          </a:p>
        </p:txBody>
      </p:sp>
      <p:sp>
        <p:nvSpPr>
          <p:cNvPr id="8" name="">
            <a:extLst xmlns:a="http://schemas.openxmlformats.org/drawingml/2006/main">
              <a:ext uri="{FF2B5EF4-FFF2-40B4-BE49-F238E27FC236}">
                <a16:creationId xmlns:a16="http://schemas.microsoft.com/office/drawing/2014/main" id="{6248217F-C4AF-4924-91B3-81908B8E3D0B}"/>
              </a:ext>
            </a:extLst>
          </p:cNvPr>
          <p:cNvSpPr>
            <a:spLocks xmlns:a="http://schemas.openxmlformats.org/drawingml/2006/main" noGrp="1"/>
          </p:cNvSpPr>
          <p:nvPr/>
        </p:nvSpPr>
        <p:spPr>
          <a:xfrm xmlns:a="http://schemas.openxmlformats.org/drawingml/2006/main">
            <a:off x="6477000" y="2133600"/>
            <a:ext cx="5029200" cy="3619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oAutofit/>
          </a:bodyPr>
          <a:lstStyle xmlns:a="http://schemas.openxmlformats.org/drawingml/2006/main">
            <a:defPPr>
              <a:defRPr sz="1275">
                <a:solidFill>
                  <a:srgbClr val="131A24"/>
                </a:solidFill>
                <a:latin typeface="Arial"/>
                <a:ea typeface="Arial"/>
                <a:cs typeface="Arial"/>
              </a:defRPr>
            </a:defPPr>
          </a:lstStyle>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Route aware arrival estimates using a mapping service.</a:t>
            </a:r>
          </a:p>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Map based location entry and per vehicle travel speeds.</a:t>
            </a:r>
          </a:p>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A reliability score for volunteers derived from accept, decline and completion history.</a:t>
            </a:r>
          </a:p>
          <a:p xmlns:a="http://schemas.openxmlformats.org/drawingml/2006/main">
            <a:pPr marL="228600" indent="-114300">
              <a:spcAft>
                <a:spcPts val="1600"/>
              </a:spcAft>
              <a:buChar char="•"/>
              <a:defRPr sz="1275">
                <a:solidFill>
                  <a:srgbClr val="131A24"/>
                </a:solidFill>
                <a:latin typeface="Arial"/>
                <a:ea typeface="Arial"/>
                <a:cs typeface="Arial"/>
              </a:defRPr>
            </a:pPr>
            <a:r>
              <a:rPr sz="1275">
                <a:solidFill>
                  <a:srgbClr val="131A24"/>
                </a:solidFill>
                <a:latin typeface="Arial"/>
                <a:ea typeface="Arial"/>
                <a:cs typeface="Arial"/>
              </a:rPr>
              <a:t>Deployment, and SMS or WhatsApp notifications for organizations that do not use the application.</a:t>
            </a:r>
          </a:p>
        </p:txBody>
      </p:sp>
    </p:spTree>
    <p:extLst>
      <p:ext uri="{BB962C8B-B14F-4D97-AF65-F5344CB8AC3E}">
        <p14:creationId xmlns:p14="http://schemas.microsoft.com/office/powerpoint/2010/main" val="1025850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2026-10-16T05:06:21.1030000Z</dcterms:created>
  <dcterms:modified xsi:type="dcterms:W3CDTF">2026-10-16T05:06:21.1030000Z</dcterms:modified>
</coreProperties>
</file>