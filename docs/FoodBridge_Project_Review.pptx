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440d009af6486e" /><Relationship Type="http://schemas.openxmlformats.org/officeDocument/2006/relationships/extended-properties" Target="/docProps/app.xml" Id="R24d1b4905f014564" /><Relationship Type="http://schemas.openxmlformats.org/officeDocument/2006/relationships/officeDocument" Target="/ppt/presentation.xml" Id="Rc088cd90351949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8c4b691df14367"/>
  </p:sldMasterIdLst>
  <p:notesMasterIdLst>
    <p:notesMasterId xmlns:r="http://schemas.openxmlformats.org/officeDocument/2006/relationships" r:id="R3f9fc88fdb4c4e92"/>
  </p:notesMasterIdLst>
  <p:sldIdLst>
    <p:sldId xmlns:r="http://schemas.openxmlformats.org/officeDocument/2006/relationships" id="256" r:id="R7ff05dc14f9e41e0"/>
    <p:sldId xmlns:r="http://schemas.openxmlformats.org/officeDocument/2006/relationships" id="257" r:id="R88535e5605f74b74"/>
    <p:sldId xmlns:r="http://schemas.openxmlformats.org/officeDocument/2006/relationships" id="258" r:id="Rd834569fec6a4177"/>
    <p:sldId xmlns:r="http://schemas.openxmlformats.org/officeDocument/2006/relationships" id="259" r:id="R051c031abe644b4e"/>
    <p:sldId xmlns:r="http://schemas.openxmlformats.org/officeDocument/2006/relationships" id="260" r:id="Rbbbdc6eeffd547a6"/>
    <p:sldId xmlns:r="http://schemas.openxmlformats.org/officeDocument/2006/relationships" id="261" r:id="R105cf3e4d3ba4c61"/>
    <p:sldId xmlns:r="http://schemas.openxmlformats.org/officeDocument/2006/relationships" id="262" r:id="R3801eaea19934a76"/>
    <p:sldId xmlns:r="http://schemas.openxmlformats.org/officeDocument/2006/relationships" id="263" r:id="R9556ffe63e4b4d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82ab7efa63474e" /><Relationship Type="http://schemas.openxmlformats.org/officeDocument/2006/relationships/slideMaster" Target="/ppt/slideMasters/slideMaster1.xml" Id="Rc58c4b691df14367" /><Relationship Type="http://schemas.openxmlformats.org/officeDocument/2006/relationships/notesMaster" Target="/ppt/notesMasters/notesMaster1.xml" Id="R3f9fc88fdb4c4e92" /><Relationship Type="http://schemas.openxmlformats.org/officeDocument/2006/relationships/presProps" Target="/ppt/presProps.xml" Id="R6a0fd0b0838e4ff2" /><Relationship Type="http://schemas.openxmlformats.org/officeDocument/2006/relationships/tableStyles" Target="/ppt/tableStyles.xml" Id="R755d388e27d44171" /><Relationship Type="http://schemas.openxmlformats.org/officeDocument/2006/relationships/slide" Target="/ppt/slides/slide1.xml" Id="R7ff05dc14f9e41e0" /><Relationship Type="http://schemas.openxmlformats.org/officeDocument/2006/relationships/slide" Target="/ppt/slides/slide2.xml" Id="R88535e5605f74b74" /><Relationship Type="http://schemas.openxmlformats.org/officeDocument/2006/relationships/slide" Target="/ppt/slides/slide3.xml" Id="Rd834569fec6a4177" /><Relationship Type="http://schemas.openxmlformats.org/officeDocument/2006/relationships/slide" Target="/ppt/slides/slide4.xml" Id="R051c031abe644b4e" /><Relationship Type="http://schemas.openxmlformats.org/officeDocument/2006/relationships/slide" Target="/ppt/slides/slide5.xml" Id="Rbbbdc6eeffd547a6" /><Relationship Type="http://schemas.openxmlformats.org/officeDocument/2006/relationships/slide" Target="/ppt/slides/slide6.xml" Id="R105cf3e4d3ba4c61" /><Relationship Type="http://schemas.openxmlformats.org/officeDocument/2006/relationships/slide" Target="/ppt/slides/slide7.xml" Id="R3801eaea19934a76" /><Relationship Type="http://schemas.openxmlformats.org/officeDocument/2006/relationships/slide" Target="/ppt/slides/slide8.xml" Id="R9556ffe63e4b4d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36abe7afa74e0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5203eac55f486d" /><Relationship Type="http://schemas.openxmlformats.org/officeDocument/2006/relationships/notesMaster" Target="/ppt/notesMasters/notesMaster1.xml" Id="Rfa074a7a2a9c4f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b87843656a943a9" /><Relationship Type="http://schemas.openxmlformats.org/officeDocument/2006/relationships/notesMaster" Target="/ppt/notesMasters/notesMaster1.xml" Id="Rc612110a027f45b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f4f226ae6304227" /><Relationship Type="http://schemas.openxmlformats.org/officeDocument/2006/relationships/notesMaster" Target="/ppt/notesMasters/notesMaster1.xml" Id="R196700f95e3d429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16808eeb8be4f58" /><Relationship Type="http://schemas.openxmlformats.org/officeDocument/2006/relationships/notesMaster" Target="/ppt/notesMasters/notesMaster1.xml" Id="R5359abe1ec2245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5c927e8cb484c1e" /><Relationship Type="http://schemas.openxmlformats.org/officeDocument/2006/relationships/notesMaster" Target="/ppt/notesMasters/notesMaster1.xml" Id="R9c4011aa6b5f4d7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13dca8e3784743" /><Relationship Type="http://schemas.openxmlformats.org/officeDocument/2006/relationships/notesMaster" Target="/ppt/notesMasters/notesMaster1.xml" Id="R2a6d4030ce64495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6aba4f8abf44b6" /><Relationship Type="http://schemas.openxmlformats.org/officeDocument/2006/relationships/notesMaster" Target="/ppt/notesMasters/notesMaster1.xml" Id="R2355894c64fd4c0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e24c4156e6a4b99" /><Relationship Type="http://schemas.openxmlformats.org/officeDocument/2006/relationships/notesMaster" Target="/ppt/notesMasters/notesMaster1.xml" Id="R2f7f1a363a8f489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About 10 seconds. Then move straight 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Deck covers five minutes, the live demo takes the rest of the ten.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About 40 seconds. Title, one line of context, then the four problems. The last two are what the engine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About 40 seconds. Say who uses it and that the decision is stored with its reason, then go to architecture.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About 40 seconds. Name the four layers, then the entity chain on the right. Do not read every entity aloud.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About 50 seconds. Walk the four filters, then the six factors. This is the slide the demo repeats live on screen.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About 60 seconds and the key slide. Name the rule, then the change I made in my own design. The three assumptions are what I defend.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About 40 seconds. Read two or three numbers, then the four differences on the right. Then move to the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About 20 seconds, then switch to the live demo: localhost:5173, admin login.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7bac50a12d4f2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5f0a98d10f4da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adfcebc5af44f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2750b322604f6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858720c41a457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72bd4093f140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CB20593-8BE2-400F-A7D1-389BAD97EF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D03DB36-0837-483C-A752-9BD2EAA6E8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B932983-0BE1-496F-A547-1F5FED304F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C719564-8CFF-4B44-9834-D35D524698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F3D5AB6-3F04-473C-941D-263391D251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C46E764-1F72-4176-832E-3D159B181C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73D08DB-D2D9-4625-88A2-1AA563CEC0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D834ABA-EC9F-4CE3-B32E-DD956A37710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4C33202-82B1-4F6A-8CFB-AB25D4F2EC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E4483B5-D2E5-44F9-9AEC-A8663A6A8C6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2f277de7184e75" /><Relationship Type="http://schemas.openxmlformats.org/officeDocument/2006/relationships/slideLayout" Target="/ppt/slideLayouts/slideLayout1.xml" Id="R930449b2772148eb" /><Relationship Type="http://schemas.openxmlformats.org/officeDocument/2006/relationships/slideLayout" Target="/ppt/slideLayouts/slideLayout2.xml" Id="Rd4fe8d893df445fa" /><Relationship Type="http://schemas.openxmlformats.org/officeDocument/2006/relationships/slideLayout" Target="/ppt/slideLayouts/slideLayout3.xml" Id="R3f94f09c4cc24eb8" /><Relationship Type="http://schemas.openxmlformats.org/officeDocument/2006/relationships/slideLayout" Target="/ppt/slideLayouts/slideLayout4.xml" Id="R2ccaf08c017043d7" /><Relationship Type="http://schemas.openxmlformats.org/officeDocument/2006/relationships/slideLayout" Target="/ppt/slideLayouts/slideLayout5.xml" Id="R9f252efbc8f04842" /><Relationship Type="http://schemas.openxmlformats.org/officeDocument/2006/relationships/slideLayout" Target="/ppt/slideLayouts/slideLayout6.xml" Id="R3e044614711646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30449b2772148eb"/>
    <p:sldLayoutId xmlns:r="http://schemas.openxmlformats.org/officeDocument/2006/relationships" id="2147483650" r:id="Rd4fe8d893df445fa"/>
    <p:sldLayoutId xmlns:r="http://schemas.openxmlformats.org/officeDocument/2006/relationships" id="2147483651" r:id="R3f94f09c4cc24eb8"/>
    <p:sldLayoutId xmlns:r="http://schemas.openxmlformats.org/officeDocument/2006/relationships" id="2147483652" r:id="R2ccaf08c017043d7"/>
    <p:sldLayoutId xmlns:r="http://schemas.openxmlformats.org/officeDocument/2006/relationships" id="2147483653" r:id="R9f252efbc8f04842"/>
    <p:sldLayoutId xmlns:r="http://schemas.openxmlformats.org/officeDocument/2006/relationships" id="2147483654" r:id="R3e044614711646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27e5578feb456a" /><Relationship Type="http://schemas.openxmlformats.org/officeDocument/2006/relationships/image" Target="/ppt/media/image.png" Id="Rcc2042434b464dee" /><Relationship Type="http://schemas.openxmlformats.org/officeDocument/2006/relationships/notesSlide" Target="/ppt/notesSlides/notesSlide1.xml" Id="R7078402bf7e645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d8f40d48834ff3" /><Relationship Type="http://schemas.openxmlformats.org/officeDocument/2006/relationships/notesSlide" Target="/ppt/notesSlides/notesSlide2.xml" Id="R2caabfa59b0d4d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c503419a674d0b" /><Relationship Type="http://schemas.openxmlformats.org/officeDocument/2006/relationships/notesSlide" Target="/ppt/notesSlides/notesSlide3.xml" Id="R3671fc567f9f479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10f296e7324531" /><Relationship Type="http://schemas.openxmlformats.org/officeDocument/2006/relationships/notesSlide" Target="/ppt/notesSlides/notesSlide4.xml" Id="R7b0790a4a3204a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6bf713a2574897" /><Relationship Type="http://schemas.openxmlformats.org/officeDocument/2006/relationships/notesSlide" Target="/ppt/notesSlides/notesSlide5.xml" Id="R68094b87c2084c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3d0b8129014eb8" /><Relationship Type="http://schemas.openxmlformats.org/officeDocument/2006/relationships/notesSlide" Target="/ppt/notesSlides/notesSlide6.xml" Id="R577d96bcae3648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d3186873f84979" /><Relationship Type="http://schemas.openxmlformats.org/officeDocument/2006/relationships/notesSlide" Target="/ppt/notesSlides/notesSlide7.xml" Id="R6d05df86915747e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408da551224de3" /><Relationship Type="http://schemas.openxmlformats.org/officeDocument/2006/relationships/notesSlide" Target="/ppt/notesSlides/notesSlide8.xml" Id="R529309989d1b406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D6B05B-B4F8-4922-9AE1-EE44066AD6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2042434b464dee"/>
          <a:stretch xmlns:a="http://schemas.openxmlformats.org/drawingml/2006/main"/>
        </p:blipFill>
        <p:spPr>
          <a:xfrm xmlns:a="http://schemas.openxmlformats.org/drawingml/2006/main">
            <a:off x="685800" y="800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EA4A2F-48AD-47A8-92D3-1C9D25A4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05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FoodBridge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FF1BD3-2081-4EA1-8E52-7B55D390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Intelligent Food Rescue Coordination and Resource Allocation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8863A7-6AF2-406D-86A0-87207F52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285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094B69-97D5-4DF4-9193-D6DF988C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Project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AF71BC-4238-4549-B605-7E2C1579F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Adithyan S Nair, 24BAI1621</a:t>
            </a:r>
          </a:p>
        </p:txBody>
      </p:sp>
    </p:spTree>
    <p:extLst>
      <p:ext uri="{BB962C8B-B14F-4D97-AF65-F5344CB8AC3E}">
        <p14:creationId xmlns:p14="http://schemas.microsoft.com/office/powerpoint/2010/main" val="6896635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85D96CB-EE04-41B6-A513-B9CBB46D5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The problem, and where existing platforms stop</a:t>
            </a:r>
          </a:p>
        </p:txBody>
      </p:sp>
      <p:sp>
        <p:nvSpPr>
          <p:cNvPr id="2" name="slide-lead">
            <a:extLst xmlns:a="http://schemas.openxmlformats.org/drawingml/2006/main">
              <a:ext uri="{FF2B5EF4-FFF2-40B4-BE49-F238E27FC236}">
                <a16:creationId xmlns:a16="http://schemas.microsoft.com/office/drawing/2014/main" id="{7FE6D8C4-9A99-49C7-B892-F8E65F12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Surplus food is thrown away while the organizations that need it run short.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B1E572C-B731-4F91-BE31-3682BAC3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5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F32874-59A1-42CB-93E3-FAF1992B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08204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228600" indent="-114300">
              <a:spcAft>
                <a:spcPts val="1800"/>
              </a:spcAft>
              <a:buChar char="•"/>
              <a:defRPr sz="15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A24"/>
                </a:solidFill>
                <a:latin typeface="Arial"/>
                <a:ea typeface="Arial"/>
                <a:cs typeface="Arial"/>
              </a:rPr>
              <a:t>Coordinating a donation means phone calls and messages, so food is collected late or missed.</a:t>
            </a:r>
          </a:p>
          <a:p xmlns:a="http://schemas.openxmlformats.org/drawingml/2006/main">
            <a:pPr marL="228600" indent="-114300">
              <a:spcAft>
                <a:spcPts val="1800"/>
              </a:spcAft>
              <a:buChar char="•"/>
              <a:defRPr sz="15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A24"/>
                </a:solidFill>
                <a:latin typeface="Arial"/>
                <a:ea typeface="Arial"/>
                <a:cs typeface="Arial"/>
              </a:rPr>
              <a:t>Most donation platforms publish a listing and let the first organization that claims it take the food.</a:t>
            </a:r>
          </a:p>
          <a:p xmlns:a="http://schemas.openxmlformats.org/drawingml/2006/main">
            <a:pPr marL="228600" indent="-114300">
              <a:spcAft>
                <a:spcPts val="1800"/>
              </a:spcAft>
              <a:buChar char="•"/>
              <a:defRPr sz="15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A24"/>
                </a:solidFill>
                <a:latin typeface="Arial"/>
                <a:ea typeface="Arial"/>
                <a:cs typeface="Arial"/>
              </a:rPr>
              <a:t>Nobody checks whether the food can arrive before it expires, or whether one partner takes most of it.</a:t>
            </a:r>
          </a:p>
          <a:p xmlns:a="http://schemas.openxmlformats.org/drawingml/2006/main">
            <a:pPr marL="228600" indent="-114300">
              <a:spcAft>
                <a:spcPts val="1800"/>
              </a:spcAft>
              <a:buChar char="•"/>
              <a:defRPr sz="15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A24"/>
                </a:solidFill>
                <a:latin typeface="Arial"/>
                <a:ea typeface="Arial"/>
                <a:cs typeface="Arial"/>
              </a:rPr>
              <a:t>Reports count kilograms donated and never explain why one organization was chosen.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528C8F-3F83-4D24-B76C-55ED7723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Assessment from my requirement study, not a published benchmark.</a:t>
            </a:r>
          </a:p>
        </p:txBody>
      </p:sp>
    </p:spTree>
    <p:extLst>
      <p:ext uri="{BB962C8B-B14F-4D97-AF65-F5344CB8AC3E}">
        <p14:creationId xmlns:p14="http://schemas.microsoft.com/office/powerpoint/2010/main" val="14015643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7DDA584-8BAA-4770-923F-68A4CC010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What FoodBridge does</a:t>
            </a:r>
          </a:p>
        </p:txBody>
      </p:sp>
      <p:sp>
        <p:nvSpPr>
          <p:cNvPr id="2" name="slide-lead">
            <a:extLst xmlns:a="http://schemas.openxmlformats.org/drawingml/2006/main">
              <a:ext uri="{FF2B5EF4-FFF2-40B4-BE49-F238E27FC236}">
                <a16:creationId xmlns:a16="http://schemas.microsoft.com/office/drawing/2014/main" id="{2122B23B-2842-4498-A823-F80227BB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The engine decides who receives each donation, and explains why.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DD45F3A-4040-49B7-9F42-673078647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5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low-Donation registered">
            <a:extLst xmlns:a="http://schemas.openxmlformats.org/drawingml/2006/main">
              <a:ext uri="{FF2B5EF4-FFF2-40B4-BE49-F238E27FC236}">
                <a16:creationId xmlns:a16="http://schemas.microsoft.com/office/drawing/2014/main" id="{F5B464D2-197B-4830-8285-F7E87264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142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CC4165-2F6F-41BF-9795-BDF32FA9D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Donation registered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EB79D5-8099-49E6-A4B9-611157F48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donor enters details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D8B391-6921-45BB-948F-BB325D41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0030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flow-Engine ranks recipients">
            <a:extLst xmlns:a="http://schemas.openxmlformats.org/drawingml/2006/main">
              <a:ext uri="{FF2B5EF4-FFF2-40B4-BE49-F238E27FC236}">
                <a16:creationId xmlns:a16="http://schemas.microsoft.com/office/drawing/2014/main" id="{5E9F5168-4466-4B61-B2FB-495E9E00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981200"/>
            <a:ext cx="142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0413BD-B876-4AE5-BF3D-8D15E3E1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11455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Engine ranks recipients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655E80-1A03-4636-BD9F-EF45D568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47650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filters, then scores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DDF7D9-07B9-4E74-BC7C-33E5F68E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40030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low-Recipient accepts">
            <a:extLst xmlns:a="http://schemas.openxmlformats.org/drawingml/2006/main">
              <a:ext uri="{FF2B5EF4-FFF2-40B4-BE49-F238E27FC236}">
                <a16:creationId xmlns:a16="http://schemas.microsoft.com/office/drawing/2014/main" id="{9A4B0454-9D68-4BC9-9124-86291BB13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981200"/>
            <a:ext cx="142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F9A782-A040-4E79-9617-3772613D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11455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Recipient accepts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4A36A4-58F8-44B7-B58D-B94EB03F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7650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with the reason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B5ADD0-9859-46B3-ADDF-1618F9828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0030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flow-Volunteer collects">
            <a:extLst xmlns:a="http://schemas.openxmlformats.org/drawingml/2006/main">
              <a:ext uri="{FF2B5EF4-FFF2-40B4-BE49-F238E27FC236}">
                <a16:creationId xmlns:a16="http://schemas.microsoft.com/office/drawing/2014/main" id="{6C0109FD-4E33-45B6-AC7D-35AA3F65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981200"/>
            <a:ext cx="142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D24486-4D32-4B1F-BE6F-8581A9F7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1455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Volunteer collects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F754DD-FAA3-4565-97C1-9A391F758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7650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matched by distance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D1B9F4-DBE7-4278-95BD-6437464E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0030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low-Delivered">
            <a:extLst xmlns:a="http://schemas.openxmlformats.org/drawingml/2006/main">
              <a:ext uri="{FF2B5EF4-FFF2-40B4-BE49-F238E27FC236}">
                <a16:creationId xmlns:a16="http://schemas.microsoft.com/office/drawing/2014/main" id="{CED9583D-6168-43D9-BBEB-FE1F1904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981200"/>
            <a:ext cx="142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2E29BD-C09E-4C0C-8F9B-8CBEEAC0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1455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Delivered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A7CE81-E7A7-480B-A6A1-A98E85E3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47650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tracked to handover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7DD9A2-CC70-4CC1-83BD-BC4BBBB8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40030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low-Reports update">
            <a:extLst xmlns:a="http://schemas.openxmlformats.org/drawingml/2006/main">
              <a:ext uri="{FF2B5EF4-FFF2-40B4-BE49-F238E27FC236}">
                <a16:creationId xmlns:a16="http://schemas.microsoft.com/office/drawing/2014/main" id="{39C0D567-C5CF-443F-8AE2-F9A332880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981200"/>
            <a:ext cx="142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264104-8761-466A-AAD0-27CB7F87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1455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Reports update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A245A4-CBE7-4EA7-94EB-79344D61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476500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rescues and audit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A046A4-AB87-44F8-B4AC-1BEC1ADD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10820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5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A24"/>
                </a:solidFill>
                <a:latin typeface="Arial"/>
                <a:ea typeface="Arial"/>
                <a:cs typeface="Arial"/>
              </a:rPr>
              <a:t>Four roles use it: donors, recipient organizations, volunteers and the administrator.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5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A24"/>
                </a:solidFill>
                <a:latin typeface="Arial"/>
                <a:ea typeface="Arial"/>
                <a:cs typeface="Arial"/>
              </a:rPr>
              <a:t>Every allocation stores its score, the factor breakdown and a written explanation.</a:t>
            </a:r>
          </a:p>
        </p:txBody>
      </p:sp>
    </p:spTree>
    <p:extLst>
      <p:ext uri="{BB962C8B-B14F-4D97-AF65-F5344CB8AC3E}">
        <p14:creationId xmlns:p14="http://schemas.microsoft.com/office/powerpoint/2010/main" val="4873481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2F33ABD-3C02-496C-9E5D-7C1B683A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Architecture and data</a:t>
            </a:r>
          </a:p>
        </p:txBody>
      </p:sp>
      <p:sp>
        <p:nvSpPr>
          <p:cNvPr id="2" name="slide-lead">
            <a:extLst xmlns:a="http://schemas.openxmlformats.org/drawingml/2006/main">
              <a:ext uri="{FF2B5EF4-FFF2-40B4-BE49-F238E27FC236}">
                <a16:creationId xmlns:a16="http://schemas.microsoft.com/office/drawing/2014/main" id="{222BDE01-2460-496B-81F1-AD1B2CF2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Four layers, and twelve entities in third normal form.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B6A1B48B-051C-4C2F-9C71-F3480864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5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layer-Presentation">
            <a:extLst xmlns:a="http://schemas.openxmlformats.org/drawingml/2006/main">
              <a:ext uri="{FF2B5EF4-FFF2-40B4-BE49-F238E27FC236}">
                <a16:creationId xmlns:a16="http://schemas.microsoft.com/office/drawing/2014/main" id="{E56DD208-0FDA-49C6-8257-B4474687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5905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9FC544-DAA4-46A4-8607-72436986F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Presentation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9ABA33-55AD-4EC1-8358-E75DC840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0193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React single page app. Four role workspaces.</a:t>
            </a:r>
          </a:p>
        </p:txBody>
      </p:sp>
      <p:sp>
        <p:nvSpPr>
          <p:cNvPr id="7" name="layer-Application">
            <a:extLst xmlns:a="http://schemas.openxmlformats.org/drawingml/2006/main">
              <a:ext uri="{FF2B5EF4-FFF2-40B4-BE49-F238E27FC236}">
                <a16:creationId xmlns:a16="http://schemas.microsoft.com/office/drawing/2014/main" id="{439CAF8C-F319-452E-94CA-E55BB054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5905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D68A4-40C8-4A13-851B-6E87C2550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Application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74C130-E9B0-4DF1-81F2-B28ACBC5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8194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Spring Boot REST API. Authentication and endpoints.</a:t>
            </a:r>
          </a:p>
        </p:txBody>
      </p:sp>
      <p:sp>
        <p:nvSpPr>
          <p:cNvPr id="10" name="layer-Business logic">
            <a:extLst xmlns:a="http://schemas.openxmlformats.org/drawingml/2006/main">
              <a:ext uri="{FF2B5EF4-FFF2-40B4-BE49-F238E27FC236}">
                <a16:creationId xmlns:a16="http://schemas.microsoft.com/office/drawing/2014/main" id="{7EB64951-9955-4A8B-8595-E055C0AB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5905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58E29F-B61A-4800-97AB-663925F9A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Business logic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C722DE-833D-42F3-AE30-E4DAEF18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6195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Services, including the allocation engine.</a:t>
            </a:r>
          </a:p>
        </p:txBody>
      </p:sp>
      <p:sp>
        <p:nvSpPr>
          <p:cNvPr id="13" name="layer-Data">
            <a:extLst xmlns:a="http://schemas.openxmlformats.org/drawingml/2006/main">
              <a:ext uri="{FF2B5EF4-FFF2-40B4-BE49-F238E27FC236}">
                <a16:creationId xmlns:a16="http://schemas.microsoft.com/office/drawing/2014/main" id="{EA4215D0-6A04-4497-BD91-1EFDF4D1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5905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4B6759-292D-4562-9EB5-06649236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DD5F03-6028-4D68-A4A1-AF3DF2AB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4196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Spring Data JPA over MySQL.</a:t>
            </a:r>
          </a:p>
        </p:txBody>
      </p:sp>
      <p:sp>
        <p:nvSpPr>
          <p:cNvPr id="16" name="flow-User">
            <a:extLst xmlns:a="http://schemas.openxmlformats.org/drawingml/2006/main">
              <a:ext uri="{FF2B5EF4-FFF2-40B4-BE49-F238E27FC236}">
                <a16:creationId xmlns:a16="http://schemas.microsoft.com/office/drawing/2014/main" id="{E21683F6-E25E-44CD-8DDB-3DB70D19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2857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3C4AED-488C-45A5-AFAC-6886B417D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431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User</a:t>
            </a:r>
          </a:p>
        </p:txBody>
      </p:sp>
      <p:sp>
        <p:nvSpPr>
          <p:cNvPr id="18" name="flow-Donor">
            <a:extLst xmlns:a="http://schemas.openxmlformats.org/drawingml/2006/main">
              <a:ext uri="{FF2B5EF4-FFF2-40B4-BE49-F238E27FC236}">
                <a16:creationId xmlns:a16="http://schemas.microsoft.com/office/drawing/2014/main" id="{7641B98A-B905-4BE1-A1DE-217420B7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05050"/>
            <a:ext cx="2857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6D00EF-6E70-4566-AB1E-7C6411CB6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384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Donor</a:t>
            </a:r>
          </a:p>
        </p:txBody>
      </p:sp>
      <p:sp>
        <p:nvSpPr>
          <p:cNvPr id="20" name="flow-Food donation">
            <a:extLst xmlns:a="http://schemas.openxmlformats.org/drawingml/2006/main">
              <a:ext uri="{FF2B5EF4-FFF2-40B4-BE49-F238E27FC236}">
                <a16:creationId xmlns:a16="http://schemas.microsoft.com/office/drawing/2014/main" id="{6D778760-477A-4C7A-817C-AA7B6D81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00350"/>
            <a:ext cx="2857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4DD9A7-8A0D-4057-97B3-53DEB4A7B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9337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Food donation</a:t>
            </a:r>
          </a:p>
        </p:txBody>
      </p:sp>
      <p:sp>
        <p:nvSpPr>
          <p:cNvPr id="22" name="flow-Allocation">
            <a:extLst xmlns:a="http://schemas.openxmlformats.org/drawingml/2006/main">
              <a:ext uri="{FF2B5EF4-FFF2-40B4-BE49-F238E27FC236}">
                <a16:creationId xmlns:a16="http://schemas.microsoft.com/office/drawing/2014/main" id="{5A0DA93D-E0A3-4EC7-B98A-2F6B054D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95650"/>
            <a:ext cx="2857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AF3D32-655F-433A-AAC3-23072E13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4290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Allocation</a:t>
            </a:r>
          </a:p>
        </p:txBody>
      </p:sp>
      <p:sp>
        <p:nvSpPr>
          <p:cNvPr id="24" name="flow-Assignment">
            <a:extLst xmlns:a="http://schemas.openxmlformats.org/drawingml/2006/main">
              <a:ext uri="{FF2B5EF4-FFF2-40B4-BE49-F238E27FC236}">
                <a16:creationId xmlns:a16="http://schemas.microsoft.com/office/drawing/2014/main" id="{139103F5-847E-4DDA-986A-9E4EEAAE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90950"/>
            <a:ext cx="2857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742A26-6862-4239-A033-36F4C3EAF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243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Assignment</a:t>
            </a:r>
          </a:p>
        </p:txBody>
      </p:sp>
      <p:sp>
        <p:nvSpPr>
          <p:cNvPr id="26" name="flow-Delivery">
            <a:extLst xmlns:a="http://schemas.openxmlformats.org/drawingml/2006/main">
              <a:ext uri="{FF2B5EF4-FFF2-40B4-BE49-F238E27FC236}">
                <a16:creationId xmlns:a16="http://schemas.microsoft.com/office/drawing/2014/main" id="{4CA1BE7F-C185-44E4-9676-8B0BF091B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86250"/>
            <a:ext cx="2857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F67F2E-A827-44DE-9A23-2FC0B0A0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4196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Delivery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6FDCF5-CC9D-4578-9F27-E22BC3847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76800"/>
            <a:ext cx="438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Plus recipient organizations, volunteers, food categories, preferences, notifications and audit logs.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123E3C-B7DB-47CC-88E8-F38FE04B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Security: JWT at login, role checks on every request, ownership checks on every record.</a:t>
            </a:r>
          </a:p>
        </p:txBody>
      </p:sp>
    </p:spTree>
    <p:extLst>
      <p:ext uri="{BB962C8B-B14F-4D97-AF65-F5344CB8AC3E}">
        <p14:creationId xmlns:p14="http://schemas.microsoft.com/office/powerpoint/2010/main" val="5759034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97A36C1-116D-4446-929F-A2FA5EDE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How the engine chooses a recipient</a:t>
            </a:r>
          </a:p>
        </p:txBody>
      </p:sp>
      <p:sp>
        <p:nvSpPr>
          <p:cNvPr id="2" name="slide-lead">
            <a:extLst xmlns:a="http://schemas.openxmlformats.org/drawingml/2006/main">
              <a:ext uri="{FF2B5EF4-FFF2-40B4-BE49-F238E27FC236}">
                <a16:creationId xmlns:a16="http://schemas.microsoft.com/office/drawing/2014/main" id="{3138B292-1D38-4499-9779-540D5567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Four eligibility checks run first, then six weighted factors decide the ranking.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2E2377E5-8B34-4D23-A418-73F5E144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5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low-Verified organization">
            <a:extLst xmlns:a="http://schemas.openxmlformats.org/drawingml/2006/main">
              <a:ext uri="{FF2B5EF4-FFF2-40B4-BE49-F238E27FC236}">
                <a16:creationId xmlns:a16="http://schemas.microsoft.com/office/drawing/2014/main" id="{ADEFCF1C-44B9-4090-8B3B-BC23EEA9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2286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489C9C-B21D-4AFF-B03D-519906ADA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Verified organization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7BC1D-18D9-4B1F-A914-9F1DDF53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085975"/>
            <a:ext cx="4191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flow-Free storage for the loa">
            <a:extLst xmlns:a="http://schemas.openxmlformats.org/drawingml/2006/main">
              <a:ext uri="{FF2B5EF4-FFF2-40B4-BE49-F238E27FC236}">
                <a16:creationId xmlns:a16="http://schemas.microsoft.com/office/drawing/2014/main" id="{C484A320-4661-4E6E-901B-B66D9B079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28800"/>
            <a:ext cx="2286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1B7D98-A3A3-42D5-A13C-05B0C7C8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9621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Free storage for the load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B42E39-2E10-4EE8-BA23-C2D9FDFB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085975"/>
            <a:ext cx="4191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flow-Category accepted">
            <a:extLst xmlns:a="http://schemas.openxmlformats.org/drawingml/2006/main">
              <a:ext uri="{FF2B5EF4-FFF2-40B4-BE49-F238E27FC236}">
                <a16:creationId xmlns:a16="http://schemas.microsoft.com/office/drawing/2014/main" id="{3DEAE576-9C50-4B54-A14E-1EE5FC67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28800"/>
            <a:ext cx="2286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0DDE57-4541-4E8F-AE01-A2BE368A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621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Category accepted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4E3A4F-9DBB-4B72-B186-BB82BAA0D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85975"/>
            <a:ext cx="4191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low-Can arrive safely">
            <a:extLst xmlns:a="http://schemas.openxmlformats.org/drawingml/2006/main">
              <a:ext uri="{FF2B5EF4-FFF2-40B4-BE49-F238E27FC236}">
                <a16:creationId xmlns:a16="http://schemas.microsoft.com/office/drawing/2014/main" id="{70D860EB-B144-480E-8233-8851B34B7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28800"/>
            <a:ext cx="2286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5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8BF5D0-AAD5-4ADF-88BB-DBE6AE0D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621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Can arrive safely</a:t>
            </a:r>
          </a:p>
        </p:txBody>
      </p:sp>
      <p:graphicFrame>
        <p:nvGraphicFrame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1E2E68-0C4C-454F-AD43-DA145C9C1866}"/>
              </a:ext>
            </a:extLst>
          </p:cNvPr>
          <p:cNvGraphicFramePr/>
          <p:nvPr/>
        </p:nvGraphicFramePr>
        <p:xfrm>
          <a:off xmlns:a="http://schemas.openxmlformats.org/drawingml/2006/main" x="685800" y="2743200"/>
          <a:ext xmlns:a="http://schemas.openxmlformats.org/drawingml/2006/main" cx="108204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1143000"/>
                <a:gridCol w="7486650"/>
              </a:tblGrid>
              <a:tr h="408214"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Factor</a:t>
                      </a:r>
                    </a:p>
                  </a:txBody>
                  <a:tcPr marL="91440" marR="91440" marT="45720" marB="45720"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Weight</a:t>
                      </a:r>
                    </a:p>
                  </a:txBody>
                  <a:tcPr marL="91440" marR="91440" marT="45720" marB="45720"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What it measures</a:t>
                      </a:r>
                    </a:p>
                  </a:txBody>
                  <a:tcPr marL="91440" marR="91440" marT="45720" marB="45720">
                    <a:solidFill>
                      <a:srgbClr val="F5F7F8"/>
                    </a:solidFill>
                  </a:tcPr>
                </a:tc>
              </a:tr>
              <a:tr h="408214"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Expiry urgency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25%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How soon the food expires, weighted by how quickly this recipient can collect it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Demand match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20%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How well the donation size matches the registered demand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Storage fit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15%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Whether the load fits in remaining storage without overloading it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Proximity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15%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Distance from the pickup point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Food preference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15%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Whether the organization accepts this category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Fair distribution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How much the organization received in the last 30 days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05462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03D103C-72B6-4CEB-BC8B-12367B245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Food-safety arrival rule</a:t>
            </a:r>
          </a:p>
        </p:txBody>
      </p:sp>
      <p:sp>
        <p:nvSpPr>
          <p:cNvPr id="2" name="slide-lead">
            <a:extLst xmlns:a="http://schemas.openxmlformats.org/drawingml/2006/main">
              <a:ext uri="{FF2B5EF4-FFF2-40B4-BE49-F238E27FC236}">
                <a16:creationId xmlns:a16="http://schemas.microsoft.com/office/drawing/2014/main" id="{514F396F-643F-484D-9D9E-076A6C5D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The rule I added. Food must be able to arrive while it is still safe to serve.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D92127B3-674A-41D2-B77B-572127702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5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D2CC58-BEA2-40EF-8731-3E8134B4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5715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228600" indent="-114300">
              <a:spcAft>
                <a:spcPts val="1400"/>
              </a:spcAft>
              <a:buChar char="•"/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31A24"/>
                </a:solidFill>
                <a:latin typeface="Arial"/>
                <a:ea typeface="Arial"/>
                <a:cs typeface="Arial"/>
              </a:rPr>
              <a:t>The engine estimates pickup to handover time for each organization from the distance, and adds handling time.</a:t>
            </a:r>
          </a:p>
          <a:p xmlns:a="http://schemas.openxmlformats.org/drawingml/2006/main">
            <a:pPr marL="228600" indent="-114300">
              <a:spcAft>
                <a:spcPts val="1400"/>
              </a:spcAft>
              <a:buChar char="•"/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31A24"/>
                </a:solidFill>
                <a:latin typeface="Arial"/>
                <a:ea typeface="Arial"/>
                <a:cs typeface="Arial"/>
              </a:rPr>
              <a:t>That estimate is compared with the time left on the safe window, keeping sixty minutes free for serving.</a:t>
            </a:r>
          </a:p>
          <a:p xmlns:a="http://schemas.openxmlformats.org/drawingml/2006/main">
            <a:pPr marL="228600" indent="-114300">
              <a:spcAft>
                <a:spcPts val="1400"/>
              </a:spcAft>
              <a:buChar char="•"/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31A24"/>
                </a:solidFill>
                <a:latin typeface="Arial"/>
                <a:ea typeface="Arial"/>
                <a:cs typeface="Arial"/>
              </a:rPr>
              <a:t>Organizations that cannot make it are excluded with a written reason, not just scored lower.</a:t>
            </a:r>
          </a:p>
          <a:p xmlns:a="http://schemas.openxmlformats.org/drawingml/2006/main">
            <a:pPr marL="228600" indent="-114300">
              <a:spcAft>
                <a:spcPts val="1400"/>
              </a:spcAft>
              <a:buChar char="•"/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31A24"/>
                </a:solidFill>
                <a:latin typeface="Arial"/>
                <a:ea typeface="Arial"/>
                <a:cs typeface="Arial"/>
              </a:rPr>
              <a:t>I first had distance as a lower score. Late arrival is unsafe, so it became a hard rule in front of scoring.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790458-2384-42BD-97D4-08628EDECC27}"/>
              </a:ext>
            </a:extLst>
          </p:cNvPr>
          <p:cNvGraphicFramePr/>
          <p:nvPr/>
        </p:nvGraphicFramePr>
        <p:xfrm>
          <a:off xmlns:a="http://schemas.openxmlformats.org/drawingml/2006/main" x="6858000" y="1866900"/>
          <a:ext xmlns:a="http://schemas.openxmlformats.org/drawingml/2006/main" cx="46482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33550"/>
                <a:gridCol w="1047750"/>
                <a:gridCol w="1866900"/>
              </a:tblGrid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Organization</a:t>
                      </a:r>
                    </a:p>
                  </a:txBody>
                  <a:tcPr marL="91440" marR="91440" marT="45720" marB="45720"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Distance</a:t>
                      </a:r>
                    </a:p>
                  </a:txBody>
                  <a:tcPr marL="91440" marR="91440" marT="45720" marB="45720"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Outcome</a:t>
                      </a:r>
                    </a:p>
                  </a:txBody>
                  <a:tcPr marL="91440" marR="91440" marT="45720" marB="45720">
                    <a:solidFill>
                      <a:srgbClr val="F5F7F8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Sneha Sadan Orphanage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11.6 km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Eligible, 15 min to spare</a:t>
                      </a:r>
                    </a:p>
                  </a:txBody>
                  <a:tcPr marL="91440" marR="91440" marT="45720" marB="45720"/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Sanjeevini Community Kitchen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11.8 km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Eligible, 15 min to spare</a:t>
                      </a:r>
                    </a:p>
                  </a:txBody>
                  <a:tcPr marL="91440" marR="91440" marT="45720" marB="45720"/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Three organizations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18 to 25 km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Excluded, needed 65 to 85 min against 60 available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C4B44E-9B55-4EB5-9FF5-6A012B9F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57750"/>
            <a:ext cx="4648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Assumptions: 20 km/h city travel, 10 minutes handling, 60 minutes serving buffer.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7EAE56-31E1-4963-A711-DE565CBC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Output of the running engine on 16 October 2026, seeded dataset.</a:t>
            </a:r>
          </a:p>
        </p:txBody>
      </p:sp>
    </p:spTree>
    <p:extLst>
      <p:ext uri="{BB962C8B-B14F-4D97-AF65-F5344CB8AC3E}">
        <p14:creationId xmlns:p14="http://schemas.microsoft.com/office/powerpoint/2010/main" val="19878943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AC1B699-DD3E-45A6-B514-377F2B82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Results, and how it differs</a:t>
            </a:r>
          </a:p>
        </p:txBody>
      </p:sp>
      <p:sp>
        <p:nvSpPr>
          <p:cNvPr id="2" name="slide-lead">
            <a:extLst xmlns:a="http://schemas.openxmlformats.org/drawingml/2006/main">
              <a:ext uri="{FF2B5EF4-FFF2-40B4-BE49-F238E27FC236}">
                <a16:creationId xmlns:a16="http://schemas.microsoft.com/office/drawing/2014/main" id="{941370F9-B7FE-42BF-8949-9AD04B356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Numbers come from two weeks of seeded operation in the running system.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226405BF-667A-42D1-95DB-59B8D50F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5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06C488-F7CE-40CF-990D-9A7ADC2B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1D3580-C25B-4799-9072-D70C399B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donations registered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89458-02B1-4C7D-80AF-41D63740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9050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414 kg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E2FA0F-BCEC-49F7-B3A4-058800C7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431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food rescued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062E75-70B7-4E93-9701-7A603BC12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1,035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93F26D-F0F0-42B0-AA27-C1787ABE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meals equivalent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08583A-3A5B-4DEE-842B-9B1620A5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337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91.7%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394BFD-8863-4907-BADF-06646080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3718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allocations accepted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66A922-7929-44CE-BA58-C653FEA7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56 min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817C64-11FB-4F0A-BD40-FD74755DB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pickup to confirmation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F58DD5-4688-49AA-A065-EB0644F89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9624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9 of 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489652-9647-41B0-B9D7-9281CA5A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4005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automated tests 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6F6171-CC55-4011-8133-E46CF7885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66900"/>
            <a:ext cx="50292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228600" indent="-114300">
              <a:spcAft>
                <a:spcPts val="1800"/>
              </a:spcAft>
              <a:buChar char="•"/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31A24"/>
                </a:solidFill>
                <a:latin typeface="Arial"/>
                <a:ea typeface="Arial"/>
                <a:cs typeface="Arial"/>
              </a:rPr>
              <a:t>The first organization to claim the food does not win. The engine ranks every eligible one.</a:t>
            </a:r>
          </a:p>
          <a:p xmlns:a="http://schemas.openxmlformats.org/drawingml/2006/main">
            <a:pPr marL="228600" indent="-114300">
              <a:spcAft>
                <a:spcPts val="1800"/>
              </a:spcAft>
              <a:buChar char="•"/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31A24"/>
                </a:solidFill>
                <a:latin typeface="Arial"/>
                <a:ea typeface="Arial"/>
                <a:cs typeface="Arial"/>
              </a:rPr>
              <a:t>Arrival safety is a rule that excludes, not a warning that is shown.</a:t>
            </a:r>
          </a:p>
          <a:p xmlns:a="http://schemas.openxmlformats.org/drawingml/2006/main">
            <a:pPr marL="228600" indent="-114300">
              <a:spcAft>
                <a:spcPts val="1800"/>
              </a:spcAft>
              <a:buChar char="•"/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31A24"/>
                </a:solidFill>
                <a:latin typeface="Arial"/>
                <a:ea typeface="Arial"/>
                <a:cs typeface="Arial"/>
              </a:rPr>
              <a:t>Recent amounts received affect the score, so distribution balances over time.</a:t>
            </a:r>
          </a:p>
          <a:p xmlns:a="http://schemas.openxmlformats.org/drawingml/2006/main">
            <a:pPr marL="228600" indent="-114300">
              <a:spcAft>
                <a:spcPts val="1800"/>
              </a:spcAft>
              <a:buChar char="•"/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31A24"/>
                </a:solidFill>
                <a:latin typeface="Arial"/>
                <a:ea typeface="Arial"/>
                <a:cs typeface="Arial"/>
              </a:rPr>
              <a:t>Every decision carries a written reason and an audit entry.</a:t>
            </a:r>
          </a:p>
        </p:txBody>
      </p:sp>
    </p:spTree>
    <p:extLst>
      <p:ext uri="{BB962C8B-B14F-4D97-AF65-F5344CB8AC3E}">
        <p14:creationId xmlns:p14="http://schemas.microsoft.com/office/powerpoint/2010/main" val="15674139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01D227-473F-4027-A71C-E57CCB001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Limitations and next steps</a:t>
            </a:r>
          </a:p>
        </p:txBody>
      </p:sp>
      <p:sp>
        <p:nvSpPr>
          <p:cNvPr id="2" name="slide-lead">
            <a:extLst xmlns:a="http://schemas.openxmlformats.org/drawingml/2006/main">
              <a:ext uri="{FF2B5EF4-FFF2-40B4-BE49-F238E27FC236}">
                <a16:creationId xmlns:a16="http://schemas.microsoft.com/office/drawing/2014/main" id="{A46D52A4-3089-4BE0-A699-C1819D6F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What the current build does not do, and what I would build next.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8FC307C9-BCE6-4596-A191-82058CED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5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95B94F-4130-42CA-9AA1-D438E3D03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49530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31A24"/>
                </a:solidFill>
                <a:latin typeface="Arial"/>
                <a:ea typeface="Arial"/>
                <a:cs typeface="Arial"/>
              </a:rPr>
              <a:t>Straight line distances, no road routing or live traffic.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31A24"/>
                </a:solidFill>
                <a:latin typeface="Arial"/>
                <a:ea typeface="Arial"/>
                <a:cs typeface="Arial"/>
              </a:rPr>
              <a:t>One average speed for all volunteers, so bikes and cars are treated alike.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31A24"/>
                </a:solidFill>
                <a:latin typeface="Arial"/>
                <a:ea typeface="Arial"/>
                <a:cs typeface="Arial"/>
              </a:rPr>
              <a:t>No map picker or address lookup, and no GPS during delivery.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31A24"/>
                </a:solidFill>
                <a:latin typeface="Arial"/>
                <a:ea typeface="Arial"/>
                <a:cs typeface="Arial"/>
              </a:rPr>
              <a:t>Fixed weights instead of a model trained on real history.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298F27-5FCE-4265-AB88-9E1A2CAC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05000"/>
            <a:ext cx="50292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31A24"/>
                </a:solidFill>
                <a:latin typeface="Arial"/>
                <a:ea typeface="Arial"/>
                <a:cs typeface="Arial"/>
              </a:rPr>
              <a:t>Route aware arrival estimates with a mapping service.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31A24"/>
                </a:solidFill>
                <a:latin typeface="Arial"/>
                <a:ea typeface="Arial"/>
                <a:cs typeface="Arial"/>
              </a:rPr>
              <a:t>Map based location input and per vehicle speeds.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31A24"/>
                </a:solidFill>
                <a:latin typeface="Arial"/>
                <a:ea typeface="Arial"/>
                <a:cs typeface="Arial"/>
              </a:rPr>
              <a:t>Volunteer reliability score from accept, decline and completion history.</a:t>
            </a:r>
          </a:p>
          <a:p xmlns:a="http://schemas.openxmlformats.org/drawingml/2006/main">
            <a:pPr marL="228600" indent="-114300">
              <a:spcAft>
                <a:spcPts val="1600"/>
              </a:spcAft>
              <a:buChar char="•"/>
              <a:defRPr sz="135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31A24"/>
                </a:solidFill>
                <a:latin typeface="Arial"/>
                <a:ea typeface="Arial"/>
                <a:cs typeface="Arial"/>
              </a:rPr>
              <a:t>Deployment and SMS or WhatsApp alerts for organizations outside the app.</a:t>
            </a:r>
          </a:p>
        </p:txBody>
      </p:sp>
    </p:spTree>
    <p:extLst>
      <p:ext uri="{BB962C8B-B14F-4D97-AF65-F5344CB8AC3E}">
        <p14:creationId xmlns:p14="http://schemas.microsoft.com/office/powerpoint/2010/main" val="14257827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2026-10-16T01:59:10.4740000Z</dcterms:created>
  <dcterms:modified xsi:type="dcterms:W3CDTF">2026-10-16T01:59:10.4740000Z</dcterms:modified>
</coreProperties>
</file>