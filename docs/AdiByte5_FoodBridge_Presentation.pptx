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73cf02aa3345d4" /><Relationship Type="http://schemas.openxmlformats.org/officeDocument/2006/relationships/extended-properties" Target="/docProps/app.xml" Id="R2929860e08004d86" /><Relationship Type="http://schemas.openxmlformats.org/officeDocument/2006/relationships/officeDocument" Target="/ppt/presentation.xml" Id="R280f0b9770094357" /></Relationships>
</file>

<file path=ppt/presentation.xml><?xml version="1.0" encoding="utf-8"?>
<p:presentation xmlns:p="http://schemas.openxmlformats.org/presentationml/2006/main">
  <p:sldMasterIdLst>
    <p:sldMasterId xmlns:r="http://schemas.openxmlformats.org/officeDocument/2006/relationships" id="2147483648" r:id="R9428f48ddf0d40d3"/>
  </p:sldMasterIdLst>
  <p:notesMasterIdLst>
    <p:notesMasterId xmlns:r="http://schemas.openxmlformats.org/officeDocument/2006/relationships" r:id="R3dc132157bb74210"/>
  </p:notesMasterIdLst>
  <p:sldIdLst>
    <p:sldId xmlns:r="http://schemas.openxmlformats.org/officeDocument/2006/relationships" id="256" r:id="R950e30ebd49a4612"/>
    <p:sldId xmlns:r="http://schemas.openxmlformats.org/officeDocument/2006/relationships" id="257" r:id="R50f649b872ec4849"/>
    <p:sldId xmlns:r="http://schemas.openxmlformats.org/officeDocument/2006/relationships" id="258" r:id="Rf0bcd188fa624d3f"/>
    <p:sldId xmlns:r="http://schemas.openxmlformats.org/officeDocument/2006/relationships" id="259" r:id="R7843aeb21c704a3b"/>
    <p:sldId xmlns:r="http://schemas.openxmlformats.org/officeDocument/2006/relationships" id="260" r:id="R6851c56222bf4358"/>
    <p:sldId xmlns:r="http://schemas.openxmlformats.org/officeDocument/2006/relationships" id="261" r:id="R248c842874e54a3e"/>
    <p:sldId xmlns:r="http://schemas.openxmlformats.org/officeDocument/2006/relationships" id="262" r:id="R8536bab667fb43bc"/>
    <p:sldId xmlns:r="http://schemas.openxmlformats.org/officeDocument/2006/relationships" id="263" r:id="Ra634e95fcf9b4173"/>
    <p:sldId xmlns:r="http://schemas.openxmlformats.org/officeDocument/2006/relationships" id="264" r:id="R79d2699aa73f46fa"/>
    <p:sldId xmlns:r="http://schemas.openxmlformats.org/officeDocument/2006/relationships" id="265" r:id="R1147ffa98a8b4be1"/>
    <p:sldId xmlns:r="http://schemas.openxmlformats.org/officeDocument/2006/relationships" id="266" r:id="R4a47c6e855a24d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2b6563cc404bbb" /><Relationship Type="http://schemas.openxmlformats.org/officeDocument/2006/relationships/slideMaster" Target="/ppt/slideMasters/slideMaster1.xml" Id="R9428f48ddf0d40d3" /><Relationship Type="http://schemas.openxmlformats.org/officeDocument/2006/relationships/notesMaster" Target="/ppt/notesMasters/notesMaster1.xml" Id="R3dc132157bb74210" /><Relationship Type="http://schemas.openxmlformats.org/officeDocument/2006/relationships/presProps" Target="/ppt/presProps.xml" Id="R196c8ae7cd3d4b11" /><Relationship Type="http://schemas.openxmlformats.org/officeDocument/2006/relationships/tableStyles" Target="/ppt/tableStyles.xml" Id="Rcb699e5b3ed545e5" /><Relationship Type="http://schemas.openxmlformats.org/officeDocument/2006/relationships/slide" Target="/ppt/slides/slide1.xml" Id="R950e30ebd49a4612" /><Relationship Type="http://schemas.openxmlformats.org/officeDocument/2006/relationships/slide" Target="/ppt/slides/slide2.xml" Id="R50f649b872ec4849" /><Relationship Type="http://schemas.openxmlformats.org/officeDocument/2006/relationships/slide" Target="/ppt/slides/slide3.xml" Id="Rf0bcd188fa624d3f" /><Relationship Type="http://schemas.openxmlformats.org/officeDocument/2006/relationships/slide" Target="/ppt/slides/slide4.xml" Id="R7843aeb21c704a3b" /><Relationship Type="http://schemas.openxmlformats.org/officeDocument/2006/relationships/slide" Target="/ppt/slides/slide5.xml" Id="R6851c56222bf4358" /><Relationship Type="http://schemas.openxmlformats.org/officeDocument/2006/relationships/slide" Target="/ppt/slides/slide6.xml" Id="R248c842874e54a3e" /><Relationship Type="http://schemas.openxmlformats.org/officeDocument/2006/relationships/slide" Target="/ppt/slides/slide7.xml" Id="R8536bab667fb43bc" /><Relationship Type="http://schemas.openxmlformats.org/officeDocument/2006/relationships/slide" Target="/ppt/slides/slide8.xml" Id="Ra634e95fcf9b4173" /><Relationship Type="http://schemas.openxmlformats.org/officeDocument/2006/relationships/slide" Target="/ppt/slides/slide9.xml" Id="R79d2699aa73f46fa" /><Relationship Type="http://schemas.openxmlformats.org/officeDocument/2006/relationships/slide" Target="/ppt/slides/slide10.xml" Id="R1147ffa98a8b4be1" /><Relationship Type="http://schemas.openxmlformats.org/officeDocument/2006/relationships/slide" Target="/ppt/slides/slide11.xml" Id="R4a47c6e855a24d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2c52f627f2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bd19e04188401d" /><Relationship Type="http://schemas.openxmlformats.org/officeDocument/2006/relationships/notesMaster" Target="/ppt/notesMasters/notesMaster1.xml" Id="Rb6dedd4fa1a14c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15c9f12f27435f" /><Relationship Type="http://schemas.openxmlformats.org/officeDocument/2006/relationships/notesMaster" Target="/ppt/notesMasters/notesMaster1.xml" Id="R3efca79f52b944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22c1ba3916431e" /><Relationship Type="http://schemas.openxmlformats.org/officeDocument/2006/relationships/notesMaster" Target="/ppt/notesMasters/notesMaster1.xml" Id="R5aa14aca907d42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80249c28644f6f" /><Relationship Type="http://schemas.openxmlformats.org/officeDocument/2006/relationships/notesMaster" Target="/ppt/notesMasters/notesMaster1.xml" Id="R4cd7d73f74dd45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1f88552d9849b7" /><Relationship Type="http://schemas.openxmlformats.org/officeDocument/2006/relationships/notesMaster" Target="/ppt/notesMasters/notesMaster1.xml" Id="R8fb4f787b9724e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7645d3dabe49f2" /><Relationship Type="http://schemas.openxmlformats.org/officeDocument/2006/relationships/notesMaster" Target="/ppt/notesMasters/notesMaster1.xml" Id="Re04c8b03387b48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b8aaed2bf143e8" /><Relationship Type="http://schemas.openxmlformats.org/officeDocument/2006/relationships/notesMaster" Target="/ppt/notesMasters/notesMaster1.xml" Id="Rf3b0e72daa9e48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1133879a474b07" /><Relationship Type="http://schemas.openxmlformats.org/officeDocument/2006/relationships/notesMaster" Target="/ppt/notesMasters/notesMaster1.xml" Id="R75e61819c87b45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c3b018ae7544bb" /><Relationship Type="http://schemas.openxmlformats.org/officeDocument/2006/relationships/notesMaster" Target="/ppt/notesMasters/notesMaster1.xml" Id="R235cef81389f4e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a3da1e8a5c4a16" /><Relationship Type="http://schemas.openxmlformats.org/officeDocument/2006/relationships/notesMaster" Target="/ppt/notesMasters/notesMaster1.xml" Id="R8a8e13fc3cea4b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ec6ba4b0be4a9e" /><Relationship Type="http://schemas.openxmlformats.org/officeDocument/2006/relationships/notesMaster" Target="/ppt/notesMasters/notesMaster1.xml" Id="Rf00120b9bf6e41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10 seconds. Title, team and member details, then one sentence: this demo covers how the platform works, what distinguishes it and what is running live. Move on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The last two points are the gap this project fills: safety and justification. Close with the scope line so the boundary of the project is clear. Note to self: this comparison is my own assessment from the requirement study, not a published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and the main emphasis of the review. Read two rows only and state that the remaining four are in the table. Note to self: the comparison is my assessment from the requirement study, not a published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Name the four actors and the sequence; the demonstration follows the same path on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The four constraints first, then the six factors. Do not read every row aloud.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 key slide. State the rule, explain why it is a hard constraint rather than a score, give the three assumptions, then the recorded result. Note to self: these figures were recorded on 16 October 2026 from the seeded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Point at the submitted diagram, name the four layers, and mention JWT and the server side checks. Note to self: the diagram is from my Lab 3 submission. If asked how a box maps to the code: Login and Signup pages plus the four role dashboards, EnginePage and AnalyticsPage in React. AuthController, DonationController, RecipientController, VolunteerController, AllocationController, NotificationController, AnalyticsController and AdminController. AuthService, DonationService, RecipientService, VolunteerService, DeliveryService, AllocationEngineService, NotificationService, AnalyticsService and AdminService. Twelve Spring Data repositories over twelve MySQL tables. Supporting components: SecurityConfig with JwtService and JwtAuthFilter, jakarta validation on the request objects, GlobalExceptionHandler, AuditService, and transactional service methods. Logging runs through the framework logger, SLF4J.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Twelve entities in third normal form, and the reason allocation, assignment and delivery are separate. Note to self: the diagram is from my Lab 4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Three screens from the running build, captured on 28 October 2026. Point out that the donor is matched the moment the food is registered, that every decision carries its score and reasoning, and that the administrator can replace the recipient without erasing the original decision. The live demonstration follows the same three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Read two or three figures, then the verification lines. Note to self: the figures are from the seeded dataset on 28 October 2026, so the live reports will move slightly as new donations are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then switch to the live demonstration. The challenges are the parts that took the most judgement: treating safety as a constraint, keeping the scoring explainable, protecting four roles in one workflow and keeping the records consistent when a decision changes. Then run the demo: donor registers food, administrator inspects the decision and changes the recipient, recipient accepts, volunteer collects and delivers, recipient confirms, and the analytics page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377c1b55ec41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89ed9dd63446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b20910e3f447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41f74bff904a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6950a16c584b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1212ede5524f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840B3-6AA8-48AC-9FC4-9B0483DDEA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AD06EC-1EFD-4122-8EB7-F0E1F0D0CFB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3D4791-FD5E-4333-B645-504E900D71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047C80-7792-48B8-B845-25C9B273CD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B05259-FEB2-485F-9551-0E506D2EF5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86C4C-FFF3-432A-AA94-166C76A1F8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2A3B17-B3EB-4376-9917-7FB379B12B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68CB0E-62EC-495B-9493-EAB3688810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54CE10-2F84-4DA2-9575-BD53B75C39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74D26C-86FE-4E9A-9F7A-DC374D9089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0cb0ba59f7435c" /><Relationship Type="http://schemas.openxmlformats.org/officeDocument/2006/relationships/slideLayout" Target="/ppt/slideLayouts/slideLayout1.xml" Id="Rc9eb73c53b2a45a9" /><Relationship Type="http://schemas.openxmlformats.org/officeDocument/2006/relationships/slideLayout" Target="/ppt/slideLayouts/slideLayout2.xml" Id="R523d41efda2e42c6" /><Relationship Type="http://schemas.openxmlformats.org/officeDocument/2006/relationships/slideLayout" Target="/ppt/slideLayouts/slideLayout3.xml" Id="R91110cb97f2449a6" /><Relationship Type="http://schemas.openxmlformats.org/officeDocument/2006/relationships/slideLayout" Target="/ppt/slideLayouts/slideLayout4.xml" Id="R3af187014e5a4f58" /><Relationship Type="http://schemas.openxmlformats.org/officeDocument/2006/relationships/slideLayout" Target="/ppt/slideLayouts/slideLayout5.xml" Id="Rb024493a889c48a2" /><Relationship Type="http://schemas.openxmlformats.org/officeDocument/2006/relationships/slideLayout" Target="/ppt/slideLayouts/slideLayout6.xml" Id="R6565b5ec016840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eb73c53b2a45a9"/>
    <p:sldLayoutId xmlns:r="http://schemas.openxmlformats.org/officeDocument/2006/relationships" id="2147483650" r:id="R523d41efda2e42c6"/>
    <p:sldLayoutId xmlns:r="http://schemas.openxmlformats.org/officeDocument/2006/relationships" id="2147483651" r:id="R91110cb97f2449a6"/>
    <p:sldLayoutId xmlns:r="http://schemas.openxmlformats.org/officeDocument/2006/relationships" id="2147483652" r:id="R3af187014e5a4f58"/>
    <p:sldLayoutId xmlns:r="http://schemas.openxmlformats.org/officeDocument/2006/relationships" id="2147483653" r:id="Rb024493a889c48a2"/>
    <p:sldLayoutId xmlns:r="http://schemas.openxmlformats.org/officeDocument/2006/relationships" id="2147483654" r:id="R6565b5ec016840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edd035b9d745ac" /><Relationship Type="http://schemas.openxmlformats.org/officeDocument/2006/relationships/image" Target="/ppt/media/image.png" Id="Rd3fac89d646c4031" /><Relationship Type="http://schemas.openxmlformats.org/officeDocument/2006/relationships/notesSlide" Target="/ppt/notesSlides/notesSlide1.xml" Id="R80cc48b9bfd540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09e06088964a3a" /><Relationship Type="http://schemas.openxmlformats.org/officeDocument/2006/relationships/notesSlide" Target="/ppt/notesSlides/notesSlide2.xml" Id="R6076cba063224a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966956d02c443c" /><Relationship Type="http://schemas.openxmlformats.org/officeDocument/2006/relationships/notesSlide" Target="/ppt/notesSlides/notesSlide3.xml" Id="Rb10e01a3ee734d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bbfaa6d5a54a02" /><Relationship Type="http://schemas.openxmlformats.org/officeDocument/2006/relationships/notesSlide" Target="/ppt/notesSlides/notesSlide4.xml" Id="R552e5ad3768e44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8e095f68c74f42" /><Relationship Type="http://schemas.openxmlformats.org/officeDocument/2006/relationships/notesSlide" Target="/ppt/notesSlides/notesSlide5.xml" Id="R3ee25d0fcc7a4f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183628cfd14c42" /><Relationship Type="http://schemas.openxmlformats.org/officeDocument/2006/relationships/notesSlide" Target="/ppt/notesSlides/notesSlide6.xml" Id="R9deccdd4069d48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36012f35554e38" /><Relationship Type="http://schemas.openxmlformats.org/officeDocument/2006/relationships/image" Target="/ppt/media/image2.png" Id="Rdbee8b24edec4458" /><Relationship Type="http://schemas.openxmlformats.org/officeDocument/2006/relationships/notesSlide" Target="/ppt/notesSlides/notesSlide7.xml" Id="Rf39fac04cdd74a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954112d21b4ca0" /><Relationship Type="http://schemas.openxmlformats.org/officeDocument/2006/relationships/image" Target="/ppt/media/image3.png" Id="R0fb93581f37443c1" /><Relationship Type="http://schemas.openxmlformats.org/officeDocument/2006/relationships/notesSlide" Target="/ppt/notesSlides/notesSlide8.xml" Id="Rc99ef654b55e42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431b32a43844bb" /><Relationship Type="http://schemas.openxmlformats.org/officeDocument/2006/relationships/image" Target="/ppt/media/image4.png" Id="Recbe70717b124f72" /><Relationship Type="http://schemas.openxmlformats.org/officeDocument/2006/relationships/image" Target="/ppt/media/image5.png" Id="Rce49115d8dc444d2" /><Relationship Type="http://schemas.openxmlformats.org/officeDocument/2006/relationships/image" Target="/ppt/media/image6.png" Id="Re88f63c0048b44c5" /><Relationship Type="http://schemas.openxmlformats.org/officeDocument/2006/relationships/notesSlide" Target="/ppt/notesSlides/notesSlide9.xml" Id="Rd137a49e918b4e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00289733a340d8" /><Relationship Type="http://schemas.openxmlformats.org/officeDocument/2006/relationships/notesSlide" Target="/ppt/notesSlides/notesSlide10.xml" Id="Rc44661c3dd6f41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7457c17fe5b4a44" /><Relationship Type="http://schemas.openxmlformats.org/officeDocument/2006/relationships/notesSlide" Target="/ppt/notesSlides/notesSlide11.xml" Id="Rfd10e7e6526c45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A49E989-675D-4BB3-ABFD-3CA38DC50A3B}"/>
              </a:ext>
            </a:extLst>
          </p:cNvPr>
          <p:cNvPicPr>
            <a:picLocks xmlns:a="http://schemas.openxmlformats.org/drawingml/2006/main" noChangeAspect="1"/>
          </p:cNvPicPr>
          <p:nvPr/>
        </p:nvPicPr>
        <p:blipFill>
          <a:blip xmlns:r="http://schemas.openxmlformats.org/officeDocument/2006/relationships" xmlns:a="http://schemas.openxmlformats.org/drawingml/2006/main" r:embed="Rd3fac89d646c4031"/>
          <a:stretch xmlns:a="http://schemas.openxmlformats.org/drawingml/2006/main"/>
        </p:blipFill>
        <p:spPr>
          <a:xfrm xmlns:a="http://schemas.openxmlformats.org/drawingml/2006/main">
            <a:off x="685800" y="800100"/>
            <a:ext cx="800100" cy="800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F10E74-FF8C-4A6B-88ED-34D8346BA509}"/>
              </a:ext>
            </a:extLst>
          </p:cNvPr>
          <p:cNvSpPr>
            <a:spLocks xmlns:a="http://schemas.openxmlformats.org/drawingml/2006/main" noGrp="1"/>
          </p:cNvSpPr>
          <p:nvPr/>
        </p:nvSpPr>
        <p:spPr>
          <a:xfrm xmlns:a="http://schemas.openxmlformats.org/drawingml/2006/main">
            <a:off x="685800" y="22098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900" b="1">
                <a:solidFill>
                  <a:srgbClr val="131A24"/>
                </a:solidFill>
                <a:latin typeface="Arial"/>
                <a:ea typeface="Arial"/>
                <a:cs typeface="Arial"/>
              </a:defRPr>
            </a:defPPr>
            <a:lvl1pPr>
              <a:defRPr sz="3900" b="1">
                <a:solidFill>
                  <a:srgbClr val="131A24"/>
                </a:solidFill>
                <a:latin typeface="Arial"/>
                <a:ea typeface="Arial"/>
                <a:cs typeface="Arial"/>
              </a:defRPr>
            </a:lvl1pPr>
            <a:lvl2pPr>
              <a:defRPr sz="3900" b="1">
                <a:solidFill>
                  <a:srgbClr val="131A24"/>
                </a:solidFill>
                <a:latin typeface="Arial"/>
                <a:ea typeface="Arial"/>
                <a:cs typeface="Arial"/>
              </a:defRPr>
            </a:lvl2pPr>
            <a:lvl3pPr>
              <a:defRPr sz="3900" b="1">
                <a:solidFill>
                  <a:srgbClr val="131A24"/>
                </a:solidFill>
                <a:latin typeface="Arial"/>
                <a:ea typeface="Arial"/>
                <a:cs typeface="Arial"/>
              </a:defRPr>
            </a:lvl3pPr>
            <a:lvl4pPr>
              <a:defRPr sz="3900" b="1">
                <a:solidFill>
                  <a:srgbClr val="131A24"/>
                </a:solidFill>
                <a:latin typeface="Arial"/>
                <a:ea typeface="Arial"/>
                <a:cs typeface="Arial"/>
              </a:defRPr>
            </a:lvl4pPr>
            <a:lvl5pPr>
              <a:defRPr sz="3900" b="1">
                <a:solidFill>
                  <a:srgbClr val="131A24"/>
                </a:solidFill>
                <a:latin typeface="Arial"/>
                <a:ea typeface="Arial"/>
                <a:cs typeface="Arial"/>
              </a:defRPr>
            </a:lvl5pPr>
            <a:lvl6pPr>
              <a:defRPr sz="3900" b="1">
                <a:solidFill>
                  <a:srgbClr val="131A24"/>
                </a:solidFill>
                <a:latin typeface="Arial"/>
                <a:ea typeface="Arial"/>
                <a:cs typeface="Arial"/>
              </a:defRPr>
            </a:lvl6pPr>
            <a:lvl7pPr>
              <a:defRPr sz="3900" b="1">
                <a:solidFill>
                  <a:srgbClr val="131A24"/>
                </a:solidFill>
                <a:latin typeface="Arial"/>
                <a:ea typeface="Arial"/>
                <a:cs typeface="Arial"/>
              </a:defRPr>
            </a:lvl7pPr>
            <a:lvl8pPr>
              <a:defRPr sz="3900" b="1">
                <a:solidFill>
                  <a:srgbClr val="131A24"/>
                </a:solidFill>
                <a:latin typeface="Arial"/>
                <a:ea typeface="Arial"/>
                <a:cs typeface="Arial"/>
              </a:defRPr>
            </a:lvl8pPr>
            <a:lvl9pPr>
              <a:defRPr sz="3900" b="1">
                <a:solidFill>
                  <a:srgbClr val="131A24"/>
                </a:solidFill>
                <a:latin typeface="Arial"/>
                <a:ea typeface="Arial"/>
                <a:cs typeface="Arial"/>
              </a:defRPr>
            </a:lvl9pPr>
          </a:lstStyle>
          <a:p xmlns:a="http://schemas.openxmlformats.org/drawingml/2006/main">
            <a:pPr>
              <a:defRPr sz="3900" b="1">
                <a:solidFill>
                  <a:srgbClr val="131A24"/>
                </a:solidFill>
                <a:latin typeface="Arial"/>
                <a:ea typeface="Arial"/>
                <a:cs typeface="Arial"/>
              </a:defRPr>
            </a:pPr>
            <a:r>
              <a:rPr sz="3900" b="1">
                <a:solidFill>
                  <a:srgbClr val="131A24"/>
                </a:solidFill>
                <a:latin typeface="Arial"/>
                <a:ea typeface="Arial"/>
                <a:cs typeface="Arial"/>
              </a:rPr>
              <a:t>FoodBridge</a:t>
            </a:r>
          </a:p>
        </p:txBody>
      </p:sp>
      <p:sp>
        <p:nvSpPr>
          <p:cNvPr id="3" name="">
            <a:extLst xmlns:a="http://schemas.openxmlformats.org/drawingml/2006/main">
              <a:ext uri="{FF2B5EF4-FFF2-40B4-BE49-F238E27FC236}">
                <a16:creationId xmlns:a16="http://schemas.microsoft.com/office/drawing/2014/main" id="{B54F78B8-256E-46FD-BC3A-04809980799F}"/>
              </a:ext>
            </a:extLst>
          </p:cNvPr>
          <p:cNvSpPr>
            <a:spLocks xmlns:a="http://schemas.openxmlformats.org/drawingml/2006/main" noGrp="1"/>
          </p:cNvSpPr>
          <p:nvPr/>
        </p:nvSpPr>
        <p:spPr>
          <a:xfrm xmlns:a="http://schemas.openxmlformats.org/drawingml/2006/main">
            <a:off x="685800" y="29337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0">
                <a:solidFill>
                  <a:srgbClr val="52606F"/>
                </a:solidFill>
                <a:latin typeface="Arial"/>
                <a:ea typeface="Arial"/>
                <a:cs typeface="Arial"/>
              </a:defRPr>
            </a:defPPr>
            <a:lvl1pPr>
              <a:defRPr sz="1650" b="0">
                <a:solidFill>
                  <a:srgbClr val="52606F"/>
                </a:solidFill>
                <a:latin typeface="Arial"/>
                <a:ea typeface="Arial"/>
                <a:cs typeface="Arial"/>
              </a:defRPr>
            </a:lvl1pPr>
            <a:lvl2pPr>
              <a:defRPr sz="1650" b="0">
                <a:solidFill>
                  <a:srgbClr val="52606F"/>
                </a:solidFill>
                <a:latin typeface="Arial"/>
                <a:ea typeface="Arial"/>
                <a:cs typeface="Arial"/>
              </a:defRPr>
            </a:lvl2pPr>
            <a:lvl3pPr>
              <a:defRPr sz="1650" b="0">
                <a:solidFill>
                  <a:srgbClr val="52606F"/>
                </a:solidFill>
                <a:latin typeface="Arial"/>
                <a:ea typeface="Arial"/>
                <a:cs typeface="Arial"/>
              </a:defRPr>
            </a:lvl3pPr>
            <a:lvl4pPr>
              <a:defRPr sz="1650" b="0">
                <a:solidFill>
                  <a:srgbClr val="52606F"/>
                </a:solidFill>
                <a:latin typeface="Arial"/>
                <a:ea typeface="Arial"/>
                <a:cs typeface="Arial"/>
              </a:defRPr>
            </a:lvl4pPr>
            <a:lvl5pPr>
              <a:defRPr sz="1650" b="0">
                <a:solidFill>
                  <a:srgbClr val="52606F"/>
                </a:solidFill>
                <a:latin typeface="Arial"/>
                <a:ea typeface="Arial"/>
                <a:cs typeface="Arial"/>
              </a:defRPr>
            </a:lvl5pPr>
            <a:lvl6pPr>
              <a:defRPr sz="1650" b="0">
                <a:solidFill>
                  <a:srgbClr val="52606F"/>
                </a:solidFill>
                <a:latin typeface="Arial"/>
                <a:ea typeface="Arial"/>
                <a:cs typeface="Arial"/>
              </a:defRPr>
            </a:lvl6pPr>
            <a:lvl7pPr>
              <a:defRPr sz="1650" b="0">
                <a:solidFill>
                  <a:srgbClr val="52606F"/>
                </a:solidFill>
                <a:latin typeface="Arial"/>
                <a:ea typeface="Arial"/>
                <a:cs typeface="Arial"/>
              </a:defRPr>
            </a:lvl7pPr>
            <a:lvl8pPr>
              <a:defRPr sz="1650" b="0">
                <a:solidFill>
                  <a:srgbClr val="52606F"/>
                </a:solidFill>
                <a:latin typeface="Arial"/>
                <a:ea typeface="Arial"/>
                <a:cs typeface="Arial"/>
              </a:defRPr>
            </a:lvl8pPr>
            <a:lvl9pPr>
              <a:defRPr sz="1650" b="0">
                <a:solidFill>
                  <a:srgbClr val="52606F"/>
                </a:solidFill>
                <a:latin typeface="Arial"/>
                <a:ea typeface="Arial"/>
                <a:cs typeface="Arial"/>
              </a:defRPr>
            </a:lvl9pPr>
          </a:lstStyle>
          <a:p xmlns:a="http://schemas.openxmlformats.org/drawingml/2006/main">
            <a:pPr>
              <a:defRPr sz="1650" b="0">
                <a:solidFill>
                  <a:srgbClr val="52606F"/>
                </a:solidFill>
                <a:latin typeface="Arial"/>
                <a:ea typeface="Arial"/>
                <a:cs typeface="Arial"/>
              </a:defRPr>
            </a:pPr>
            <a:r>
              <a:rPr sz="1650" b="0">
                <a:solidFill>
                  <a:srgbClr val="52606F"/>
                </a:solidFill>
                <a:latin typeface="Arial"/>
                <a:ea typeface="Arial"/>
                <a:cs typeface="Arial"/>
              </a:rPr>
              <a:t>An Intelligent Food Rescue Coordination and Resource Allocation Platform</a:t>
            </a:r>
          </a:p>
        </p:txBody>
      </p:sp>
      <p:sp>
        <p:nvSpPr>
          <p:cNvPr id="4" name="">
            <a:extLst xmlns:a="http://schemas.openxmlformats.org/drawingml/2006/main">
              <a:ext uri="{FF2B5EF4-FFF2-40B4-BE49-F238E27FC236}">
                <a16:creationId xmlns:a16="http://schemas.microsoft.com/office/drawing/2014/main" id="{D981A3B0-6EBA-430E-9858-C8FE4AF44F5C}"/>
              </a:ext>
            </a:extLst>
          </p:cNvPr>
          <p:cNvSpPr>
            <a:spLocks xmlns:a="http://schemas.openxmlformats.org/drawingml/2006/main" noGrp="1"/>
          </p:cNvSpPr>
          <p:nvPr/>
        </p:nvSpPr>
        <p:spPr>
          <a:xfrm xmlns:a="http://schemas.openxmlformats.org/drawingml/2006/main">
            <a:off x="685800" y="3619500"/>
            <a:ext cx="2857500" cy="19050"/>
          </a:xfrm>
          <a:prstGeom xmlns:a="http://schemas.openxmlformats.org/drawingml/2006/main" prst="rect">
            <a:avLst/>
          </a:prstGeom>
          <a:solidFill xmlns:a="http://schemas.openxmlformats.org/drawingml/2006/main">
            <a:srgbClr val="0E7C5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328C7D-D159-4752-8DD9-05AFDDCBE8D0}"/>
              </a:ext>
            </a:extLst>
          </p:cNvPr>
          <p:cNvSpPr>
            <a:spLocks xmlns:a="http://schemas.openxmlformats.org/drawingml/2006/main" noGrp="1"/>
          </p:cNvSpPr>
          <p:nvPr/>
        </p:nvSpPr>
        <p:spPr>
          <a:xfrm xmlns:a="http://schemas.openxmlformats.org/drawingml/2006/main">
            <a:off x="685800" y="38290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b="0">
                <a:solidFill>
                  <a:srgbClr val="8A94A3"/>
                </a:solidFill>
                <a:latin typeface="Arial"/>
                <a:ea typeface="Arial"/>
                <a:cs typeface="Arial"/>
              </a:defRPr>
            </a:defPPr>
            <a:lvl1pPr>
              <a:defRPr sz="1275" b="0">
                <a:solidFill>
                  <a:srgbClr val="8A94A3"/>
                </a:solidFill>
                <a:latin typeface="Arial"/>
                <a:ea typeface="Arial"/>
                <a:cs typeface="Arial"/>
              </a:defRPr>
            </a:lvl1pPr>
            <a:lvl2pPr>
              <a:defRPr sz="1275" b="0">
                <a:solidFill>
                  <a:srgbClr val="8A94A3"/>
                </a:solidFill>
                <a:latin typeface="Arial"/>
                <a:ea typeface="Arial"/>
                <a:cs typeface="Arial"/>
              </a:defRPr>
            </a:lvl2pPr>
            <a:lvl3pPr>
              <a:defRPr sz="1275" b="0">
                <a:solidFill>
                  <a:srgbClr val="8A94A3"/>
                </a:solidFill>
                <a:latin typeface="Arial"/>
                <a:ea typeface="Arial"/>
                <a:cs typeface="Arial"/>
              </a:defRPr>
            </a:lvl3pPr>
            <a:lvl4pPr>
              <a:defRPr sz="1275" b="0">
                <a:solidFill>
                  <a:srgbClr val="8A94A3"/>
                </a:solidFill>
                <a:latin typeface="Arial"/>
                <a:ea typeface="Arial"/>
                <a:cs typeface="Arial"/>
              </a:defRPr>
            </a:lvl4pPr>
            <a:lvl5pPr>
              <a:defRPr sz="1275" b="0">
                <a:solidFill>
                  <a:srgbClr val="8A94A3"/>
                </a:solidFill>
                <a:latin typeface="Arial"/>
                <a:ea typeface="Arial"/>
                <a:cs typeface="Arial"/>
              </a:defRPr>
            </a:lvl5pPr>
            <a:lvl6pPr>
              <a:defRPr sz="1275" b="0">
                <a:solidFill>
                  <a:srgbClr val="8A94A3"/>
                </a:solidFill>
                <a:latin typeface="Arial"/>
                <a:ea typeface="Arial"/>
                <a:cs typeface="Arial"/>
              </a:defRPr>
            </a:lvl6pPr>
            <a:lvl7pPr>
              <a:defRPr sz="1275" b="0">
                <a:solidFill>
                  <a:srgbClr val="8A94A3"/>
                </a:solidFill>
                <a:latin typeface="Arial"/>
                <a:ea typeface="Arial"/>
                <a:cs typeface="Arial"/>
              </a:defRPr>
            </a:lvl7pPr>
            <a:lvl8pPr>
              <a:defRPr sz="1275" b="0">
                <a:solidFill>
                  <a:srgbClr val="8A94A3"/>
                </a:solidFill>
                <a:latin typeface="Arial"/>
                <a:ea typeface="Arial"/>
                <a:cs typeface="Arial"/>
              </a:defRPr>
            </a:lvl8pPr>
            <a:lvl9pPr>
              <a:defRPr sz="1275" b="0">
                <a:solidFill>
                  <a:srgbClr val="8A94A3"/>
                </a:solidFill>
                <a:latin typeface="Arial"/>
                <a:ea typeface="Arial"/>
                <a:cs typeface="Arial"/>
              </a:defRPr>
            </a:lvl9pPr>
          </a:lstStyle>
          <a:p xmlns:a="http://schemas.openxmlformats.org/drawingml/2006/main">
            <a:pPr>
              <a:defRPr sz="1275" b="0">
                <a:solidFill>
                  <a:srgbClr val="8A94A3"/>
                </a:solidFill>
                <a:latin typeface="Arial"/>
                <a:ea typeface="Arial"/>
                <a:cs typeface="Arial"/>
              </a:defRPr>
            </a:pPr>
            <a:r>
              <a:rPr sz="1275" b="0">
                <a:solidFill>
                  <a:srgbClr val="8A94A3"/>
                </a:solidFill>
                <a:latin typeface="Arial"/>
                <a:ea typeface="Arial"/>
                <a:cs typeface="Arial"/>
              </a:rPr>
              <a:t>Software Engineering Laboratory (PTPS) · Final Project Demo</a:t>
            </a:r>
          </a:p>
        </p:txBody>
      </p:sp>
      <p:sp>
        <p:nvSpPr>
          <p:cNvPr id="6" name="">
            <a:extLst xmlns:a="http://schemas.openxmlformats.org/drawingml/2006/main">
              <a:ext uri="{FF2B5EF4-FFF2-40B4-BE49-F238E27FC236}">
                <a16:creationId xmlns:a16="http://schemas.microsoft.com/office/drawing/2014/main" id="{871336DE-9F5D-46D9-900D-0E883796C3D9}"/>
              </a:ext>
            </a:extLst>
          </p:cNvPr>
          <p:cNvSpPr>
            <a:spLocks xmlns:a="http://schemas.openxmlformats.org/drawingml/2006/main" noGrp="1"/>
          </p:cNvSpPr>
          <p:nvPr/>
        </p:nvSpPr>
        <p:spPr>
          <a:xfrm xmlns:a="http://schemas.openxmlformats.org/drawingml/2006/main">
            <a:off x="685800" y="41529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b="1">
                <a:solidFill>
                  <a:srgbClr val="0E7C57"/>
                </a:solidFill>
                <a:latin typeface="Arial"/>
                <a:ea typeface="Arial"/>
                <a:cs typeface="Arial"/>
              </a:defRPr>
            </a:defPPr>
            <a:lvl1pPr>
              <a:defRPr sz="1425" b="1">
                <a:solidFill>
                  <a:srgbClr val="0E7C57"/>
                </a:solidFill>
                <a:latin typeface="Arial"/>
                <a:ea typeface="Arial"/>
                <a:cs typeface="Arial"/>
              </a:defRPr>
            </a:lvl1pPr>
            <a:lvl2pPr>
              <a:defRPr sz="1425" b="1">
                <a:solidFill>
                  <a:srgbClr val="0E7C57"/>
                </a:solidFill>
                <a:latin typeface="Arial"/>
                <a:ea typeface="Arial"/>
                <a:cs typeface="Arial"/>
              </a:defRPr>
            </a:lvl2pPr>
            <a:lvl3pPr>
              <a:defRPr sz="1425" b="1">
                <a:solidFill>
                  <a:srgbClr val="0E7C57"/>
                </a:solidFill>
                <a:latin typeface="Arial"/>
                <a:ea typeface="Arial"/>
                <a:cs typeface="Arial"/>
              </a:defRPr>
            </a:lvl3pPr>
            <a:lvl4pPr>
              <a:defRPr sz="1425" b="1">
                <a:solidFill>
                  <a:srgbClr val="0E7C57"/>
                </a:solidFill>
                <a:latin typeface="Arial"/>
                <a:ea typeface="Arial"/>
                <a:cs typeface="Arial"/>
              </a:defRPr>
            </a:lvl4pPr>
            <a:lvl5pPr>
              <a:defRPr sz="1425" b="1">
                <a:solidFill>
                  <a:srgbClr val="0E7C57"/>
                </a:solidFill>
                <a:latin typeface="Arial"/>
                <a:ea typeface="Arial"/>
                <a:cs typeface="Arial"/>
              </a:defRPr>
            </a:lvl5pPr>
            <a:lvl6pPr>
              <a:defRPr sz="1425" b="1">
                <a:solidFill>
                  <a:srgbClr val="0E7C57"/>
                </a:solidFill>
                <a:latin typeface="Arial"/>
                <a:ea typeface="Arial"/>
                <a:cs typeface="Arial"/>
              </a:defRPr>
            </a:lvl6pPr>
            <a:lvl7pPr>
              <a:defRPr sz="1425" b="1">
                <a:solidFill>
                  <a:srgbClr val="0E7C57"/>
                </a:solidFill>
                <a:latin typeface="Arial"/>
                <a:ea typeface="Arial"/>
                <a:cs typeface="Arial"/>
              </a:defRPr>
            </a:lvl7pPr>
            <a:lvl8pPr>
              <a:defRPr sz="1425" b="1">
                <a:solidFill>
                  <a:srgbClr val="0E7C57"/>
                </a:solidFill>
                <a:latin typeface="Arial"/>
                <a:ea typeface="Arial"/>
                <a:cs typeface="Arial"/>
              </a:defRPr>
            </a:lvl8pPr>
            <a:lvl9pPr>
              <a:defRPr sz="1425" b="1">
                <a:solidFill>
                  <a:srgbClr val="0E7C57"/>
                </a:solidFill>
                <a:latin typeface="Arial"/>
                <a:ea typeface="Arial"/>
                <a:cs typeface="Arial"/>
              </a:defRPr>
            </a:lvl9pPr>
          </a:lstStyle>
          <a:p xmlns:a="http://schemas.openxmlformats.org/drawingml/2006/main">
            <a:pPr>
              <a:defRPr sz="1425" b="1">
                <a:solidFill>
                  <a:srgbClr val="0E7C57"/>
                </a:solidFill>
                <a:latin typeface="Arial"/>
                <a:ea typeface="Arial"/>
                <a:cs typeface="Arial"/>
              </a:defRPr>
            </a:pPr>
            <a:r>
              <a:rPr sz="1425" b="1">
                <a:solidFill>
                  <a:srgbClr val="0E7C57"/>
                </a:solidFill>
                <a:latin typeface="Arial"/>
                <a:ea typeface="Arial"/>
                <a:cs typeface="Arial"/>
              </a:rPr>
              <a:t>Team AdiByte5</a:t>
            </a:r>
          </a:p>
        </p:txBody>
      </p:sp>
      <p:sp>
        <p:nvSpPr>
          <p:cNvPr id="7" name="">
            <a:extLst xmlns:a="http://schemas.openxmlformats.org/drawingml/2006/main">
              <a:ext uri="{FF2B5EF4-FFF2-40B4-BE49-F238E27FC236}">
                <a16:creationId xmlns:a16="http://schemas.microsoft.com/office/drawing/2014/main" id="{303A4472-FB95-4562-B304-51303B983900}"/>
              </a:ext>
            </a:extLst>
          </p:cNvPr>
          <p:cNvSpPr>
            <a:spLocks xmlns:a="http://schemas.openxmlformats.org/drawingml/2006/main" noGrp="1"/>
          </p:cNvSpPr>
          <p:nvPr/>
        </p:nvSpPr>
        <p:spPr>
          <a:xfrm xmlns:a="http://schemas.openxmlformats.org/drawingml/2006/main">
            <a:off x="685800" y="44767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1">
                <a:solidFill>
                  <a:srgbClr val="131A24"/>
                </a:solidFill>
                <a:latin typeface="Arial"/>
                <a:ea typeface="Arial"/>
                <a:cs typeface="Arial"/>
              </a:defRPr>
            </a:defPPr>
            <a:lvl1pPr>
              <a:defRPr sz="1575" b="1">
                <a:solidFill>
                  <a:srgbClr val="131A24"/>
                </a:solidFill>
                <a:latin typeface="Arial"/>
                <a:ea typeface="Arial"/>
                <a:cs typeface="Arial"/>
              </a:defRPr>
            </a:lvl1pPr>
            <a:lvl2pPr>
              <a:defRPr sz="1575" b="1">
                <a:solidFill>
                  <a:srgbClr val="131A24"/>
                </a:solidFill>
                <a:latin typeface="Arial"/>
                <a:ea typeface="Arial"/>
                <a:cs typeface="Arial"/>
              </a:defRPr>
            </a:lvl2pPr>
            <a:lvl3pPr>
              <a:defRPr sz="1575" b="1">
                <a:solidFill>
                  <a:srgbClr val="131A24"/>
                </a:solidFill>
                <a:latin typeface="Arial"/>
                <a:ea typeface="Arial"/>
                <a:cs typeface="Arial"/>
              </a:defRPr>
            </a:lvl3pPr>
            <a:lvl4pPr>
              <a:defRPr sz="1575" b="1">
                <a:solidFill>
                  <a:srgbClr val="131A24"/>
                </a:solidFill>
                <a:latin typeface="Arial"/>
                <a:ea typeface="Arial"/>
                <a:cs typeface="Arial"/>
              </a:defRPr>
            </a:lvl4pPr>
            <a:lvl5pPr>
              <a:defRPr sz="1575" b="1">
                <a:solidFill>
                  <a:srgbClr val="131A24"/>
                </a:solidFill>
                <a:latin typeface="Arial"/>
                <a:ea typeface="Arial"/>
                <a:cs typeface="Arial"/>
              </a:defRPr>
            </a:lvl5pPr>
            <a:lvl6pPr>
              <a:defRPr sz="1575" b="1">
                <a:solidFill>
                  <a:srgbClr val="131A24"/>
                </a:solidFill>
                <a:latin typeface="Arial"/>
                <a:ea typeface="Arial"/>
                <a:cs typeface="Arial"/>
              </a:defRPr>
            </a:lvl6pPr>
            <a:lvl7pPr>
              <a:defRPr sz="1575" b="1">
                <a:solidFill>
                  <a:srgbClr val="131A24"/>
                </a:solidFill>
                <a:latin typeface="Arial"/>
                <a:ea typeface="Arial"/>
                <a:cs typeface="Arial"/>
              </a:defRPr>
            </a:lvl7pPr>
            <a:lvl8pPr>
              <a:defRPr sz="1575" b="1">
                <a:solidFill>
                  <a:srgbClr val="131A24"/>
                </a:solidFill>
                <a:latin typeface="Arial"/>
                <a:ea typeface="Arial"/>
                <a:cs typeface="Arial"/>
              </a:defRPr>
            </a:lvl8pPr>
            <a:lvl9pPr>
              <a:defRPr sz="1575" b="1">
                <a:solidFill>
                  <a:srgbClr val="131A24"/>
                </a:solidFill>
                <a:latin typeface="Arial"/>
                <a:ea typeface="Arial"/>
                <a:cs typeface="Arial"/>
              </a:defRPr>
            </a:lvl9pPr>
          </a:lstStyle>
          <a:p xmlns:a="http://schemas.openxmlformats.org/drawingml/2006/main">
            <a:pPr>
              <a:defRPr sz="1575" b="1">
                <a:solidFill>
                  <a:srgbClr val="131A24"/>
                </a:solidFill>
                <a:latin typeface="Arial"/>
                <a:ea typeface="Arial"/>
                <a:cs typeface="Arial"/>
              </a:defRPr>
            </a:pPr>
            <a:r>
              <a:rPr sz="1575" b="1">
                <a:solidFill>
                  <a:srgbClr val="131A24"/>
                </a:solidFill>
                <a:latin typeface="Arial"/>
                <a:ea typeface="Arial"/>
                <a:cs typeface="Arial"/>
              </a:rPr>
              <a:t>Adithyan S Nair · Register number 24BAI1621</a:t>
            </a:r>
          </a:p>
        </p:txBody>
      </p:sp>
      <p:sp>
        <p:nvSpPr>
          <p:cNvPr id="8" name="">
            <a:extLst xmlns:a="http://schemas.openxmlformats.org/drawingml/2006/main">
              <a:ext uri="{FF2B5EF4-FFF2-40B4-BE49-F238E27FC236}">
                <a16:creationId xmlns:a16="http://schemas.microsoft.com/office/drawing/2014/main" id="{B3223C7F-B4B5-419E-B62C-2A2FF0E4D4C9}"/>
              </a:ext>
            </a:extLst>
          </p:cNvPr>
          <p:cNvSpPr>
            <a:spLocks xmlns:a="http://schemas.openxmlformats.org/drawingml/2006/main" noGrp="1"/>
          </p:cNvSpPr>
          <p:nvPr/>
        </p:nvSpPr>
        <p:spPr>
          <a:xfrm xmlns:a="http://schemas.openxmlformats.org/drawingml/2006/main">
            <a:off x="685800" y="48387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8A94A3"/>
                </a:solidFill>
                <a:latin typeface="Arial"/>
                <a:ea typeface="Arial"/>
                <a:cs typeface="Arial"/>
              </a:defRPr>
            </a:defPPr>
            <a:lvl1pPr>
              <a:defRPr sz="1125" b="0">
                <a:solidFill>
                  <a:srgbClr val="8A94A3"/>
                </a:solidFill>
                <a:latin typeface="Arial"/>
                <a:ea typeface="Arial"/>
                <a:cs typeface="Arial"/>
              </a:defRPr>
            </a:lvl1pPr>
            <a:lvl2pPr>
              <a:defRPr sz="1125" b="0">
                <a:solidFill>
                  <a:srgbClr val="8A94A3"/>
                </a:solidFill>
                <a:latin typeface="Arial"/>
                <a:ea typeface="Arial"/>
                <a:cs typeface="Arial"/>
              </a:defRPr>
            </a:lvl2pPr>
            <a:lvl3pPr>
              <a:defRPr sz="1125" b="0">
                <a:solidFill>
                  <a:srgbClr val="8A94A3"/>
                </a:solidFill>
                <a:latin typeface="Arial"/>
                <a:ea typeface="Arial"/>
                <a:cs typeface="Arial"/>
              </a:defRPr>
            </a:lvl3pPr>
            <a:lvl4pPr>
              <a:defRPr sz="1125" b="0">
                <a:solidFill>
                  <a:srgbClr val="8A94A3"/>
                </a:solidFill>
                <a:latin typeface="Arial"/>
                <a:ea typeface="Arial"/>
                <a:cs typeface="Arial"/>
              </a:defRPr>
            </a:lvl4pPr>
            <a:lvl5pPr>
              <a:defRPr sz="1125" b="0">
                <a:solidFill>
                  <a:srgbClr val="8A94A3"/>
                </a:solidFill>
                <a:latin typeface="Arial"/>
                <a:ea typeface="Arial"/>
                <a:cs typeface="Arial"/>
              </a:defRPr>
            </a:lvl5pPr>
            <a:lvl6pPr>
              <a:defRPr sz="1125" b="0">
                <a:solidFill>
                  <a:srgbClr val="8A94A3"/>
                </a:solidFill>
                <a:latin typeface="Arial"/>
                <a:ea typeface="Arial"/>
                <a:cs typeface="Arial"/>
              </a:defRPr>
            </a:lvl6pPr>
            <a:lvl7pPr>
              <a:defRPr sz="1125" b="0">
                <a:solidFill>
                  <a:srgbClr val="8A94A3"/>
                </a:solidFill>
                <a:latin typeface="Arial"/>
                <a:ea typeface="Arial"/>
                <a:cs typeface="Arial"/>
              </a:defRPr>
            </a:lvl7pPr>
            <a:lvl8pPr>
              <a:defRPr sz="1125" b="0">
                <a:solidFill>
                  <a:srgbClr val="8A94A3"/>
                </a:solidFill>
                <a:latin typeface="Arial"/>
                <a:ea typeface="Arial"/>
                <a:cs typeface="Arial"/>
              </a:defRPr>
            </a:lvl8pPr>
            <a:lvl9pPr>
              <a:defRPr sz="1125" b="0">
                <a:solidFill>
                  <a:srgbClr val="8A94A3"/>
                </a:solidFill>
                <a:latin typeface="Arial"/>
                <a:ea typeface="Arial"/>
                <a:cs typeface="Arial"/>
              </a:defRPr>
            </a:lvl9pPr>
          </a:lstStyle>
          <a:p xmlns:a="http://schemas.openxmlformats.org/drawingml/2006/main">
            <a:pPr>
              <a:defRPr sz="1125" b="0">
                <a:solidFill>
                  <a:srgbClr val="8A94A3"/>
                </a:solidFill>
                <a:latin typeface="Arial"/>
                <a:ea typeface="Arial"/>
                <a:cs typeface="Arial"/>
              </a:defRPr>
            </a:pPr>
            <a:r>
              <a:rPr sz="1125" b="0">
                <a:solidFill>
                  <a:srgbClr val="8A94A3"/>
                </a:solidFill>
                <a:latin typeface="Arial"/>
                <a:ea typeface="Arial"/>
                <a:cs typeface="Arial"/>
              </a:rPr>
              <a:t>October 2026</a:t>
            </a:r>
          </a:p>
        </p:txBody>
      </p:sp>
    </p:spTree>
    <p:extLst>
      <p:ext uri="{BB962C8B-B14F-4D97-AF65-F5344CB8AC3E}">
        <p14:creationId xmlns:p14="http://schemas.microsoft.com/office/powerpoint/2010/main" val="2151498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5522FC-5919-4284-A455-788B15A7DA35}"/>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2 / 11</a:t>
            </a:r>
          </a:p>
        </p:txBody>
      </p:sp>
      <p:sp>
        <p:nvSpPr>
          <p:cNvPr id="2" name="slide-title">
            <a:extLst xmlns:a="http://schemas.openxmlformats.org/drawingml/2006/main">
              <a:ext uri="{FF2B5EF4-FFF2-40B4-BE49-F238E27FC236}">
                <a16:creationId xmlns:a16="http://schemas.microsoft.com/office/drawing/2014/main" id="{A0902490-6455-42FE-8EFF-C008F827E995}"/>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Problem statement and scope</a:t>
            </a:r>
          </a:p>
        </p:txBody>
      </p:sp>
      <p:sp>
        <p:nvSpPr>
          <p:cNvPr id="3" name="slide-lead">
            <a:extLst xmlns:a="http://schemas.openxmlformats.org/drawingml/2006/main">
              <a:ext uri="{FF2B5EF4-FFF2-40B4-BE49-F238E27FC236}">
                <a16:creationId xmlns:a16="http://schemas.microsoft.com/office/drawing/2014/main" id="{04ACD75B-D24E-47DC-8F96-87B6AB6ED637}"/>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Surplus food is discarded while the organizations that require it operate short of supply.</a:t>
            </a:r>
          </a:p>
        </p:txBody>
      </p:sp>
      <p:sp>
        <p:nvSpPr>
          <p:cNvPr id="4" name="title-rule">
            <a:extLst xmlns:a="http://schemas.openxmlformats.org/drawingml/2006/main">
              <a:ext uri="{FF2B5EF4-FFF2-40B4-BE49-F238E27FC236}">
                <a16:creationId xmlns:a16="http://schemas.microsoft.com/office/drawing/2014/main" id="{3FB5EDF7-2B70-4A12-BD75-3A26079EF9E2}"/>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CBA4DF-BD71-4376-A172-9D8E273527C5}"/>
              </a:ext>
            </a:extLst>
          </p:cNvPr>
          <p:cNvSpPr>
            <a:spLocks xmlns:a="http://schemas.openxmlformats.org/drawingml/2006/main" noGrp="1"/>
          </p:cNvSpPr>
          <p:nvPr/>
        </p:nvSpPr>
        <p:spPr>
          <a:xfrm xmlns:a="http://schemas.openxmlformats.org/drawingml/2006/main">
            <a:off x="685800" y="18669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31A24"/>
                </a:solidFill>
                <a:latin typeface="Arial"/>
                <a:ea typeface="Arial"/>
                <a:cs typeface="Arial"/>
              </a:defRPr>
            </a:defPPr>
            <a:lvl1pPr>
              <a:defRPr sz="1425">
                <a:solidFill>
                  <a:srgbClr val="131A24"/>
                </a:solidFill>
                <a:latin typeface="Arial"/>
                <a:ea typeface="Arial"/>
                <a:cs typeface="Arial"/>
              </a:defRPr>
            </a:lvl1pPr>
            <a:lvl2pPr>
              <a:defRPr sz="1425">
                <a:solidFill>
                  <a:srgbClr val="131A24"/>
                </a:solidFill>
                <a:latin typeface="Arial"/>
                <a:ea typeface="Arial"/>
                <a:cs typeface="Arial"/>
              </a:defRPr>
            </a:lvl2pPr>
            <a:lvl3pPr>
              <a:defRPr sz="1425">
                <a:solidFill>
                  <a:srgbClr val="131A24"/>
                </a:solidFill>
                <a:latin typeface="Arial"/>
                <a:ea typeface="Arial"/>
                <a:cs typeface="Arial"/>
              </a:defRPr>
            </a:lvl3pPr>
            <a:lvl4pPr>
              <a:defRPr sz="1425">
                <a:solidFill>
                  <a:srgbClr val="131A24"/>
                </a:solidFill>
                <a:latin typeface="Arial"/>
                <a:ea typeface="Arial"/>
                <a:cs typeface="Arial"/>
              </a:defRPr>
            </a:lvl4pPr>
            <a:lvl5pPr>
              <a:defRPr sz="1425">
                <a:solidFill>
                  <a:srgbClr val="131A24"/>
                </a:solidFill>
                <a:latin typeface="Arial"/>
                <a:ea typeface="Arial"/>
                <a:cs typeface="Arial"/>
              </a:defRPr>
            </a:lvl5pPr>
            <a:lvl6pPr>
              <a:defRPr sz="1425">
                <a:solidFill>
                  <a:srgbClr val="131A24"/>
                </a:solidFill>
                <a:latin typeface="Arial"/>
                <a:ea typeface="Arial"/>
                <a:cs typeface="Arial"/>
              </a:defRPr>
            </a:lvl6pPr>
            <a:lvl7pPr>
              <a:defRPr sz="1425">
                <a:solidFill>
                  <a:srgbClr val="131A24"/>
                </a:solidFill>
                <a:latin typeface="Arial"/>
                <a:ea typeface="Arial"/>
                <a:cs typeface="Arial"/>
              </a:defRPr>
            </a:lvl7pPr>
            <a:lvl8pPr>
              <a:defRPr sz="1425">
                <a:solidFill>
                  <a:srgbClr val="131A24"/>
                </a:solidFill>
                <a:latin typeface="Arial"/>
                <a:ea typeface="Arial"/>
                <a:cs typeface="Arial"/>
              </a:defRPr>
            </a:lvl8pPr>
            <a:lvl9pPr>
              <a:defRPr sz="1425">
                <a:solidFill>
                  <a:srgbClr val="131A24"/>
                </a:solidFill>
                <a:latin typeface="Arial"/>
                <a:ea typeface="Arial"/>
                <a:cs typeface="Arial"/>
              </a:defRPr>
            </a:lvl9pPr>
          </a:lstStyle>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Donations are coordinated through telephone calls and messaging applications, which delays collection and results in lost donations.</a:t>
            </a:r>
          </a:p>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Most donation platforms publish a listing and allocate the food to the first organization that claims it.</a:t>
            </a:r>
          </a:p>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They do not verify that the food can reach the recipient before its safe consumption window closes.</a:t>
            </a:r>
          </a:p>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They neither measure cumulative distribution across organizations nor record the reasoning behind a selection.</a:t>
            </a:r>
          </a:p>
        </p:txBody>
      </p:sp>
      <p:sp>
        <p:nvSpPr>
          <p:cNvPr id="6" name="">
            <a:extLst xmlns:a="http://schemas.openxmlformats.org/drawingml/2006/main">
              <a:ext uri="{FF2B5EF4-FFF2-40B4-BE49-F238E27FC236}">
                <a16:creationId xmlns:a16="http://schemas.microsoft.com/office/drawing/2014/main" id="{FB19D18D-7B2B-4FDC-A703-03304167C58D}"/>
              </a:ext>
            </a:extLst>
          </p:cNvPr>
          <p:cNvSpPr>
            <a:spLocks xmlns:a="http://schemas.openxmlformats.org/drawingml/2006/main" noGrp="1"/>
          </p:cNvSpPr>
          <p:nvPr/>
        </p:nvSpPr>
        <p:spPr>
          <a:xfrm xmlns:a="http://schemas.openxmlformats.org/drawingml/2006/main">
            <a:off x="685800" y="40767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Scope</a:t>
            </a:r>
          </a:p>
        </p:txBody>
      </p:sp>
      <p:sp>
        <p:nvSpPr>
          <p:cNvPr id="7" name="">
            <a:extLst xmlns:a="http://schemas.openxmlformats.org/drawingml/2006/main">
              <a:ext uri="{FF2B5EF4-FFF2-40B4-BE49-F238E27FC236}">
                <a16:creationId xmlns:a16="http://schemas.microsoft.com/office/drawing/2014/main" id="{7F7D8EBE-1DD5-4AF7-AC79-EDCE05B9E7EE}"/>
              </a:ext>
            </a:extLst>
          </p:cNvPr>
          <p:cNvSpPr>
            <a:spLocks xmlns:a="http://schemas.openxmlformats.org/drawingml/2006/main" noGrp="1"/>
          </p:cNvSpPr>
          <p:nvPr/>
        </p:nvSpPr>
        <p:spPr>
          <a:xfrm xmlns:a="http://schemas.openxmlformats.org/drawingml/2006/main">
            <a:off x="685800" y="43434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52606F"/>
                </a:solidFill>
                <a:latin typeface="Arial"/>
                <a:ea typeface="Arial"/>
                <a:cs typeface="Arial"/>
              </a:defRPr>
            </a:defPPr>
            <a:lvl1pPr>
              <a:defRPr sz="1125" b="0">
                <a:solidFill>
                  <a:srgbClr val="52606F"/>
                </a:solidFill>
                <a:latin typeface="Arial"/>
                <a:ea typeface="Arial"/>
                <a:cs typeface="Arial"/>
              </a:defRPr>
            </a:lvl1pPr>
            <a:lvl2pPr>
              <a:defRPr sz="1125" b="0">
                <a:solidFill>
                  <a:srgbClr val="52606F"/>
                </a:solidFill>
                <a:latin typeface="Arial"/>
                <a:ea typeface="Arial"/>
                <a:cs typeface="Arial"/>
              </a:defRPr>
            </a:lvl2pPr>
            <a:lvl3pPr>
              <a:defRPr sz="1125" b="0">
                <a:solidFill>
                  <a:srgbClr val="52606F"/>
                </a:solidFill>
                <a:latin typeface="Arial"/>
                <a:ea typeface="Arial"/>
                <a:cs typeface="Arial"/>
              </a:defRPr>
            </a:lvl3pPr>
            <a:lvl4pPr>
              <a:defRPr sz="1125" b="0">
                <a:solidFill>
                  <a:srgbClr val="52606F"/>
                </a:solidFill>
                <a:latin typeface="Arial"/>
                <a:ea typeface="Arial"/>
                <a:cs typeface="Arial"/>
              </a:defRPr>
            </a:lvl4pPr>
            <a:lvl5pPr>
              <a:defRPr sz="1125" b="0">
                <a:solidFill>
                  <a:srgbClr val="52606F"/>
                </a:solidFill>
                <a:latin typeface="Arial"/>
                <a:ea typeface="Arial"/>
                <a:cs typeface="Arial"/>
              </a:defRPr>
            </a:lvl5pPr>
            <a:lvl6pPr>
              <a:defRPr sz="1125" b="0">
                <a:solidFill>
                  <a:srgbClr val="52606F"/>
                </a:solidFill>
                <a:latin typeface="Arial"/>
                <a:ea typeface="Arial"/>
                <a:cs typeface="Arial"/>
              </a:defRPr>
            </a:lvl6pPr>
            <a:lvl7pPr>
              <a:defRPr sz="1125" b="0">
                <a:solidFill>
                  <a:srgbClr val="52606F"/>
                </a:solidFill>
                <a:latin typeface="Arial"/>
                <a:ea typeface="Arial"/>
                <a:cs typeface="Arial"/>
              </a:defRPr>
            </a:lvl7pPr>
            <a:lvl8pPr>
              <a:defRPr sz="1125" b="0">
                <a:solidFill>
                  <a:srgbClr val="52606F"/>
                </a:solidFill>
                <a:latin typeface="Arial"/>
                <a:ea typeface="Arial"/>
                <a:cs typeface="Arial"/>
              </a:defRPr>
            </a:lvl8pPr>
            <a:lvl9pPr>
              <a:defRPr sz="1125" b="0">
                <a:solidFill>
                  <a:srgbClr val="52606F"/>
                </a:solidFill>
                <a:latin typeface="Arial"/>
                <a:ea typeface="Arial"/>
                <a:cs typeface="Arial"/>
              </a:defRPr>
            </a:lvl9pPr>
          </a:lstStyle>
          <a:p xmlns:a="http://schemas.openxmlformats.org/drawingml/2006/main">
            <a:pPr>
              <a:defRPr sz="1125" b="0">
                <a:solidFill>
                  <a:srgbClr val="52606F"/>
                </a:solidFill>
                <a:latin typeface="Arial"/>
                <a:ea typeface="Arial"/>
                <a:cs typeface="Arial"/>
              </a:defRPr>
            </a:pPr>
            <a:r>
              <a:rPr sz="1125" b="0">
                <a:solidFill>
                  <a:srgbClr val="52606F"/>
                </a:solidFill>
                <a:latin typeface="Arial"/>
                <a:ea typeface="Arial"/>
                <a:cs typeface="Arial"/>
              </a:rPr>
              <a:t>Scope of this release: four roles, one city, and the complete path from a registered donation to a confirmed delivery. Payments, inventory forecasting and route optimisation sit outside the scope.</a:t>
            </a:r>
          </a:p>
        </p:txBody>
      </p:sp>
    </p:spTree>
    <p:extLst>
      <p:ext uri="{BB962C8B-B14F-4D97-AF65-F5344CB8AC3E}">
        <p14:creationId xmlns:p14="http://schemas.microsoft.com/office/powerpoint/2010/main" val="9017032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69DE4C-3BDC-409A-A005-1FC8255C7190}"/>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3 / 11</a:t>
            </a:r>
          </a:p>
        </p:txBody>
      </p:sp>
      <p:sp>
        <p:nvSpPr>
          <p:cNvPr id="2" name="slide-title">
            <a:extLst xmlns:a="http://schemas.openxmlformats.org/drawingml/2006/main">
              <a:ext uri="{FF2B5EF4-FFF2-40B4-BE49-F238E27FC236}">
                <a16:creationId xmlns:a16="http://schemas.microsoft.com/office/drawing/2014/main" id="{A678204F-2D7A-4D5B-B659-02E0F76E25C9}"/>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Differentiating features</a:t>
            </a:r>
          </a:p>
        </p:txBody>
      </p:sp>
      <p:sp>
        <p:nvSpPr>
          <p:cNvPr id="3" name="slide-lead">
            <a:extLst xmlns:a="http://schemas.openxmlformats.org/drawingml/2006/main">
              <a:ext uri="{FF2B5EF4-FFF2-40B4-BE49-F238E27FC236}">
                <a16:creationId xmlns:a16="http://schemas.microsoft.com/office/drawing/2014/main" id="{B3B07119-B947-48CA-8E9E-5744291EEB06}"/>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Six design decisions separate FoodBridge from existing platforms and manual coordination.</a:t>
            </a:r>
          </a:p>
        </p:txBody>
      </p:sp>
      <p:sp>
        <p:nvSpPr>
          <p:cNvPr id="4" name="title-rule">
            <a:extLst xmlns:a="http://schemas.openxmlformats.org/drawingml/2006/main">
              <a:ext uri="{FF2B5EF4-FFF2-40B4-BE49-F238E27FC236}">
                <a16:creationId xmlns:a16="http://schemas.microsoft.com/office/drawing/2014/main" id="{8AD47789-B5F4-41E1-9BDF-90F3ACE1C5F5}"/>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graphicFrame>
        <p:nvGraphicFramePr>
          <p:cNvPr id="5" name="">
            <a:extLst xmlns:a="http://schemas.openxmlformats.org/drawingml/2006/main">
              <a:ext uri="{FF2B5EF4-FFF2-40B4-BE49-F238E27FC236}">
                <a16:creationId xmlns:a16="http://schemas.microsoft.com/office/drawing/2014/main" id="{E0CCA72E-6C16-4D22-AC88-7936CDBC96BE}"/>
              </a:ext>
            </a:extLst>
          </p:cNvPr>
          <p:cNvGraphicFramePr/>
          <p:nvPr/>
        </p:nvGraphicFramePr>
        <p:xfrm>
          <a:off xmlns:a="http://schemas.openxmlformats.org/drawingml/2006/main" x="685800" y="1866900"/>
          <a:ext xmlns:a="http://schemas.openxmlformats.org/drawingml/2006/main" cx="10820400" cy="3543300"/>
        </p:xfrm>
        <a:graphic xmlns:a="http://schemas.openxmlformats.org/drawingml/2006/main">
          <a:graphicData uri="http://schemas.openxmlformats.org/drawingml/2006/table">
            <a:tbl>
              <a:tblPr/>
              <a:tblGrid>
                <a:gridCol w="2380488"/>
                <a:gridCol w="3895344"/>
                <a:gridCol w="4544568"/>
              </a:tblGrid>
              <a:tr h="506186">
                <a:tc>
                  <a:txBody>
                    <a:bodyPr>
                      <a:noAutofit/>
                    </a:bodyPr>
                    <a:lstStyle/>
                    <a:p>
                      <a:r>
                        <a:rPr sz="1050" b="1">
                          <a:solidFill>
                            <a:srgbClr val="131A24"/>
                          </a:solidFill>
                          <a:latin typeface="Arial"/>
                          <a:ea typeface="Arial"/>
                          <a:cs typeface="Arial"/>
                        </a:rPr>
                        <a:t>Design decision</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Typical platforms</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FoodBridge</a:t>
                      </a:r>
                    </a:p>
                  </a:txBody>
                  <a:tcPr marL="91440" marR="91440" marT="45720" marB="45720">
                    <a:solidFill>
                      <a:srgbClr val="F5F7F8"/>
                    </a:solidFill>
                  </a:tcPr>
                </a:tc>
              </a:tr>
              <a:tr h="506186">
                <a:tc>
                  <a:txBody>
                    <a:bodyPr>
                      <a:noAutofit/>
                    </a:bodyPr>
                    <a:lstStyle/>
                    <a:p>
                      <a:r>
                        <a:rPr sz="1050">
                          <a:solidFill>
                            <a:srgbClr val="131A24"/>
                          </a:solidFill>
                          <a:latin typeface="Arial"/>
                          <a:ea typeface="Arial"/>
                          <a:cs typeface="Arial"/>
                        </a:rPr>
                        <a:t>Recipient selection</a:t>
                      </a:r>
                    </a:p>
                  </a:txBody>
                  <a:tcPr marL="91440" marR="91440" marT="45720" marB="45720"/>
                </a:tc>
                <a:tc>
                  <a:txBody>
                    <a:bodyPr>
                      <a:noAutofit/>
                    </a:bodyPr>
                    <a:lstStyle/>
                    <a:p>
                      <a:r>
                        <a:rPr sz="1050">
                          <a:solidFill>
                            <a:srgbClr val="131A24"/>
                          </a:solidFill>
                          <a:latin typeface="Arial"/>
                          <a:ea typeface="Arial"/>
                          <a:cs typeface="Arial"/>
                        </a:rPr>
                        <a:t>Allocated to the first organization that claims the listing</a:t>
                      </a:r>
                    </a:p>
                  </a:txBody>
                  <a:tcPr marL="91440" marR="91440" marT="45720" marB="45720"/>
                </a:tc>
                <a:tc>
                  <a:txBody>
                    <a:bodyPr>
                      <a:noAutofit/>
                    </a:bodyPr>
                    <a:lstStyle/>
                    <a:p>
                      <a:r>
                        <a:rPr sz="1050">
                          <a:solidFill>
                            <a:srgbClr val="131A24"/>
                          </a:solidFill>
                          <a:latin typeface="Arial"/>
                          <a:ea typeface="Arial"/>
                          <a:cs typeface="Arial"/>
                        </a:rPr>
                        <a:t>All eligible organizations are ranked by the decision engine</a:t>
                      </a:r>
                    </a:p>
                  </a:txBody>
                  <a:tcPr marL="91440" marR="91440" marT="45720" marB="45720"/>
                </a:tc>
              </a:tr>
              <a:tr h="506186">
                <a:tc>
                  <a:txBody>
                    <a:bodyPr>
                      <a:noAutofit/>
                    </a:bodyPr>
                    <a:lstStyle/>
                    <a:p>
                      <a:r>
                        <a:rPr sz="1050">
                          <a:solidFill>
                            <a:srgbClr val="131A24"/>
                          </a:solidFill>
                          <a:latin typeface="Arial"/>
                          <a:ea typeface="Arial"/>
                          <a:cs typeface="Arial"/>
                        </a:rPr>
                        <a:t>Food safety</a:t>
                      </a:r>
                    </a:p>
                  </a:txBody>
                  <a:tcPr marL="91440" marR="91440" marT="45720" marB="45720"/>
                </a:tc>
                <a:tc>
                  <a:txBody>
                    <a:bodyPr>
                      <a:noAutofit/>
                    </a:bodyPr>
                    <a:lstStyle/>
                    <a:p>
                      <a:r>
                        <a:rPr sz="1050">
                          <a:solidFill>
                            <a:srgbClr val="131A24"/>
                          </a:solidFill>
                          <a:latin typeface="Arial"/>
                          <a:ea typeface="Arial"/>
                          <a:cs typeface="Arial"/>
                        </a:rPr>
                        <a:t>Expiry time displayed to the claimant</a:t>
                      </a:r>
                    </a:p>
                  </a:txBody>
                  <a:tcPr marL="91440" marR="91440" marT="45720" marB="45720"/>
                </a:tc>
                <a:tc>
                  <a:txBody>
                    <a:bodyPr>
                      <a:noAutofit/>
                    </a:bodyPr>
                    <a:lstStyle/>
                    <a:p>
                      <a:r>
                        <a:rPr sz="1050">
                          <a:solidFill>
                            <a:srgbClr val="131A24"/>
                          </a:solidFill>
                          <a:latin typeface="Arial"/>
                          <a:ea typeface="Arial"/>
                          <a:cs typeface="Arial"/>
                        </a:rPr>
                        <a:t>Organizations that cannot receive the food in time are excluded</a:t>
                      </a:r>
                    </a:p>
                  </a:txBody>
                  <a:tcPr marL="91440" marR="91440" marT="45720" marB="45720"/>
                </a:tc>
              </a:tr>
              <a:tr h="506186">
                <a:tc>
                  <a:txBody>
                    <a:bodyPr>
                      <a:noAutofit/>
                    </a:bodyPr>
                    <a:lstStyle/>
                    <a:p>
                      <a:r>
                        <a:rPr sz="1050">
                          <a:solidFill>
                            <a:srgbClr val="131A24"/>
                          </a:solidFill>
                          <a:latin typeface="Arial"/>
                          <a:ea typeface="Arial"/>
                          <a:cs typeface="Arial"/>
                        </a:rPr>
                        <a:t>Equitable distribution</a:t>
                      </a:r>
                    </a:p>
                  </a:txBody>
                  <a:tcPr marL="91440" marR="91440" marT="45720" marB="45720"/>
                </a:tc>
                <a:tc>
                  <a:txBody>
                    <a:bodyPr>
                      <a:noAutofit/>
                    </a:bodyPr>
                    <a:lstStyle/>
                    <a:p>
                      <a:r>
                        <a:rPr sz="1050">
                          <a:solidFill>
                            <a:srgbClr val="131A24"/>
                          </a:solidFill>
                          <a:latin typeface="Arial"/>
                          <a:ea typeface="Arial"/>
                          <a:cs typeface="Arial"/>
                        </a:rPr>
                        <a:t>Not measured</a:t>
                      </a:r>
                    </a:p>
                  </a:txBody>
                  <a:tcPr marL="91440" marR="91440" marT="45720" marB="45720"/>
                </a:tc>
                <a:tc>
                  <a:txBody>
                    <a:bodyPr>
                      <a:noAutofit/>
                    </a:bodyPr>
                    <a:lstStyle/>
                    <a:p>
                      <a:r>
                        <a:rPr sz="1050">
                          <a:solidFill>
                            <a:srgbClr val="131A24"/>
                          </a:solidFill>
                          <a:latin typeface="Arial"/>
                          <a:ea typeface="Arial"/>
                          <a:cs typeface="Arial"/>
                        </a:rPr>
                        <a:t>Quantities received in the previous 30 days influence the score</a:t>
                      </a:r>
                    </a:p>
                  </a:txBody>
                  <a:tcPr marL="91440" marR="91440" marT="45720" marB="45720"/>
                </a:tc>
              </a:tr>
              <a:tr h="506186">
                <a:tc>
                  <a:txBody>
                    <a:bodyPr>
                      <a:noAutofit/>
                    </a:bodyPr>
                    <a:lstStyle/>
                    <a:p>
                      <a:r>
                        <a:rPr sz="1050">
                          <a:solidFill>
                            <a:srgbClr val="131A24"/>
                          </a:solidFill>
                          <a:latin typeface="Arial"/>
                          <a:ea typeface="Arial"/>
                          <a:cs typeface="Arial"/>
                        </a:rPr>
                        <a:t>Transparency</a:t>
                      </a:r>
                    </a:p>
                  </a:txBody>
                  <a:tcPr marL="91440" marR="91440" marT="45720" marB="45720"/>
                </a:tc>
                <a:tc>
                  <a:txBody>
                    <a:bodyPr>
                      <a:noAutofit/>
                    </a:bodyPr>
                    <a:lstStyle/>
                    <a:p>
                      <a:r>
                        <a:rPr sz="1050">
                          <a:solidFill>
                            <a:srgbClr val="131A24"/>
                          </a:solidFill>
                          <a:latin typeface="Arial"/>
                          <a:ea typeface="Arial"/>
                          <a:cs typeface="Arial"/>
                        </a:rPr>
                        <a:t>No recorded justification</a:t>
                      </a:r>
                    </a:p>
                  </a:txBody>
                  <a:tcPr marL="91440" marR="91440" marT="45720" marB="45720"/>
                </a:tc>
                <a:tc>
                  <a:txBody>
                    <a:bodyPr>
                      <a:noAutofit/>
                    </a:bodyPr>
                    <a:lstStyle/>
                    <a:p>
                      <a:r>
                        <a:rPr sz="1050">
                          <a:solidFill>
                            <a:srgbClr val="131A24"/>
                          </a:solidFill>
                          <a:latin typeface="Arial"/>
                          <a:ea typeface="Arial"/>
                          <a:cs typeface="Arial"/>
                        </a:rPr>
                        <a:t>A written explanation is stored with every allocation</a:t>
                      </a:r>
                    </a:p>
                  </a:txBody>
                  <a:tcPr marL="91440" marR="91440" marT="45720" marB="45720"/>
                </a:tc>
              </a:tr>
              <a:tr h="506186">
                <a:tc>
                  <a:txBody>
                    <a:bodyPr>
                      <a:noAutofit/>
                    </a:bodyPr>
                    <a:lstStyle/>
                    <a:p>
                      <a:r>
                        <a:rPr sz="1050">
                          <a:solidFill>
                            <a:srgbClr val="131A24"/>
                          </a:solidFill>
                          <a:latin typeface="Arial"/>
                          <a:ea typeface="Arial"/>
                          <a:cs typeface="Arial"/>
                        </a:rPr>
                        <a:t>Volunteer coordination</a:t>
                      </a:r>
                    </a:p>
                  </a:txBody>
                  <a:tcPr marL="91440" marR="91440" marT="45720" marB="45720"/>
                </a:tc>
                <a:tc>
                  <a:txBody>
                    <a:bodyPr>
                      <a:noAutofit/>
                    </a:bodyPr>
                    <a:lstStyle/>
                    <a:p>
                      <a:r>
                        <a:rPr sz="1050">
                          <a:solidFill>
                            <a:srgbClr val="131A24"/>
                          </a:solidFill>
                          <a:latin typeface="Arial"/>
                          <a:ea typeface="Arial"/>
                          <a:cs typeface="Arial"/>
                        </a:rPr>
                        <a:t>Arranged privately between donor and recipient</a:t>
                      </a:r>
                    </a:p>
                  </a:txBody>
                  <a:tcPr marL="91440" marR="91440" marT="45720" marB="45720"/>
                </a:tc>
                <a:tc>
                  <a:txBody>
                    <a:bodyPr>
                      <a:noAutofit/>
                    </a:bodyPr>
                    <a:lstStyle/>
                    <a:p>
                      <a:r>
                        <a:rPr sz="1050">
                          <a:solidFill>
                            <a:srgbClr val="131A24"/>
                          </a:solidFill>
                          <a:latin typeface="Arial"/>
                          <a:ea typeface="Arial"/>
                          <a:cs typeface="Arial"/>
                        </a:rPr>
                        <a:t>Volunteers are matched by distance, workload and experience</a:t>
                      </a:r>
                    </a:p>
                  </a:txBody>
                  <a:tcPr marL="91440" marR="91440" marT="45720" marB="45720"/>
                </a:tc>
              </a:tr>
              <a:tr h="506186">
                <a:tc>
                  <a:txBody>
                    <a:bodyPr>
                      <a:noAutofit/>
                    </a:bodyPr>
                    <a:lstStyle/>
                    <a:p>
                      <a:r>
                        <a:rPr sz="1050">
                          <a:solidFill>
                            <a:srgbClr val="131A24"/>
                          </a:solidFill>
                          <a:latin typeface="Arial"/>
                          <a:ea typeface="Arial"/>
                          <a:cs typeface="Arial"/>
                        </a:rPr>
                        <a:t>Accountability</a:t>
                      </a:r>
                    </a:p>
                  </a:txBody>
                  <a:tcPr marL="91440" marR="91440" marT="45720" marB="45720"/>
                </a:tc>
                <a:tc>
                  <a:txBody>
                    <a:bodyPr>
                      <a:noAutofit/>
                    </a:bodyPr>
                    <a:lstStyle/>
                    <a:p>
                      <a:r>
                        <a:rPr sz="1050">
                          <a:solidFill>
                            <a:srgbClr val="131A24"/>
                          </a:solidFill>
                          <a:latin typeface="Arial"/>
                          <a:ea typeface="Arial"/>
                          <a:cs typeface="Arial"/>
                        </a:rPr>
                        <a:t>Basic donation history</a:t>
                      </a:r>
                    </a:p>
                  </a:txBody>
                  <a:tcPr marL="91440" marR="91440" marT="45720" marB="45720"/>
                </a:tc>
                <a:tc>
                  <a:txBody>
                    <a:bodyPr>
                      <a:noAutofit/>
                    </a:bodyPr>
                    <a:lstStyle/>
                    <a:p>
                      <a:r>
                        <a:rPr sz="1050">
                          <a:solidFill>
                            <a:srgbClr val="131A24"/>
                          </a:solidFill>
                          <a:latin typeface="Arial"/>
                          <a:ea typeface="Arial"/>
                          <a:cs typeface="Arial"/>
                        </a:rPr>
                        <a:t>Every action is recorded in the audit log</a:t>
                      </a:r>
                    </a:p>
                  </a:txBody>
                  <a:tcPr marL="91440" marR="91440" marT="45720" marB="45720"/>
                </a:tc>
              </a:tr>
            </a:tbl>
          </a:graphicData>
        </a:graphic>
      </p:graphicFrame>
    </p:spTree>
    <p:extLst>
      <p:ext uri="{BB962C8B-B14F-4D97-AF65-F5344CB8AC3E}">
        <p14:creationId xmlns:p14="http://schemas.microsoft.com/office/powerpoint/2010/main" val="13773173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F5AE014-472B-43C1-8ED4-3A8F95D80B54}"/>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4 / 11</a:t>
            </a:r>
          </a:p>
        </p:txBody>
      </p:sp>
      <p:sp>
        <p:nvSpPr>
          <p:cNvPr id="2" name="slide-title">
            <a:extLst xmlns:a="http://schemas.openxmlformats.org/drawingml/2006/main">
              <a:ext uri="{FF2B5EF4-FFF2-40B4-BE49-F238E27FC236}">
                <a16:creationId xmlns:a16="http://schemas.microsoft.com/office/drawing/2014/main" id="{73F0CD11-F160-434F-BC0C-525F047B9048}"/>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Functional scope</a:t>
            </a:r>
          </a:p>
        </p:txBody>
      </p:sp>
      <p:sp>
        <p:nvSpPr>
          <p:cNvPr id="3" name="slide-lead">
            <a:extLst xmlns:a="http://schemas.openxmlformats.org/drawingml/2006/main">
              <a:ext uri="{FF2B5EF4-FFF2-40B4-BE49-F238E27FC236}">
                <a16:creationId xmlns:a16="http://schemas.microsoft.com/office/drawing/2014/main" id="{A737AF4D-7D4B-4DC4-BD84-F88316E1CAEC}"/>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Four actors and sixteen use cases, all implemented in the running system.</a:t>
            </a:r>
          </a:p>
        </p:txBody>
      </p:sp>
      <p:sp>
        <p:nvSpPr>
          <p:cNvPr id="4" name="title-rule">
            <a:extLst xmlns:a="http://schemas.openxmlformats.org/drawingml/2006/main">
              <a:ext uri="{FF2B5EF4-FFF2-40B4-BE49-F238E27FC236}">
                <a16:creationId xmlns:a16="http://schemas.microsoft.com/office/drawing/2014/main" id="{2396B5A7-F599-44BE-A7B7-BDD7079D3957}"/>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flow-Donation registered">
            <a:extLst xmlns:a="http://schemas.openxmlformats.org/drawingml/2006/main">
              <a:ext uri="{FF2B5EF4-FFF2-40B4-BE49-F238E27FC236}">
                <a16:creationId xmlns:a16="http://schemas.microsoft.com/office/drawing/2014/main" id="{A591C009-4309-45E5-B2F7-A396D1C1C4C1}"/>
              </a:ext>
            </a:extLst>
          </p:cNvPr>
          <p:cNvSpPr>
            <a:spLocks xmlns:a="http://schemas.openxmlformats.org/drawingml/2006/main" noGrp="1"/>
          </p:cNvSpPr>
          <p:nvPr/>
        </p:nvSpPr>
        <p:spPr>
          <a:xfrm xmlns:a="http://schemas.openxmlformats.org/drawingml/2006/main">
            <a:off x="68580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6" name="">
            <a:extLst xmlns:a="http://schemas.openxmlformats.org/drawingml/2006/main">
              <a:ext uri="{FF2B5EF4-FFF2-40B4-BE49-F238E27FC236}">
                <a16:creationId xmlns:a16="http://schemas.microsoft.com/office/drawing/2014/main" id="{B72825FB-CE42-4FEF-AF8B-81468A0B6FD1}"/>
              </a:ext>
            </a:extLst>
          </p:cNvPr>
          <p:cNvSpPr>
            <a:spLocks xmlns:a="http://schemas.openxmlformats.org/drawingml/2006/main" noGrp="1"/>
          </p:cNvSpPr>
          <p:nvPr/>
        </p:nvSpPr>
        <p:spPr>
          <a:xfrm xmlns:a="http://schemas.openxmlformats.org/drawingml/2006/main">
            <a:off x="78105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Donation registered</a:t>
            </a:r>
          </a:p>
        </p:txBody>
      </p:sp>
      <p:sp>
        <p:nvSpPr>
          <p:cNvPr id="7" name="">
            <a:extLst xmlns:a="http://schemas.openxmlformats.org/drawingml/2006/main">
              <a:ext uri="{FF2B5EF4-FFF2-40B4-BE49-F238E27FC236}">
                <a16:creationId xmlns:a16="http://schemas.microsoft.com/office/drawing/2014/main" id="{C87D9BA0-464E-4D5E-8717-9871E9BA69AB}"/>
              </a:ext>
            </a:extLst>
          </p:cNvPr>
          <p:cNvSpPr>
            <a:spLocks xmlns:a="http://schemas.openxmlformats.org/drawingml/2006/main" noGrp="1"/>
          </p:cNvSpPr>
          <p:nvPr/>
        </p:nvSpPr>
        <p:spPr>
          <a:xfrm xmlns:a="http://schemas.openxmlformats.org/drawingml/2006/main">
            <a:off x="78105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donor submits details</a:t>
            </a:r>
          </a:p>
        </p:txBody>
      </p:sp>
      <p:sp>
        <p:nvSpPr>
          <p:cNvPr id="8" name="">
            <a:extLst xmlns:a="http://schemas.openxmlformats.org/drawingml/2006/main">
              <a:ext uri="{FF2B5EF4-FFF2-40B4-BE49-F238E27FC236}">
                <a16:creationId xmlns:a16="http://schemas.microsoft.com/office/drawing/2014/main" id="{E529FF9D-FAF1-4B8C-96B9-CDBD4BBF2794}"/>
              </a:ext>
            </a:extLst>
          </p:cNvPr>
          <p:cNvSpPr>
            <a:spLocks xmlns:a="http://schemas.openxmlformats.org/drawingml/2006/main" noGrp="1"/>
          </p:cNvSpPr>
          <p:nvPr/>
        </p:nvSpPr>
        <p:spPr>
          <a:xfrm xmlns:a="http://schemas.openxmlformats.org/drawingml/2006/main">
            <a:off x="217170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9" name="flow-Automatic match">
            <a:extLst xmlns:a="http://schemas.openxmlformats.org/drawingml/2006/main">
              <a:ext uri="{FF2B5EF4-FFF2-40B4-BE49-F238E27FC236}">
                <a16:creationId xmlns:a16="http://schemas.microsoft.com/office/drawing/2014/main" id="{3B85B867-BA89-4BC8-8501-E59E77D068FB}"/>
              </a:ext>
            </a:extLst>
          </p:cNvPr>
          <p:cNvSpPr>
            <a:spLocks xmlns:a="http://schemas.openxmlformats.org/drawingml/2006/main" noGrp="1"/>
          </p:cNvSpPr>
          <p:nvPr/>
        </p:nvSpPr>
        <p:spPr>
          <a:xfrm xmlns:a="http://schemas.openxmlformats.org/drawingml/2006/main">
            <a:off x="245745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10" name="">
            <a:extLst xmlns:a="http://schemas.openxmlformats.org/drawingml/2006/main">
              <a:ext uri="{FF2B5EF4-FFF2-40B4-BE49-F238E27FC236}">
                <a16:creationId xmlns:a16="http://schemas.microsoft.com/office/drawing/2014/main" id="{A5260120-4AC1-4D07-A686-38D81980B792}"/>
              </a:ext>
            </a:extLst>
          </p:cNvPr>
          <p:cNvSpPr>
            <a:spLocks xmlns:a="http://schemas.openxmlformats.org/drawingml/2006/main" noGrp="1"/>
          </p:cNvSpPr>
          <p:nvPr/>
        </p:nvSpPr>
        <p:spPr>
          <a:xfrm xmlns:a="http://schemas.openxmlformats.org/drawingml/2006/main">
            <a:off x="255270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Automatic match</a:t>
            </a:r>
          </a:p>
        </p:txBody>
      </p:sp>
      <p:sp>
        <p:nvSpPr>
          <p:cNvPr id="11" name="">
            <a:extLst xmlns:a="http://schemas.openxmlformats.org/drawingml/2006/main">
              <a:ext uri="{FF2B5EF4-FFF2-40B4-BE49-F238E27FC236}">
                <a16:creationId xmlns:a16="http://schemas.microsoft.com/office/drawing/2014/main" id="{2F690B61-6956-4242-8D82-EF6EA647EE2E}"/>
              </a:ext>
            </a:extLst>
          </p:cNvPr>
          <p:cNvSpPr>
            <a:spLocks xmlns:a="http://schemas.openxmlformats.org/drawingml/2006/main" noGrp="1"/>
          </p:cNvSpPr>
          <p:nvPr/>
        </p:nvSpPr>
        <p:spPr>
          <a:xfrm xmlns:a="http://schemas.openxmlformats.org/drawingml/2006/main">
            <a:off x="255270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engine decides instantly</a:t>
            </a:r>
          </a:p>
        </p:txBody>
      </p:sp>
      <p:sp>
        <p:nvSpPr>
          <p:cNvPr id="12" name="">
            <a:extLst xmlns:a="http://schemas.openxmlformats.org/drawingml/2006/main">
              <a:ext uri="{FF2B5EF4-FFF2-40B4-BE49-F238E27FC236}">
                <a16:creationId xmlns:a16="http://schemas.microsoft.com/office/drawing/2014/main" id="{B0B993DD-2ADF-4C64-9061-C24D1FB1D87C}"/>
              </a:ext>
            </a:extLst>
          </p:cNvPr>
          <p:cNvSpPr>
            <a:spLocks xmlns:a="http://schemas.openxmlformats.org/drawingml/2006/main" noGrp="1"/>
          </p:cNvSpPr>
          <p:nvPr/>
        </p:nvSpPr>
        <p:spPr>
          <a:xfrm xmlns:a="http://schemas.openxmlformats.org/drawingml/2006/main">
            <a:off x="394335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3" name="flow-Recipient accepts">
            <a:extLst xmlns:a="http://schemas.openxmlformats.org/drawingml/2006/main">
              <a:ext uri="{FF2B5EF4-FFF2-40B4-BE49-F238E27FC236}">
                <a16:creationId xmlns:a16="http://schemas.microsoft.com/office/drawing/2014/main" id="{9735FACE-80A6-4D54-A75B-4AFACAED5D58}"/>
              </a:ext>
            </a:extLst>
          </p:cNvPr>
          <p:cNvSpPr>
            <a:spLocks xmlns:a="http://schemas.openxmlformats.org/drawingml/2006/main" noGrp="1"/>
          </p:cNvSpPr>
          <p:nvPr/>
        </p:nvSpPr>
        <p:spPr>
          <a:xfrm xmlns:a="http://schemas.openxmlformats.org/drawingml/2006/main">
            <a:off x="422910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14" name="">
            <a:extLst xmlns:a="http://schemas.openxmlformats.org/drawingml/2006/main">
              <a:ext uri="{FF2B5EF4-FFF2-40B4-BE49-F238E27FC236}">
                <a16:creationId xmlns:a16="http://schemas.microsoft.com/office/drawing/2014/main" id="{3EA7353B-C218-47DC-9E52-BD247DB2BF90}"/>
              </a:ext>
            </a:extLst>
          </p:cNvPr>
          <p:cNvSpPr>
            <a:spLocks xmlns:a="http://schemas.openxmlformats.org/drawingml/2006/main" noGrp="1"/>
          </p:cNvSpPr>
          <p:nvPr/>
        </p:nvSpPr>
        <p:spPr>
          <a:xfrm xmlns:a="http://schemas.openxmlformats.org/drawingml/2006/main">
            <a:off x="432435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Recipient accepts</a:t>
            </a:r>
          </a:p>
        </p:txBody>
      </p:sp>
      <p:sp>
        <p:nvSpPr>
          <p:cNvPr id="15" name="">
            <a:extLst xmlns:a="http://schemas.openxmlformats.org/drawingml/2006/main">
              <a:ext uri="{FF2B5EF4-FFF2-40B4-BE49-F238E27FC236}">
                <a16:creationId xmlns:a16="http://schemas.microsoft.com/office/drawing/2014/main" id="{4BCEF5AE-295C-479E-9178-09994E6EDC88}"/>
              </a:ext>
            </a:extLst>
          </p:cNvPr>
          <p:cNvSpPr>
            <a:spLocks xmlns:a="http://schemas.openxmlformats.org/drawingml/2006/main" noGrp="1"/>
          </p:cNvSpPr>
          <p:nvPr/>
        </p:nvSpPr>
        <p:spPr>
          <a:xfrm xmlns:a="http://schemas.openxmlformats.org/drawingml/2006/main">
            <a:off x="432435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decision visible</a:t>
            </a:r>
          </a:p>
        </p:txBody>
      </p:sp>
      <p:sp>
        <p:nvSpPr>
          <p:cNvPr id="16" name="">
            <a:extLst xmlns:a="http://schemas.openxmlformats.org/drawingml/2006/main">
              <a:ext uri="{FF2B5EF4-FFF2-40B4-BE49-F238E27FC236}">
                <a16:creationId xmlns:a16="http://schemas.microsoft.com/office/drawing/2014/main" id="{97BAF073-F124-4E84-A143-EC34AFC5CF6A}"/>
              </a:ext>
            </a:extLst>
          </p:cNvPr>
          <p:cNvSpPr>
            <a:spLocks xmlns:a="http://schemas.openxmlformats.org/drawingml/2006/main" noGrp="1"/>
          </p:cNvSpPr>
          <p:nvPr/>
        </p:nvSpPr>
        <p:spPr>
          <a:xfrm xmlns:a="http://schemas.openxmlformats.org/drawingml/2006/main">
            <a:off x="571500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7" name="flow-Volunteer collects">
            <a:extLst xmlns:a="http://schemas.openxmlformats.org/drawingml/2006/main">
              <a:ext uri="{FF2B5EF4-FFF2-40B4-BE49-F238E27FC236}">
                <a16:creationId xmlns:a16="http://schemas.microsoft.com/office/drawing/2014/main" id="{4B7270F4-F7E8-488F-B25C-A883FBF122E4}"/>
              </a:ext>
            </a:extLst>
          </p:cNvPr>
          <p:cNvSpPr>
            <a:spLocks xmlns:a="http://schemas.openxmlformats.org/drawingml/2006/main" noGrp="1"/>
          </p:cNvSpPr>
          <p:nvPr/>
        </p:nvSpPr>
        <p:spPr>
          <a:xfrm xmlns:a="http://schemas.openxmlformats.org/drawingml/2006/main">
            <a:off x="600075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18" name="">
            <a:extLst xmlns:a="http://schemas.openxmlformats.org/drawingml/2006/main">
              <a:ext uri="{FF2B5EF4-FFF2-40B4-BE49-F238E27FC236}">
                <a16:creationId xmlns:a16="http://schemas.microsoft.com/office/drawing/2014/main" id="{718C3764-C85E-4C08-97F3-B975D43154DD}"/>
              </a:ext>
            </a:extLst>
          </p:cNvPr>
          <p:cNvSpPr>
            <a:spLocks xmlns:a="http://schemas.openxmlformats.org/drawingml/2006/main" noGrp="1"/>
          </p:cNvSpPr>
          <p:nvPr/>
        </p:nvSpPr>
        <p:spPr>
          <a:xfrm xmlns:a="http://schemas.openxmlformats.org/drawingml/2006/main">
            <a:off x="609600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Volunteer collects</a:t>
            </a:r>
          </a:p>
        </p:txBody>
      </p:sp>
      <p:sp>
        <p:nvSpPr>
          <p:cNvPr id="19" name="">
            <a:extLst xmlns:a="http://schemas.openxmlformats.org/drawingml/2006/main">
              <a:ext uri="{FF2B5EF4-FFF2-40B4-BE49-F238E27FC236}">
                <a16:creationId xmlns:a16="http://schemas.microsoft.com/office/drawing/2014/main" id="{335C4A65-A6C2-471A-BBB7-BCF86BEAD229}"/>
              </a:ext>
            </a:extLst>
          </p:cNvPr>
          <p:cNvSpPr>
            <a:spLocks xmlns:a="http://schemas.openxmlformats.org/drawingml/2006/main" noGrp="1"/>
          </p:cNvSpPr>
          <p:nvPr/>
        </p:nvSpPr>
        <p:spPr>
          <a:xfrm xmlns:a="http://schemas.openxmlformats.org/drawingml/2006/main">
            <a:off x="609600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matched by distance</a:t>
            </a:r>
          </a:p>
        </p:txBody>
      </p:sp>
      <p:sp>
        <p:nvSpPr>
          <p:cNvPr id="20" name="">
            <a:extLst xmlns:a="http://schemas.openxmlformats.org/drawingml/2006/main">
              <a:ext uri="{FF2B5EF4-FFF2-40B4-BE49-F238E27FC236}">
                <a16:creationId xmlns:a16="http://schemas.microsoft.com/office/drawing/2014/main" id="{E500177F-68F8-4CA2-9585-F4FFD869ED9D}"/>
              </a:ext>
            </a:extLst>
          </p:cNvPr>
          <p:cNvSpPr>
            <a:spLocks xmlns:a="http://schemas.openxmlformats.org/drawingml/2006/main" noGrp="1"/>
          </p:cNvSpPr>
          <p:nvPr/>
        </p:nvSpPr>
        <p:spPr>
          <a:xfrm xmlns:a="http://schemas.openxmlformats.org/drawingml/2006/main">
            <a:off x="748665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21" name="flow-Delivered">
            <a:extLst xmlns:a="http://schemas.openxmlformats.org/drawingml/2006/main">
              <a:ext uri="{FF2B5EF4-FFF2-40B4-BE49-F238E27FC236}">
                <a16:creationId xmlns:a16="http://schemas.microsoft.com/office/drawing/2014/main" id="{20EA9459-5F83-4D0C-9372-83AF2A667C51}"/>
              </a:ext>
            </a:extLst>
          </p:cNvPr>
          <p:cNvSpPr>
            <a:spLocks xmlns:a="http://schemas.openxmlformats.org/drawingml/2006/main" noGrp="1"/>
          </p:cNvSpPr>
          <p:nvPr/>
        </p:nvSpPr>
        <p:spPr>
          <a:xfrm xmlns:a="http://schemas.openxmlformats.org/drawingml/2006/main">
            <a:off x="777240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22" name="">
            <a:extLst xmlns:a="http://schemas.openxmlformats.org/drawingml/2006/main">
              <a:ext uri="{FF2B5EF4-FFF2-40B4-BE49-F238E27FC236}">
                <a16:creationId xmlns:a16="http://schemas.microsoft.com/office/drawing/2014/main" id="{A66D2B3A-EBAC-4B41-BF89-4546124811AB}"/>
              </a:ext>
            </a:extLst>
          </p:cNvPr>
          <p:cNvSpPr>
            <a:spLocks xmlns:a="http://schemas.openxmlformats.org/drawingml/2006/main" noGrp="1"/>
          </p:cNvSpPr>
          <p:nvPr/>
        </p:nvSpPr>
        <p:spPr>
          <a:xfrm xmlns:a="http://schemas.openxmlformats.org/drawingml/2006/main">
            <a:off x="786765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Delivered</a:t>
            </a:r>
          </a:p>
        </p:txBody>
      </p:sp>
      <p:sp>
        <p:nvSpPr>
          <p:cNvPr id="23" name="">
            <a:extLst xmlns:a="http://schemas.openxmlformats.org/drawingml/2006/main">
              <a:ext uri="{FF2B5EF4-FFF2-40B4-BE49-F238E27FC236}">
                <a16:creationId xmlns:a16="http://schemas.microsoft.com/office/drawing/2014/main" id="{6068C13E-5B16-4E2C-A9D2-6F284D7FFAB0}"/>
              </a:ext>
            </a:extLst>
          </p:cNvPr>
          <p:cNvSpPr>
            <a:spLocks xmlns:a="http://schemas.openxmlformats.org/drawingml/2006/main" noGrp="1"/>
          </p:cNvSpPr>
          <p:nvPr/>
        </p:nvSpPr>
        <p:spPr>
          <a:xfrm xmlns:a="http://schemas.openxmlformats.org/drawingml/2006/main">
            <a:off x="786765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tracked to handover</a:t>
            </a:r>
          </a:p>
        </p:txBody>
      </p:sp>
      <p:sp>
        <p:nvSpPr>
          <p:cNvPr id="24" name="">
            <a:extLst xmlns:a="http://schemas.openxmlformats.org/drawingml/2006/main">
              <a:ext uri="{FF2B5EF4-FFF2-40B4-BE49-F238E27FC236}">
                <a16:creationId xmlns:a16="http://schemas.microsoft.com/office/drawing/2014/main" id="{AA1D351A-A937-4447-8401-B5FA419EE372}"/>
              </a:ext>
            </a:extLst>
          </p:cNvPr>
          <p:cNvSpPr>
            <a:spLocks xmlns:a="http://schemas.openxmlformats.org/drawingml/2006/main" noGrp="1"/>
          </p:cNvSpPr>
          <p:nvPr/>
        </p:nvSpPr>
        <p:spPr>
          <a:xfrm xmlns:a="http://schemas.openxmlformats.org/drawingml/2006/main">
            <a:off x="925830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25" name="flow-Reports update">
            <a:extLst xmlns:a="http://schemas.openxmlformats.org/drawingml/2006/main">
              <a:ext uri="{FF2B5EF4-FFF2-40B4-BE49-F238E27FC236}">
                <a16:creationId xmlns:a16="http://schemas.microsoft.com/office/drawing/2014/main" id="{FDAF2687-74E1-4941-93F7-5806D973BEBC}"/>
              </a:ext>
            </a:extLst>
          </p:cNvPr>
          <p:cNvSpPr>
            <a:spLocks xmlns:a="http://schemas.openxmlformats.org/drawingml/2006/main" noGrp="1"/>
          </p:cNvSpPr>
          <p:nvPr/>
        </p:nvSpPr>
        <p:spPr>
          <a:xfrm xmlns:a="http://schemas.openxmlformats.org/drawingml/2006/main">
            <a:off x="954405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26" name="">
            <a:extLst xmlns:a="http://schemas.openxmlformats.org/drawingml/2006/main">
              <a:ext uri="{FF2B5EF4-FFF2-40B4-BE49-F238E27FC236}">
                <a16:creationId xmlns:a16="http://schemas.microsoft.com/office/drawing/2014/main" id="{A18BC054-BF3F-46D1-90D2-5AC692CB2154}"/>
              </a:ext>
            </a:extLst>
          </p:cNvPr>
          <p:cNvSpPr>
            <a:spLocks xmlns:a="http://schemas.openxmlformats.org/drawingml/2006/main" noGrp="1"/>
          </p:cNvSpPr>
          <p:nvPr/>
        </p:nvSpPr>
        <p:spPr>
          <a:xfrm xmlns:a="http://schemas.openxmlformats.org/drawingml/2006/main">
            <a:off x="963930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Reports update</a:t>
            </a:r>
          </a:p>
        </p:txBody>
      </p:sp>
      <p:sp>
        <p:nvSpPr>
          <p:cNvPr id="27" name="">
            <a:extLst xmlns:a="http://schemas.openxmlformats.org/drawingml/2006/main">
              <a:ext uri="{FF2B5EF4-FFF2-40B4-BE49-F238E27FC236}">
                <a16:creationId xmlns:a16="http://schemas.microsoft.com/office/drawing/2014/main" id="{9CE85CE8-A73D-4627-9A3B-B466AA3AB5C8}"/>
              </a:ext>
            </a:extLst>
          </p:cNvPr>
          <p:cNvSpPr>
            <a:spLocks xmlns:a="http://schemas.openxmlformats.org/drawingml/2006/main" noGrp="1"/>
          </p:cNvSpPr>
          <p:nvPr/>
        </p:nvSpPr>
        <p:spPr>
          <a:xfrm xmlns:a="http://schemas.openxmlformats.org/drawingml/2006/main">
            <a:off x="963930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rescues and audit</a:t>
            </a:r>
          </a:p>
        </p:txBody>
      </p:sp>
      <p:sp>
        <p:nvSpPr>
          <p:cNvPr id="28" name="">
            <a:extLst xmlns:a="http://schemas.openxmlformats.org/drawingml/2006/main">
              <a:ext uri="{FF2B5EF4-FFF2-40B4-BE49-F238E27FC236}">
                <a16:creationId xmlns:a16="http://schemas.microsoft.com/office/drawing/2014/main" id="{8902F369-FEFC-4F0C-B93B-5C97FDE08001}"/>
              </a:ext>
            </a:extLst>
          </p:cNvPr>
          <p:cNvSpPr>
            <a:spLocks xmlns:a="http://schemas.openxmlformats.org/drawingml/2006/main" noGrp="1"/>
          </p:cNvSpPr>
          <p:nvPr/>
        </p:nvSpPr>
        <p:spPr>
          <a:xfrm xmlns:a="http://schemas.openxmlformats.org/drawingml/2006/main">
            <a:off x="685800" y="3619500"/>
            <a:ext cx="108204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31A24"/>
                </a:solidFill>
                <a:latin typeface="Arial"/>
                <a:ea typeface="Arial"/>
                <a:cs typeface="Arial"/>
              </a:defRPr>
            </a:defPPr>
            <a:lvl1pPr>
              <a:defRPr sz="1500">
                <a:solidFill>
                  <a:srgbClr val="131A24"/>
                </a:solidFill>
                <a:latin typeface="Arial"/>
                <a:ea typeface="Arial"/>
                <a:cs typeface="Arial"/>
              </a:defRPr>
            </a:lvl1pPr>
            <a:lvl2pPr>
              <a:defRPr sz="1500">
                <a:solidFill>
                  <a:srgbClr val="131A24"/>
                </a:solidFill>
                <a:latin typeface="Arial"/>
                <a:ea typeface="Arial"/>
                <a:cs typeface="Arial"/>
              </a:defRPr>
            </a:lvl2pPr>
            <a:lvl3pPr>
              <a:defRPr sz="1500">
                <a:solidFill>
                  <a:srgbClr val="131A24"/>
                </a:solidFill>
                <a:latin typeface="Arial"/>
                <a:ea typeface="Arial"/>
                <a:cs typeface="Arial"/>
              </a:defRPr>
            </a:lvl3pPr>
            <a:lvl4pPr>
              <a:defRPr sz="1500">
                <a:solidFill>
                  <a:srgbClr val="131A24"/>
                </a:solidFill>
                <a:latin typeface="Arial"/>
                <a:ea typeface="Arial"/>
                <a:cs typeface="Arial"/>
              </a:defRPr>
            </a:lvl4pPr>
            <a:lvl5pPr>
              <a:defRPr sz="1500">
                <a:solidFill>
                  <a:srgbClr val="131A24"/>
                </a:solidFill>
                <a:latin typeface="Arial"/>
                <a:ea typeface="Arial"/>
                <a:cs typeface="Arial"/>
              </a:defRPr>
            </a:lvl5pPr>
            <a:lvl6pPr>
              <a:defRPr sz="1500">
                <a:solidFill>
                  <a:srgbClr val="131A24"/>
                </a:solidFill>
                <a:latin typeface="Arial"/>
                <a:ea typeface="Arial"/>
                <a:cs typeface="Arial"/>
              </a:defRPr>
            </a:lvl6pPr>
            <a:lvl7pPr>
              <a:defRPr sz="1500">
                <a:solidFill>
                  <a:srgbClr val="131A24"/>
                </a:solidFill>
                <a:latin typeface="Arial"/>
                <a:ea typeface="Arial"/>
                <a:cs typeface="Arial"/>
              </a:defRPr>
            </a:lvl7pPr>
            <a:lvl8pPr>
              <a:defRPr sz="1500">
                <a:solidFill>
                  <a:srgbClr val="131A24"/>
                </a:solidFill>
                <a:latin typeface="Arial"/>
                <a:ea typeface="Arial"/>
                <a:cs typeface="Arial"/>
              </a:defRPr>
            </a:lvl8pPr>
            <a:lvl9pPr>
              <a:defRPr sz="1500">
                <a:solidFill>
                  <a:srgbClr val="131A24"/>
                </a:solidFill>
                <a:latin typeface="Arial"/>
                <a:ea typeface="Arial"/>
                <a:cs typeface="Arial"/>
              </a:defRPr>
            </a:lvl9pPr>
          </a:lstStyle>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The workflow proceeds from donation registration to a confirmed delivery, with the allocation decision recorded at each stage.</a:t>
            </a:r>
          </a:p>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Each role workspace exposes only the functions that the actor is authorised to perform.</a:t>
            </a:r>
          </a:p>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The engine operates on the server; the browser presents decisions and collects responses.</a:t>
            </a:r>
          </a:p>
        </p:txBody>
      </p:sp>
    </p:spTree>
    <p:extLst>
      <p:ext uri="{BB962C8B-B14F-4D97-AF65-F5344CB8AC3E}">
        <p14:creationId xmlns:p14="http://schemas.microsoft.com/office/powerpoint/2010/main" val="12736134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403933-A5CE-442F-97BB-47FAB9E4F690}"/>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5 / 11</a:t>
            </a:r>
          </a:p>
        </p:txBody>
      </p:sp>
      <p:sp>
        <p:nvSpPr>
          <p:cNvPr id="2" name="slide-title">
            <a:extLst xmlns:a="http://schemas.openxmlformats.org/drawingml/2006/main">
              <a:ext uri="{FF2B5EF4-FFF2-40B4-BE49-F238E27FC236}">
                <a16:creationId xmlns:a16="http://schemas.microsoft.com/office/drawing/2014/main" id="{729DEFD2-6C0A-4453-884C-21119AC340AD}"/>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Allocation methodology</a:t>
            </a:r>
          </a:p>
        </p:txBody>
      </p:sp>
      <p:sp>
        <p:nvSpPr>
          <p:cNvPr id="3" name="slide-lead">
            <a:extLst xmlns:a="http://schemas.openxmlformats.org/drawingml/2006/main">
              <a:ext uri="{FF2B5EF4-FFF2-40B4-BE49-F238E27FC236}">
                <a16:creationId xmlns:a16="http://schemas.microsoft.com/office/drawing/2014/main" id="{9447A01B-35F0-4592-8B39-28E6C3D7ED5C}"/>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The engine runs when food is registered. Four constraints apply first; six weighted factors then rank the rest.</a:t>
            </a:r>
          </a:p>
        </p:txBody>
      </p:sp>
      <p:sp>
        <p:nvSpPr>
          <p:cNvPr id="4" name="title-rule">
            <a:extLst xmlns:a="http://schemas.openxmlformats.org/drawingml/2006/main">
              <a:ext uri="{FF2B5EF4-FFF2-40B4-BE49-F238E27FC236}">
                <a16:creationId xmlns:a16="http://schemas.microsoft.com/office/drawing/2014/main" id="{658F79AB-A531-4260-A535-34C4FA3C8271}"/>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flow-Verified organization">
            <a:extLst xmlns:a="http://schemas.openxmlformats.org/drawingml/2006/main">
              <a:ext uri="{FF2B5EF4-FFF2-40B4-BE49-F238E27FC236}">
                <a16:creationId xmlns:a16="http://schemas.microsoft.com/office/drawing/2014/main" id="{0A4A58A7-EF05-4DA1-A9BE-DCD9093A21B6}"/>
              </a:ext>
            </a:extLst>
          </p:cNvPr>
          <p:cNvSpPr>
            <a:spLocks xmlns:a="http://schemas.openxmlformats.org/drawingml/2006/main" noGrp="1"/>
          </p:cNvSpPr>
          <p:nvPr/>
        </p:nvSpPr>
        <p:spPr>
          <a:xfrm xmlns:a="http://schemas.openxmlformats.org/drawingml/2006/main">
            <a:off x="6858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6" name="">
            <a:extLst xmlns:a="http://schemas.openxmlformats.org/drawingml/2006/main">
              <a:ext uri="{FF2B5EF4-FFF2-40B4-BE49-F238E27FC236}">
                <a16:creationId xmlns:a16="http://schemas.microsoft.com/office/drawing/2014/main" id="{BC3F934A-435D-4B71-8109-F1D081752E8E}"/>
              </a:ext>
            </a:extLst>
          </p:cNvPr>
          <p:cNvSpPr>
            <a:spLocks xmlns:a="http://schemas.openxmlformats.org/drawingml/2006/main" noGrp="1"/>
          </p:cNvSpPr>
          <p:nvPr/>
        </p:nvSpPr>
        <p:spPr>
          <a:xfrm xmlns:a="http://schemas.openxmlformats.org/drawingml/2006/main">
            <a:off x="7810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Verified organization</a:t>
            </a:r>
          </a:p>
        </p:txBody>
      </p:sp>
      <p:sp>
        <p:nvSpPr>
          <p:cNvPr id="7" name="">
            <a:extLst xmlns:a="http://schemas.openxmlformats.org/drawingml/2006/main">
              <a:ext uri="{FF2B5EF4-FFF2-40B4-BE49-F238E27FC236}">
                <a16:creationId xmlns:a16="http://schemas.microsoft.com/office/drawing/2014/main" id="{A7EC282A-8668-4DC7-81EC-35C6D6268FB7}"/>
              </a:ext>
            </a:extLst>
          </p:cNvPr>
          <p:cNvSpPr>
            <a:spLocks xmlns:a="http://schemas.openxmlformats.org/drawingml/2006/main" noGrp="1"/>
          </p:cNvSpPr>
          <p:nvPr/>
        </p:nvSpPr>
        <p:spPr>
          <a:xfrm xmlns:a="http://schemas.openxmlformats.org/drawingml/2006/main">
            <a:off x="3028950" y="2085975"/>
            <a:ext cx="4191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8" name="flow-Sufficient free storage">
            <a:extLst xmlns:a="http://schemas.openxmlformats.org/drawingml/2006/main">
              <a:ext uri="{FF2B5EF4-FFF2-40B4-BE49-F238E27FC236}">
                <a16:creationId xmlns:a16="http://schemas.microsoft.com/office/drawing/2014/main" id="{15A2155E-E699-4626-916A-CDEF78EF9E04}"/>
              </a:ext>
            </a:extLst>
          </p:cNvPr>
          <p:cNvSpPr>
            <a:spLocks xmlns:a="http://schemas.openxmlformats.org/drawingml/2006/main" noGrp="1"/>
          </p:cNvSpPr>
          <p:nvPr/>
        </p:nvSpPr>
        <p:spPr>
          <a:xfrm xmlns:a="http://schemas.openxmlformats.org/drawingml/2006/main">
            <a:off x="35052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9" name="">
            <a:extLst xmlns:a="http://schemas.openxmlformats.org/drawingml/2006/main">
              <a:ext uri="{FF2B5EF4-FFF2-40B4-BE49-F238E27FC236}">
                <a16:creationId xmlns:a16="http://schemas.microsoft.com/office/drawing/2014/main" id="{FE6A0AF3-C7AC-492B-A981-280AA66127FB}"/>
              </a:ext>
            </a:extLst>
          </p:cNvPr>
          <p:cNvSpPr>
            <a:spLocks xmlns:a="http://schemas.openxmlformats.org/drawingml/2006/main" noGrp="1"/>
          </p:cNvSpPr>
          <p:nvPr/>
        </p:nvSpPr>
        <p:spPr>
          <a:xfrm xmlns:a="http://schemas.openxmlformats.org/drawingml/2006/main">
            <a:off x="36004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Sufficient free storage</a:t>
            </a:r>
          </a:p>
        </p:txBody>
      </p:sp>
      <p:sp>
        <p:nvSpPr>
          <p:cNvPr id="10" name="">
            <a:extLst xmlns:a="http://schemas.openxmlformats.org/drawingml/2006/main">
              <a:ext uri="{FF2B5EF4-FFF2-40B4-BE49-F238E27FC236}">
                <a16:creationId xmlns:a16="http://schemas.microsoft.com/office/drawing/2014/main" id="{9F646942-8E0E-4514-82FD-F6A0D880C63B}"/>
              </a:ext>
            </a:extLst>
          </p:cNvPr>
          <p:cNvSpPr>
            <a:spLocks xmlns:a="http://schemas.openxmlformats.org/drawingml/2006/main" noGrp="1"/>
          </p:cNvSpPr>
          <p:nvPr/>
        </p:nvSpPr>
        <p:spPr>
          <a:xfrm xmlns:a="http://schemas.openxmlformats.org/drawingml/2006/main">
            <a:off x="5848350" y="2085975"/>
            <a:ext cx="4191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1" name="flow-Category accepted">
            <a:extLst xmlns:a="http://schemas.openxmlformats.org/drawingml/2006/main">
              <a:ext uri="{FF2B5EF4-FFF2-40B4-BE49-F238E27FC236}">
                <a16:creationId xmlns:a16="http://schemas.microsoft.com/office/drawing/2014/main" id="{C7C80FA4-7A87-4810-A75F-117FC5A61E0B}"/>
              </a:ext>
            </a:extLst>
          </p:cNvPr>
          <p:cNvSpPr>
            <a:spLocks xmlns:a="http://schemas.openxmlformats.org/drawingml/2006/main" noGrp="1"/>
          </p:cNvSpPr>
          <p:nvPr/>
        </p:nvSpPr>
        <p:spPr>
          <a:xfrm xmlns:a="http://schemas.openxmlformats.org/drawingml/2006/main">
            <a:off x="63246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12" name="">
            <a:extLst xmlns:a="http://schemas.openxmlformats.org/drawingml/2006/main">
              <a:ext uri="{FF2B5EF4-FFF2-40B4-BE49-F238E27FC236}">
                <a16:creationId xmlns:a16="http://schemas.microsoft.com/office/drawing/2014/main" id="{31BDEF16-8BA5-42B8-A595-FBECEE2E19F8}"/>
              </a:ext>
            </a:extLst>
          </p:cNvPr>
          <p:cNvSpPr>
            <a:spLocks xmlns:a="http://schemas.openxmlformats.org/drawingml/2006/main" noGrp="1"/>
          </p:cNvSpPr>
          <p:nvPr/>
        </p:nvSpPr>
        <p:spPr>
          <a:xfrm xmlns:a="http://schemas.openxmlformats.org/drawingml/2006/main">
            <a:off x="64198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Category accepted</a:t>
            </a:r>
          </a:p>
        </p:txBody>
      </p:sp>
      <p:sp>
        <p:nvSpPr>
          <p:cNvPr id="13" name="">
            <a:extLst xmlns:a="http://schemas.openxmlformats.org/drawingml/2006/main">
              <a:ext uri="{FF2B5EF4-FFF2-40B4-BE49-F238E27FC236}">
                <a16:creationId xmlns:a16="http://schemas.microsoft.com/office/drawing/2014/main" id="{B0D85CBA-BDBB-4BF0-861E-D875B25F92E1}"/>
              </a:ext>
            </a:extLst>
          </p:cNvPr>
          <p:cNvSpPr>
            <a:spLocks xmlns:a="http://schemas.openxmlformats.org/drawingml/2006/main" noGrp="1"/>
          </p:cNvSpPr>
          <p:nvPr/>
        </p:nvSpPr>
        <p:spPr>
          <a:xfrm xmlns:a="http://schemas.openxmlformats.org/drawingml/2006/main">
            <a:off x="8667750" y="2085975"/>
            <a:ext cx="4191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4" name="flow-Safe arrival feasible">
            <a:extLst xmlns:a="http://schemas.openxmlformats.org/drawingml/2006/main">
              <a:ext uri="{FF2B5EF4-FFF2-40B4-BE49-F238E27FC236}">
                <a16:creationId xmlns:a16="http://schemas.microsoft.com/office/drawing/2014/main" id="{DDA2676D-3227-4244-9000-A2CFF661126C}"/>
              </a:ext>
            </a:extLst>
          </p:cNvPr>
          <p:cNvSpPr>
            <a:spLocks xmlns:a="http://schemas.openxmlformats.org/drawingml/2006/main" noGrp="1"/>
          </p:cNvSpPr>
          <p:nvPr/>
        </p:nvSpPr>
        <p:spPr>
          <a:xfrm xmlns:a="http://schemas.openxmlformats.org/drawingml/2006/main">
            <a:off x="91440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15" name="">
            <a:extLst xmlns:a="http://schemas.openxmlformats.org/drawingml/2006/main">
              <a:ext uri="{FF2B5EF4-FFF2-40B4-BE49-F238E27FC236}">
                <a16:creationId xmlns:a16="http://schemas.microsoft.com/office/drawing/2014/main" id="{38E2A769-2C97-44DE-898B-982853C20B27}"/>
              </a:ext>
            </a:extLst>
          </p:cNvPr>
          <p:cNvSpPr>
            <a:spLocks xmlns:a="http://schemas.openxmlformats.org/drawingml/2006/main" noGrp="1"/>
          </p:cNvSpPr>
          <p:nvPr/>
        </p:nvSpPr>
        <p:spPr>
          <a:xfrm xmlns:a="http://schemas.openxmlformats.org/drawingml/2006/main">
            <a:off x="92392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vl1pPr>
              <a:defRPr sz="1125" b="1">
                <a:solidFill>
                  <a:srgbClr val="131A24"/>
                </a:solidFill>
                <a:latin typeface="Arial"/>
                <a:ea typeface="Arial"/>
                <a:cs typeface="Arial"/>
              </a:defRPr>
            </a:lvl1pPr>
            <a:lvl2pPr>
              <a:defRPr sz="1125" b="1">
                <a:solidFill>
                  <a:srgbClr val="131A24"/>
                </a:solidFill>
                <a:latin typeface="Arial"/>
                <a:ea typeface="Arial"/>
                <a:cs typeface="Arial"/>
              </a:defRPr>
            </a:lvl2pPr>
            <a:lvl3pPr>
              <a:defRPr sz="1125" b="1">
                <a:solidFill>
                  <a:srgbClr val="131A24"/>
                </a:solidFill>
                <a:latin typeface="Arial"/>
                <a:ea typeface="Arial"/>
                <a:cs typeface="Arial"/>
              </a:defRPr>
            </a:lvl3pPr>
            <a:lvl4pPr>
              <a:defRPr sz="1125" b="1">
                <a:solidFill>
                  <a:srgbClr val="131A24"/>
                </a:solidFill>
                <a:latin typeface="Arial"/>
                <a:ea typeface="Arial"/>
                <a:cs typeface="Arial"/>
              </a:defRPr>
            </a:lvl4pPr>
            <a:lvl5pPr>
              <a:defRPr sz="1125" b="1">
                <a:solidFill>
                  <a:srgbClr val="131A24"/>
                </a:solidFill>
                <a:latin typeface="Arial"/>
                <a:ea typeface="Arial"/>
                <a:cs typeface="Arial"/>
              </a:defRPr>
            </a:lvl5pPr>
            <a:lvl6pPr>
              <a:defRPr sz="1125" b="1">
                <a:solidFill>
                  <a:srgbClr val="131A24"/>
                </a:solidFill>
                <a:latin typeface="Arial"/>
                <a:ea typeface="Arial"/>
                <a:cs typeface="Arial"/>
              </a:defRPr>
            </a:lvl6pPr>
            <a:lvl7pPr>
              <a:defRPr sz="1125" b="1">
                <a:solidFill>
                  <a:srgbClr val="131A24"/>
                </a:solidFill>
                <a:latin typeface="Arial"/>
                <a:ea typeface="Arial"/>
                <a:cs typeface="Arial"/>
              </a:defRPr>
            </a:lvl7pPr>
            <a:lvl8pPr>
              <a:defRPr sz="1125" b="1">
                <a:solidFill>
                  <a:srgbClr val="131A24"/>
                </a:solidFill>
                <a:latin typeface="Arial"/>
                <a:ea typeface="Arial"/>
                <a:cs typeface="Arial"/>
              </a:defRPr>
            </a:lvl8pPr>
            <a:lvl9pPr>
              <a:defRPr sz="1125" b="1">
                <a:solidFill>
                  <a:srgbClr val="131A24"/>
                </a:solidFill>
                <a:latin typeface="Arial"/>
                <a:ea typeface="Arial"/>
                <a:cs typeface="Arial"/>
              </a:defRPr>
            </a:lvl9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Safe arrival feasible</a:t>
            </a:r>
          </a:p>
        </p:txBody>
      </p:sp>
      <p:graphicFrame>
        <p:nvGraphicFramePr>
          <p:cNvPr id="16" name="">
            <a:extLst xmlns:a="http://schemas.openxmlformats.org/drawingml/2006/main">
              <a:ext uri="{FF2B5EF4-FFF2-40B4-BE49-F238E27FC236}">
                <a16:creationId xmlns:a16="http://schemas.microsoft.com/office/drawing/2014/main" id="{66EE2D93-A25D-4323-94B0-DE463BD2F213}"/>
              </a:ext>
            </a:extLst>
          </p:cNvPr>
          <p:cNvGraphicFramePr/>
          <p:nvPr/>
        </p:nvGraphicFramePr>
        <p:xfrm>
          <a:off xmlns:a="http://schemas.openxmlformats.org/drawingml/2006/main" x="685800" y="2743200"/>
          <a:ext xmlns:a="http://schemas.openxmlformats.org/drawingml/2006/main" cx="10820400" cy="2857500"/>
        </p:xfrm>
        <a:graphic xmlns:a="http://schemas.openxmlformats.org/drawingml/2006/main">
          <a:graphicData uri="http://schemas.openxmlformats.org/drawingml/2006/table">
            <a:tbl>
              <a:tblPr/>
              <a:tblGrid>
                <a:gridCol w="2095500"/>
                <a:gridCol w="1047750"/>
                <a:gridCol w="7677150"/>
              </a:tblGrid>
              <a:tr h="408214">
                <a:tc>
                  <a:txBody>
                    <a:bodyPr>
                      <a:noAutofit/>
                    </a:bodyPr>
                    <a:lstStyle/>
                    <a:p>
                      <a:r>
                        <a:rPr sz="1125" b="1">
                          <a:solidFill>
                            <a:srgbClr val="131A24"/>
                          </a:solidFill>
                          <a:latin typeface="Arial"/>
                          <a:ea typeface="Arial"/>
                          <a:cs typeface="Arial"/>
                        </a:rPr>
                        <a:t>Factor</a:t>
                      </a:r>
                    </a:p>
                  </a:txBody>
                  <a:tcPr marL="91440" marR="91440" marT="45720" marB="45720">
                    <a:solidFill>
                      <a:srgbClr val="F5F7F8"/>
                    </a:solidFill>
                  </a:tcPr>
                </a:tc>
                <a:tc>
                  <a:txBody>
                    <a:bodyPr>
                      <a:noAutofit/>
                    </a:bodyPr>
                    <a:lstStyle/>
                    <a:p>
                      <a:r>
                        <a:rPr sz="1125" b="1">
                          <a:solidFill>
                            <a:srgbClr val="131A24"/>
                          </a:solidFill>
                          <a:latin typeface="Arial"/>
                          <a:ea typeface="Arial"/>
                          <a:cs typeface="Arial"/>
                        </a:rPr>
                        <a:t>Weight</a:t>
                      </a:r>
                    </a:p>
                  </a:txBody>
                  <a:tcPr marL="91440" marR="91440" marT="45720" marB="45720">
                    <a:solidFill>
                      <a:srgbClr val="F5F7F8"/>
                    </a:solidFill>
                  </a:tcPr>
                </a:tc>
                <a:tc>
                  <a:txBody>
                    <a:bodyPr>
                      <a:noAutofit/>
                    </a:bodyPr>
                    <a:lstStyle/>
                    <a:p>
                      <a:r>
                        <a:rPr sz="1125" b="1">
                          <a:solidFill>
                            <a:srgbClr val="131A24"/>
                          </a:solidFill>
                          <a:latin typeface="Arial"/>
                          <a:ea typeface="Arial"/>
                          <a:cs typeface="Arial"/>
                        </a:rPr>
                        <a:t>Basis of measurement</a:t>
                      </a:r>
                    </a:p>
                  </a:txBody>
                  <a:tcPr marL="91440" marR="91440" marT="45720" marB="45720">
                    <a:solidFill>
                      <a:srgbClr val="F5F7F8"/>
                    </a:solidFill>
                  </a:tcPr>
                </a:tc>
              </a:tr>
              <a:tr h="408214">
                <a:tc>
                  <a:txBody>
                    <a:bodyPr>
                      <a:noAutofit/>
                    </a:bodyPr>
                    <a:lstStyle/>
                    <a:p>
                      <a:r>
                        <a:rPr sz="1125">
                          <a:solidFill>
                            <a:srgbClr val="131A24"/>
                          </a:solidFill>
                          <a:latin typeface="Arial"/>
                          <a:ea typeface="Arial"/>
                          <a:cs typeface="Arial"/>
                        </a:rPr>
                        <a:t>Expiry urgency</a:t>
                      </a:r>
                    </a:p>
                  </a:txBody>
                  <a:tcPr marL="91440" marR="91440" marT="45720" marB="45720"/>
                </a:tc>
                <a:tc>
                  <a:txBody>
                    <a:bodyPr>
                      <a:noAutofit/>
                    </a:bodyPr>
                    <a:lstStyle/>
                    <a:p>
                      <a:r>
                        <a:rPr sz="1125">
                          <a:solidFill>
                            <a:srgbClr val="131A24"/>
                          </a:solidFill>
                          <a:latin typeface="Arial"/>
                          <a:ea typeface="Arial"/>
                          <a:cs typeface="Arial"/>
                        </a:rPr>
                        <a:t>25%</a:t>
                      </a:r>
                    </a:p>
                  </a:txBody>
                  <a:tcPr marL="91440" marR="91440" marT="45720" marB="45720"/>
                </a:tc>
                <a:tc>
                  <a:txBody>
                    <a:bodyPr>
                      <a:noAutofit/>
                    </a:bodyPr>
                    <a:lstStyle/>
                    <a:p>
                      <a:r>
                        <a:rPr sz="1125">
                          <a:solidFill>
                            <a:srgbClr val="131A24"/>
                          </a:solidFill>
                          <a:latin typeface="Arial"/>
                          <a:ea typeface="Arial"/>
                          <a:cs typeface="Arial"/>
                        </a:rPr>
                        <a:t>Time remaining before the food becomes unsafe, weighted by the recipient's collection speed</a:t>
                      </a:r>
                    </a:p>
                  </a:txBody>
                  <a:tcPr marL="91440" marR="91440" marT="45720" marB="45720"/>
                </a:tc>
              </a:tr>
              <a:tr h="408214">
                <a:tc>
                  <a:txBody>
                    <a:bodyPr>
                      <a:noAutofit/>
                    </a:bodyPr>
                    <a:lstStyle/>
                    <a:p>
                      <a:r>
                        <a:rPr sz="1125">
                          <a:solidFill>
                            <a:srgbClr val="131A24"/>
                          </a:solidFill>
                          <a:latin typeface="Arial"/>
                          <a:ea typeface="Arial"/>
                          <a:cs typeface="Arial"/>
                        </a:rPr>
                        <a:t>Demand match</a:t>
                      </a:r>
                    </a:p>
                  </a:txBody>
                  <a:tcPr marL="91440" marR="91440" marT="45720" marB="45720"/>
                </a:tc>
                <a:tc>
                  <a:txBody>
                    <a:bodyPr>
                      <a:noAutofit/>
                    </a:bodyPr>
                    <a:lstStyle/>
                    <a:p>
                      <a:r>
                        <a:rPr sz="1125">
                          <a:solidFill>
                            <a:srgbClr val="131A24"/>
                          </a:solidFill>
                          <a:latin typeface="Arial"/>
                          <a:ea typeface="Arial"/>
                          <a:cs typeface="Arial"/>
                        </a:rPr>
                        <a:t>20%</a:t>
                      </a:r>
                    </a:p>
                  </a:txBody>
                  <a:tcPr marL="91440" marR="91440" marT="45720" marB="45720"/>
                </a:tc>
                <a:tc>
                  <a:txBody>
                    <a:bodyPr>
                      <a:noAutofit/>
                    </a:bodyPr>
                    <a:lstStyle/>
                    <a:p>
                      <a:r>
                        <a:rPr sz="1125">
                          <a:solidFill>
                            <a:srgbClr val="131A24"/>
                          </a:solidFill>
                          <a:latin typeface="Arial"/>
                          <a:ea typeface="Arial"/>
                          <a:cs typeface="Arial"/>
                        </a:rPr>
                        <a:t>Correspondence between the donation quantity and the registered demand</a:t>
                      </a:r>
                    </a:p>
                  </a:txBody>
                  <a:tcPr marL="91440" marR="91440" marT="45720" marB="45720"/>
                </a:tc>
              </a:tr>
              <a:tr h="408214">
                <a:tc>
                  <a:txBody>
                    <a:bodyPr>
                      <a:noAutofit/>
                    </a:bodyPr>
                    <a:lstStyle/>
                    <a:p>
                      <a:r>
                        <a:rPr sz="1125">
                          <a:solidFill>
                            <a:srgbClr val="131A24"/>
                          </a:solidFill>
                          <a:latin typeface="Arial"/>
                          <a:ea typeface="Arial"/>
                          <a:cs typeface="Arial"/>
                        </a:rPr>
                        <a:t>Storage fit</a:t>
                      </a:r>
                    </a:p>
                  </a:txBody>
                  <a:tcPr marL="91440" marR="91440" marT="45720" marB="45720"/>
                </a:tc>
                <a:tc>
                  <a:txBody>
                    <a:bodyPr>
                      <a:noAutofit/>
                    </a:bodyPr>
                    <a:lstStyle/>
                    <a:p>
                      <a:r>
                        <a:rPr sz="1125">
                          <a:solidFill>
                            <a:srgbClr val="131A24"/>
                          </a:solidFill>
                          <a:latin typeface="Arial"/>
                          <a:ea typeface="Arial"/>
                          <a:cs typeface="Arial"/>
                        </a:rPr>
                        <a:t>15%</a:t>
                      </a:r>
                    </a:p>
                  </a:txBody>
                  <a:tcPr marL="91440" marR="91440" marT="45720" marB="45720"/>
                </a:tc>
                <a:tc>
                  <a:txBody>
                    <a:bodyPr>
                      <a:noAutofit/>
                    </a:bodyPr>
                    <a:lstStyle/>
                    <a:p>
                      <a:r>
                        <a:rPr sz="1125">
                          <a:solidFill>
                            <a:srgbClr val="131A24"/>
                          </a:solidFill>
                          <a:latin typeface="Arial"/>
                          <a:ea typeface="Arial"/>
                          <a:cs typeface="Arial"/>
                        </a:rPr>
                        <a:t>Remaining storage capacity after intake</a:t>
                      </a:r>
                    </a:p>
                  </a:txBody>
                  <a:tcPr marL="91440" marR="91440" marT="45720" marB="45720"/>
                </a:tc>
              </a:tr>
              <a:tr h="408214">
                <a:tc>
                  <a:txBody>
                    <a:bodyPr>
                      <a:noAutofit/>
                    </a:bodyPr>
                    <a:lstStyle/>
                    <a:p>
                      <a:r>
                        <a:rPr sz="1125">
                          <a:solidFill>
                            <a:srgbClr val="131A24"/>
                          </a:solidFill>
                          <a:latin typeface="Arial"/>
                          <a:ea typeface="Arial"/>
                          <a:cs typeface="Arial"/>
                        </a:rPr>
                        <a:t>Proximity</a:t>
                      </a:r>
                    </a:p>
                  </a:txBody>
                  <a:tcPr marL="91440" marR="91440" marT="45720" marB="45720"/>
                </a:tc>
                <a:tc>
                  <a:txBody>
                    <a:bodyPr>
                      <a:noAutofit/>
                    </a:bodyPr>
                    <a:lstStyle/>
                    <a:p>
                      <a:r>
                        <a:rPr sz="1125">
                          <a:solidFill>
                            <a:srgbClr val="131A24"/>
                          </a:solidFill>
                          <a:latin typeface="Arial"/>
                          <a:ea typeface="Arial"/>
                          <a:cs typeface="Arial"/>
                        </a:rPr>
                        <a:t>15%</a:t>
                      </a:r>
                    </a:p>
                  </a:txBody>
                  <a:tcPr marL="91440" marR="91440" marT="45720" marB="45720"/>
                </a:tc>
                <a:tc>
                  <a:txBody>
                    <a:bodyPr>
                      <a:noAutofit/>
                    </a:bodyPr>
                    <a:lstStyle/>
                    <a:p>
                      <a:r>
                        <a:rPr sz="1125">
                          <a:solidFill>
                            <a:srgbClr val="131A24"/>
                          </a:solidFill>
                          <a:latin typeface="Arial"/>
                          <a:ea typeface="Arial"/>
                          <a:cs typeface="Arial"/>
                        </a:rPr>
                        <a:t>Distance from the pickup point</a:t>
                      </a:r>
                    </a:p>
                  </a:txBody>
                  <a:tcPr marL="91440" marR="91440" marT="45720" marB="45720"/>
                </a:tc>
              </a:tr>
              <a:tr h="408214">
                <a:tc>
                  <a:txBody>
                    <a:bodyPr>
                      <a:noAutofit/>
                    </a:bodyPr>
                    <a:lstStyle/>
                    <a:p>
                      <a:r>
                        <a:rPr sz="1125">
                          <a:solidFill>
                            <a:srgbClr val="131A24"/>
                          </a:solidFill>
                          <a:latin typeface="Arial"/>
                          <a:ea typeface="Arial"/>
                          <a:cs typeface="Arial"/>
                        </a:rPr>
                        <a:t>Food preference</a:t>
                      </a:r>
                    </a:p>
                  </a:txBody>
                  <a:tcPr marL="91440" marR="91440" marT="45720" marB="45720"/>
                </a:tc>
                <a:tc>
                  <a:txBody>
                    <a:bodyPr>
                      <a:noAutofit/>
                    </a:bodyPr>
                    <a:lstStyle/>
                    <a:p>
                      <a:r>
                        <a:rPr sz="1125">
                          <a:solidFill>
                            <a:srgbClr val="131A24"/>
                          </a:solidFill>
                          <a:latin typeface="Arial"/>
                          <a:ea typeface="Arial"/>
                          <a:cs typeface="Arial"/>
                        </a:rPr>
                        <a:t>15%</a:t>
                      </a:r>
                    </a:p>
                  </a:txBody>
                  <a:tcPr marL="91440" marR="91440" marT="45720" marB="45720"/>
                </a:tc>
                <a:tc>
                  <a:txBody>
                    <a:bodyPr>
                      <a:noAutofit/>
                    </a:bodyPr>
                    <a:lstStyle/>
                    <a:p>
                      <a:r>
                        <a:rPr sz="1125">
                          <a:solidFill>
                            <a:srgbClr val="131A24"/>
                          </a:solidFill>
                          <a:latin typeface="Arial"/>
                          <a:ea typeface="Arial"/>
                          <a:cs typeface="Arial"/>
                        </a:rPr>
                        <a:t>Whether the organization accepts the food category</a:t>
                      </a:r>
                    </a:p>
                  </a:txBody>
                  <a:tcPr marL="91440" marR="91440" marT="45720" marB="45720"/>
                </a:tc>
              </a:tr>
              <a:tr h="408214">
                <a:tc>
                  <a:txBody>
                    <a:bodyPr>
                      <a:noAutofit/>
                    </a:bodyPr>
                    <a:lstStyle/>
                    <a:p>
                      <a:r>
                        <a:rPr sz="1125">
                          <a:solidFill>
                            <a:srgbClr val="131A24"/>
                          </a:solidFill>
                          <a:latin typeface="Arial"/>
                          <a:ea typeface="Arial"/>
                          <a:cs typeface="Arial"/>
                        </a:rPr>
                        <a:t>Fair distribution</a:t>
                      </a:r>
                    </a:p>
                  </a:txBody>
                  <a:tcPr marL="91440" marR="91440" marT="45720" marB="45720"/>
                </a:tc>
                <a:tc>
                  <a:txBody>
                    <a:bodyPr>
                      <a:noAutofit/>
                    </a:bodyPr>
                    <a:lstStyle/>
                    <a:p>
                      <a:r>
                        <a:rPr sz="1125">
                          <a:solidFill>
                            <a:srgbClr val="131A24"/>
                          </a:solidFill>
                          <a:latin typeface="Arial"/>
                          <a:ea typeface="Arial"/>
                          <a:cs typeface="Arial"/>
                        </a:rPr>
                        <a:t>10%</a:t>
                      </a:r>
                    </a:p>
                  </a:txBody>
                  <a:tcPr marL="91440" marR="91440" marT="45720" marB="45720"/>
                </a:tc>
                <a:tc>
                  <a:txBody>
                    <a:bodyPr>
                      <a:noAutofit/>
                    </a:bodyPr>
                    <a:lstStyle/>
                    <a:p>
                      <a:r>
                        <a:rPr sz="1125">
                          <a:solidFill>
                            <a:srgbClr val="131A24"/>
                          </a:solidFill>
                          <a:latin typeface="Arial"/>
                          <a:ea typeface="Arial"/>
                          <a:cs typeface="Arial"/>
                        </a:rPr>
                        <a:t>Quantity received by the organization during the previous 30 days</a:t>
                      </a:r>
                    </a:p>
                  </a:txBody>
                  <a:tcPr marL="91440" marR="91440" marT="45720" marB="45720"/>
                </a:tc>
              </a:tr>
            </a:tbl>
          </a:graphicData>
        </a:graphic>
      </p:graphicFrame>
    </p:spTree>
    <p:extLst>
      <p:ext uri="{BB962C8B-B14F-4D97-AF65-F5344CB8AC3E}">
        <p14:creationId xmlns:p14="http://schemas.microsoft.com/office/powerpoint/2010/main" val="20396359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78F944-5127-440E-813F-FBF4A5A075C2}"/>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6 / 11</a:t>
            </a:r>
          </a:p>
        </p:txBody>
      </p:sp>
      <p:sp>
        <p:nvSpPr>
          <p:cNvPr id="2" name="slide-title">
            <a:extLst xmlns:a="http://schemas.openxmlformats.org/drawingml/2006/main">
              <a:ext uri="{FF2B5EF4-FFF2-40B4-BE49-F238E27FC236}">
                <a16:creationId xmlns:a16="http://schemas.microsoft.com/office/drawing/2014/main" id="{FEB2D41C-0C59-4E11-8D9E-A80566441E09}"/>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Original contribution: the food-safety arrival rule</a:t>
            </a:r>
          </a:p>
        </p:txBody>
      </p:sp>
      <p:sp>
        <p:nvSpPr>
          <p:cNvPr id="3" name="slide-lead">
            <a:extLst xmlns:a="http://schemas.openxmlformats.org/drawingml/2006/main">
              <a:ext uri="{FF2B5EF4-FFF2-40B4-BE49-F238E27FC236}">
                <a16:creationId xmlns:a16="http://schemas.microsoft.com/office/drawing/2014/main" id="{D5B61D08-AC85-4D02-97BE-ECB049395D44}"/>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A constraint introduced in this project. Food must be able to arrive while it remains safe to serve.</a:t>
            </a:r>
          </a:p>
        </p:txBody>
      </p:sp>
      <p:sp>
        <p:nvSpPr>
          <p:cNvPr id="4" name="title-rule">
            <a:extLst xmlns:a="http://schemas.openxmlformats.org/drawingml/2006/main">
              <a:ext uri="{FF2B5EF4-FFF2-40B4-BE49-F238E27FC236}">
                <a16:creationId xmlns:a16="http://schemas.microsoft.com/office/drawing/2014/main" id="{59CB0F58-588D-41EC-8981-2680D5DD7CF9}"/>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992809-302F-4E08-AE73-568605498317}"/>
              </a:ext>
            </a:extLst>
          </p:cNvPr>
          <p:cNvSpPr>
            <a:spLocks xmlns:a="http://schemas.openxmlformats.org/drawingml/2006/main" noGrp="1"/>
          </p:cNvSpPr>
          <p:nvPr/>
        </p:nvSpPr>
        <p:spPr>
          <a:xfrm xmlns:a="http://schemas.openxmlformats.org/drawingml/2006/main">
            <a:off x="685800" y="1981200"/>
            <a:ext cx="5619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vl1pPr>
              <a:defRPr sz="1275">
                <a:solidFill>
                  <a:srgbClr val="131A24"/>
                </a:solidFill>
                <a:latin typeface="Arial"/>
                <a:ea typeface="Arial"/>
                <a:cs typeface="Arial"/>
              </a:defRPr>
            </a:lvl1pPr>
            <a:lvl2pPr>
              <a:defRPr sz="1275">
                <a:solidFill>
                  <a:srgbClr val="131A24"/>
                </a:solidFill>
                <a:latin typeface="Arial"/>
                <a:ea typeface="Arial"/>
                <a:cs typeface="Arial"/>
              </a:defRPr>
            </a:lvl2pPr>
            <a:lvl3pPr>
              <a:defRPr sz="1275">
                <a:solidFill>
                  <a:srgbClr val="131A24"/>
                </a:solidFill>
                <a:latin typeface="Arial"/>
                <a:ea typeface="Arial"/>
                <a:cs typeface="Arial"/>
              </a:defRPr>
            </a:lvl3pPr>
            <a:lvl4pPr>
              <a:defRPr sz="1275">
                <a:solidFill>
                  <a:srgbClr val="131A24"/>
                </a:solidFill>
                <a:latin typeface="Arial"/>
                <a:ea typeface="Arial"/>
                <a:cs typeface="Arial"/>
              </a:defRPr>
            </a:lvl4pPr>
            <a:lvl5pPr>
              <a:defRPr sz="1275">
                <a:solidFill>
                  <a:srgbClr val="131A24"/>
                </a:solidFill>
                <a:latin typeface="Arial"/>
                <a:ea typeface="Arial"/>
                <a:cs typeface="Arial"/>
              </a:defRPr>
            </a:lvl5pPr>
            <a:lvl6pPr>
              <a:defRPr sz="1275">
                <a:solidFill>
                  <a:srgbClr val="131A24"/>
                </a:solidFill>
                <a:latin typeface="Arial"/>
                <a:ea typeface="Arial"/>
                <a:cs typeface="Arial"/>
              </a:defRPr>
            </a:lvl6pPr>
            <a:lvl7pPr>
              <a:defRPr sz="1275">
                <a:solidFill>
                  <a:srgbClr val="131A24"/>
                </a:solidFill>
                <a:latin typeface="Arial"/>
                <a:ea typeface="Arial"/>
                <a:cs typeface="Arial"/>
              </a:defRPr>
            </a:lvl7pPr>
            <a:lvl8pPr>
              <a:defRPr sz="1275">
                <a:solidFill>
                  <a:srgbClr val="131A24"/>
                </a:solidFill>
                <a:latin typeface="Arial"/>
                <a:ea typeface="Arial"/>
                <a:cs typeface="Arial"/>
              </a:defRPr>
            </a:lvl8pPr>
            <a:lvl9pPr>
              <a:defRPr sz="1275">
                <a:solidFill>
                  <a:srgbClr val="131A24"/>
                </a:solidFill>
                <a:latin typeface="Arial"/>
                <a:ea typeface="Arial"/>
                <a:cs typeface="Arial"/>
              </a:defRPr>
            </a:lvl9pPr>
          </a:lstStyle>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The engine estimates the pickup to handover duration for each candidate organization from the travel distance and a handling allowance.</a:t>
            </a:r>
          </a:p>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The estimate is compared with the remaining safe window, retaining sixty minutes for serving.</a:t>
            </a:r>
          </a:p>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Organizations that cannot arrive in time are excluded, and the reason is stored on the allocation.</a:t>
            </a:r>
          </a:p>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Distance was initially treated as a scoring factor. Because late arrival is a safety failure rather than a lower priority, it was implemented as a hard constraint.</a:t>
            </a:r>
          </a:p>
        </p:txBody>
      </p:sp>
      <p:graphicFrame>
        <p:nvGraphicFramePr>
          <p:cNvPr id="6" name="">
            <a:extLst xmlns:a="http://schemas.openxmlformats.org/drawingml/2006/main">
              <a:ext uri="{FF2B5EF4-FFF2-40B4-BE49-F238E27FC236}">
                <a16:creationId xmlns:a16="http://schemas.microsoft.com/office/drawing/2014/main" id="{BB2AF064-EF93-494F-838A-13BCA3C820D4}"/>
              </a:ext>
            </a:extLst>
          </p:cNvPr>
          <p:cNvGraphicFramePr/>
          <p:nvPr/>
        </p:nvGraphicFramePr>
        <p:xfrm>
          <a:off xmlns:a="http://schemas.openxmlformats.org/drawingml/2006/main" x="6762750" y="1981200"/>
          <a:ext xmlns:a="http://schemas.openxmlformats.org/drawingml/2006/main" cx="4743450" cy="2552700"/>
        </p:xfrm>
        <a:graphic xmlns:a="http://schemas.openxmlformats.org/drawingml/2006/main">
          <a:graphicData uri="http://schemas.openxmlformats.org/drawingml/2006/table">
            <a:tbl>
              <a:tblPr/>
              <a:tblGrid>
                <a:gridCol w="1779411"/>
                <a:gridCol w="1047750"/>
                <a:gridCol w="1916289"/>
              </a:tblGrid>
              <a:tr h="638175">
                <a:tc>
                  <a:txBody>
                    <a:bodyPr>
                      <a:noAutofit/>
                    </a:bodyPr>
                    <a:lstStyle/>
                    <a:p>
                      <a:r>
                        <a:rPr sz="1050" b="1">
                          <a:solidFill>
                            <a:srgbClr val="131A24"/>
                          </a:solidFill>
                          <a:latin typeface="Arial"/>
                          <a:ea typeface="Arial"/>
                          <a:cs typeface="Arial"/>
                        </a:rPr>
                        <a:t>Organization</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Distance</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Outcome</a:t>
                      </a:r>
                    </a:p>
                  </a:txBody>
                  <a:tcPr marL="91440" marR="91440" marT="45720" marB="45720">
                    <a:solidFill>
                      <a:srgbClr val="F5F7F8"/>
                    </a:solidFill>
                  </a:tcPr>
                </a:tc>
              </a:tr>
              <a:tr h="638175">
                <a:tc>
                  <a:txBody>
                    <a:bodyPr>
                      <a:noAutofit/>
                    </a:bodyPr>
                    <a:lstStyle/>
                    <a:p>
                      <a:r>
                        <a:rPr sz="1050">
                          <a:solidFill>
                            <a:srgbClr val="131A24"/>
                          </a:solidFill>
                          <a:latin typeface="Arial"/>
                          <a:ea typeface="Arial"/>
                          <a:cs typeface="Arial"/>
                        </a:rPr>
                        <a:t>Sneha Sadan Orphanage</a:t>
                      </a:r>
                    </a:p>
                  </a:txBody>
                  <a:tcPr marL="91440" marR="91440" marT="45720" marB="45720"/>
                </a:tc>
                <a:tc>
                  <a:txBody>
                    <a:bodyPr>
                      <a:noAutofit/>
                    </a:bodyPr>
                    <a:lstStyle/>
                    <a:p>
                      <a:r>
                        <a:rPr sz="1050">
                          <a:solidFill>
                            <a:srgbClr val="131A24"/>
                          </a:solidFill>
                          <a:latin typeface="Arial"/>
                          <a:ea typeface="Arial"/>
                          <a:cs typeface="Arial"/>
                        </a:rPr>
                        <a:t>11.6 km</a:t>
                      </a:r>
                    </a:p>
                  </a:txBody>
                  <a:tcPr marL="91440" marR="91440" marT="45720" marB="45720"/>
                </a:tc>
                <a:tc>
                  <a:txBody>
                    <a:bodyPr>
                      <a:noAutofit/>
                    </a:bodyPr>
                    <a:lstStyle/>
                    <a:p>
                      <a:r>
                        <a:rPr sz="1050">
                          <a:solidFill>
                            <a:srgbClr val="131A24"/>
                          </a:solidFill>
                          <a:latin typeface="Arial"/>
                          <a:ea typeface="Arial"/>
                          <a:cs typeface="Arial"/>
                        </a:rPr>
                        <a:t>Eligible, 15 minutes to spare</a:t>
                      </a:r>
                    </a:p>
                  </a:txBody>
                  <a:tcPr marL="91440" marR="91440" marT="45720" marB="45720"/>
                </a:tc>
              </a:tr>
              <a:tr h="638175">
                <a:tc>
                  <a:txBody>
                    <a:bodyPr>
                      <a:noAutofit/>
                    </a:bodyPr>
                    <a:lstStyle/>
                    <a:p>
                      <a:r>
                        <a:rPr sz="1050">
                          <a:solidFill>
                            <a:srgbClr val="131A24"/>
                          </a:solidFill>
                          <a:latin typeface="Arial"/>
                          <a:ea typeface="Arial"/>
                          <a:cs typeface="Arial"/>
                        </a:rPr>
                        <a:t>Sanjeevini Community Kitchen</a:t>
                      </a:r>
                    </a:p>
                  </a:txBody>
                  <a:tcPr marL="91440" marR="91440" marT="45720" marB="45720"/>
                </a:tc>
                <a:tc>
                  <a:txBody>
                    <a:bodyPr>
                      <a:noAutofit/>
                    </a:bodyPr>
                    <a:lstStyle/>
                    <a:p>
                      <a:r>
                        <a:rPr sz="1050">
                          <a:solidFill>
                            <a:srgbClr val="131A24"/>
                          </a:solidFill>
                          <a:latin typeface="Arial"/>
                          <a:ea typeface="Arial"/>
                          <a:cs typeface="Arial"/>
                        </a:rPr>
                        <a:t>11.8 km</a:t>
                      </a:r>
                    </a:p>
                  </a:txBody>
                  <a:tcPr marL="91440" marR="91440" marT="45720" marB="45720"/>
                </a:tc>
                <a:tc>
                  <a:txBody>
                    <a:bodyPr>
                      <a:noAutofit/>
                    </a:bodyPr>
                    <a:lstStyle/>
                    <a:p>
                      <a:r>
                        <a:rPr sz="1050">
                          <a:solidFill>
                            <a:srgbClr val="131A24"/>
                          </a:solidFill>
                          <a:latin typeface="Arial"/>
                          <a:ea typeface="Arial"/>
                          <a:cs typeface="Arial"/>
                        </a:rPr>
                        <a:t>Eligible, 15 minutes to spare</a:t>
                      </a:r>
                    </a:p>
                  </a:txBody>
                  <a:tcPr marL="91440" marR="91440" marT="45720" marB="45720"/>
                </a:tc>
              </a:tr>
              <a:tr h="638175">
                <a:tc>
                  <a:txBody>
                    <a:bodyPr>
                      <a:noAutofit/>
                    </a:bodyPr>
                    <a:lstStyle/>
                    <a:p>
                      <a:r>
                        <a:rPr sz="1050">
                          <a:solidFill>
                            <a:srgbClr val="131A24"/>
                          </a:solidFill>
                          <a:latin typeface="Arial"/>
                          <a:ea typeface="Arial"/>
                          <a:cs typeface="Arial"/>
                        </a:rPr>
                        <a:t>Three organizations</a:t>
                      </a:r>
                    </a:p>
                  </a:txBody>
                  <a:tcPr marL="91440" marR="91440" marT="45720" marB="45720"/>
                </a:tc>
                <a:tc>
                  <a:txBody>
                    <a:bodyPr>
                      <a:noAutofit/>
                    </a:bodyPr>
                    <a:lstStyle/>
                    <a:p>
                      <a:r>
                        <a:rPr sz="1050">
                          <a:solidFill>
                            <a:srgbClr val="131A24"/>
                          </a:solidFill>
                          <a:latin typeface="Arial"/>
                          <a:ea typeface="Arial"/>
                          <a:cs typeface="Arial"/>
                        </a:rPr>
                        <a:t>18 to 25 km</a:t>
                      </a:r>
                    </a:p>
                  </a:txBody>
                  <a:tcPr marL="91440" marR="91440" marT="45720" marB="45720"/>
                </a:tc>
                <a:tc>
                  <a:txBody>
                    <a:bodyPr>
                      <a:noAutofit/>
                    </a:bodyPr>
                    <a:lstStyle/>
                    <a:p>
                      <a:r>
                        <a:rPr sz="1050">
                          <a:solidFill>
                            <a:srgbClr val="131A24"/>
                          </a:solidFill>
                          <a:latin typeface="Arial"/>
                          <a:ea typeface="Arial"/>
                          <a:cs typeface="Arial"/>
                        </a:rPr>
                        <a:t>Excluded, 65 to 85 minutes required against 60 available</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0B76DAD9-1399-4217-B260-3720F3F89F2B}"/>
              </a:ext>
            </a:extLst>
          </p:cNvPr>
          <p:cNvSpPr>
            <a:spLocks xmlns:a="http://schemas.openxmlformats.org/drawingml/2006/main" noGrp="1"/>
          </p:cNvSpPr>
          <p:nvPr/>
        </p:nvSpPr>
        <p:spPr>
          <a:xfrm xmlns:a="http://schemas.openxmlformats.org/drawingml/2006/main">
            <a:off x="6762750" y="4686300"/>
            <a:ext cx="4743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0E7C57"/>
                </a:solidFill>
                <a:latin typeface="Arial"/>
                <a:ea typeface="Arial"/>
                <a:cs typeface="Arial"/>
              </a:defRPr>
            </a:defPPr>
            <a:lvl1pPr>
              <a:defRPr sz="1125" b="1">
                <a:solidFill>
                  <a:srgbClr val="0E7C57"/>
                </a:solidFill>
                <a:latin typeface="Arial"/>
                <a:ea typeface="Arial"/>
                <a:cs typeface="Arial"/>
              </a:defRPr>
            </a:lvl1pPr>
            <a:lvl2pPr>
              <a:defRPr sz="1125" b="1">
                <a:solidFill>
                  <a:srgbClr val="0E7C57"/>
                </a:solidFill>
                <a:latin typeface="Arial"/>
                <a:ea typeface="Arial"/>
                <a:cs typeface="Arial"/>
              </a:defRPr>
            </a:lvl2pPr>
            <a:lvl3pPr>
              <a:defRPr sz="1125" b="1">
                <a:solidFill>
                  <a:srgbClr val="0E7C57"/>
                </a:solidFill>
                <a:latin typeface="Arial"/>
                <a:ea typeface="Arial"/>
                <a:cs typeface="Arial"/>
              </a:defRPr>
            </a:lvl3pPr>
            <a:lvl4pPr>
              <a:defRPr sz="1125" b="1">
                <a:solidFill>
                  <a:srgbClr val="0E7C57"/>
                </a:solidFill>
                <a:latin typeface="Arial"/>
                <a:ea typeface="Arial"/>
                <a:cs typeface="Arial"/>
              </a:defRPr>
            </a:lvl4pPr>
            <a:lvl5pPr>
              <a:defRPr sz="1125" b="1">
                <a:solidFill>
                  <a:srgbClr val="0E7C57"/>
                </a:solidFill>
                <a:latin typeface="Arial"/>
                <a:ea typeface="Arial"/>
                <a:cs typeface="Arial"/>
              </a:defRPr>
            </a:lvl5pPr>
            <a:lvl6pPr>
              <a:defRPr sz="1125" b="1">
                <a:solidFill>
                  <a:srgbClr val="0E7C57"/>
                </a:solidFill>
                <a:latin typeface="Arial"/>
                <a:ea typeface="Arial"/>
                <a:cs typeface="Arial"/>
              </a:defRPr>
            </a:lvl6pPr>
            <a:lvl7pPr>
              <a:defRPr sz="1125" b="1">
                <a:solidFill>
                  <a:srgbClr val="0E7C57"/>
                </a:solidFill>
                <a:latin typeface="Arial"/>
                <a:ea typeface="Arial"/>
                <a:cs typeface="Arial"/>
              </a:defRPr>
            </a:lvl7pPr>
            <a:lvl8pPr>
              <a:defRPr sz="1125" b="1">
                <a:solidFill>
                  <a:srgbClr val="0E7C57"/>
                </a:solidFill>
                <a:latin typeface="Arial"/>
                <a:ea typeface="Arial"/>
                <a:cs typeface="Arial"/>
              </a:defRPr>
            </a:lvl8pPr>
            <a:lvl9pPr>
              <a:defRPr sz="1125" b="1">
                <a:solidFill>
                  <a:srgbClr val="0E7C57"/>
                </a:solidFill>
                <a:latin typeface="Arial"/>
                <a:ea typeface="Arial"/>
                <a:cs typeface="Arial"/>
              </a:defRPr>
            </a:lvl9pPr>
          </a:lstStyle>
          <a:p xmlns:a="http://schemas.openxmlformats.org/drawingml/2006/main">
            <a:pPr>
              <a:defRPr sz="1125" b="1">
                <a:solidFill>
                  <a:srgbClr val="0E7C57"/>
                </a:solidFill>
                <a:latin typeface="Arial"/>
                <a:ea typeface="Arial"/>
                <a:cs typeface="Arial"/>
              </a:defRPr>
            </a:pPr>
            <a:r>
              <a:rPr sz="1125" b="1">
                <a:solidFill>
                  <a:srgbClr val="0E7C57"/>
                </a:solidFill>
                <a:latin typeface="Arial"/>
                <a:ea typeface="Arial"/>
                <a:cs typeface="Arial"/>
              </a:rPr>
              <a:t>Assumptions: 20 km/h urban travel, 10 minutes handling, 60 minutes serving buffer.</a:t>
            </a:r>
          </a:p>
        </p:txBody>
      </p:sp>
    </p:spTree>
    <p:extLst>
      <p:ext uri="{BB962C8B-B14F-4D97-AF65-F5344CB8AC3E}">
        <p14:creationId xmlns:p14="http://schemas.microsoft.com/office/powerpoint/2010/main" val="8658393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D78516-5E5A-4B30-A918-3EE69AF75B40}"/>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7 / 11</a:t>
            </a:r>
          </a:p>
        </p:txBody>
      </p:sp>
      <p:sp>
        <p:nvSpPr>
          <p:cNvPr id="2" name="slide-title">
            <a:extLst xmlns:a="http://schemas.openxmlformats.org/drawingml/2006/main">
              <a:ext uri="{FF2B5EF4-FFF2-40B4-BE49-F238E27FC236}">
                <a16:creationId xmlns:a16="http://schemas.microsoft.com/office/drawing/2014/main" id="{0FCE502B-4A08-412B-82CD-63A363C6AA83}"/>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System architecture</a:t>
            </a:r>
          </a:p>
        </p:txBody>
      </p:sp>
      <p:sp>
        <p:nvSpPr>
          <p:cNvPr id="3" name="slide-lead">
            <a:extLst xmlns:a="http://schemas.openxmlformats.org/drawingml/2006/main">
              <a:ext uri="{FF2B5EF4-FFF2-40B4-BE49-F238E27FC236}">
                <a16:creationId xmlns:a16="http://schemas.microsoft.com/office/drawing/2014/main" id="{15E151D4-4D34-48FA-AED7-4A99F110B5DC}"/>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The layered architecture submitted in the design phase, implemented as specified.</a:t>
            </a:r>
          </a:p>
        </p:txBody>
      </p:sp>
      <p:sp>
        <p:nvSpPr>
          <p:cNvPr id="4" name="title-rule">
            <a:extLst xmlns:a="http://schemas.openxmlformats.org/drawingml/2006/main">
              <a:ext uri="{FF2B5EF4-FFF2-40B4-BE49-F238E27FC236}">
                <a16:creationId xmlns:a16="http://schemas.microsoft.com/office/drawing/2014/main" id="{988A5CE0-52AB-4153-BE3B-83EA2B43F747}"/>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F35F1F-6ADE-4B2A-87B0-97474BF9F068}"/>
              </a:ext>
            </a:extLst>
          </p:cNvPr>
          <p:cNvSpPr>
            <a:spLocks xmlns:a="http://schemas.openxmlformats.org/drawingml/2006/main" noGrp="1"/>
          </p:cNvSpPr>
          <p:nvPr/>
        </p:nvSpPr>
        <p:spPr>
          <a:xfrm xmlns:a="http://schemas.openxmlformats.org/drawingml/2006/main">
            <a:off x="685800" y="1981200"/>
            <a:ext cx="4476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a:solidFill>
                  <a:srgbClr val="131A24"/>
                </a:solidFill>
                <a:latin typeface="Arial"/>
                <a:ea typeface="Arial"/>
                <a:cs typeface="Arial"/>
              </a:defRPr>
            </a:defPPr>
            <a:lvl1pPr>
              <a:defRPr sz="1200">
                <a:solidFill>
                  <a:srgbClr val="131A24"/>
                </a:solidFill>
                <a:latin typeface="Arial"/>
                <a:ea typeface="Arial"/>
                <a:cs typeface="Arial"/>
              </a:defRPr>
            </a:lvl1pPr>
            <a:lvl2pPr>
              <a:defRPr sz="1200">
                <a:solidFill>
                  <a:srgbClr val="131A24"/>
                </a:solidFill>
                <a:latin typeface="Arial"/>
                <a:ea typeface="Arial"/>
                <a:cs typeface="Arial"/>
              </a:defRPr>
            </a:lvl2pPr>
            <a:lvl3pPr>
              <a:defRPr sz="1200">
                <a:solidFill>
                  <a:srgbClr val="131A24"/>
                </a:solidFill>
                <a:latin typeface="Arial"/>
                <a:ea typeface="Arial"/>
                <a:cs typeface="Arial"/>
              </a:defRPr>
            </a:lvl3pPr>
            <a:lvl4pPr>
              <a:defRPr sz="1200">
                <a:solidFill>
                  <a:srgbClr val="131A24"/>
                </a:solidFill>
                <a:latin typeface="Arial"/>
                <a:ea typeface="Arial"/>
                <a:cs typeface="Arial"/>
              </a:defRPr>
            </a:lvl4pPr>
            <a:lvl5pPr>
              <a:defRPr sz="1200">
                <a:solidFill>
                  <a:srgbClr val="131A24"/>
                </a:solidFill>
                <a:latin typeface="Arial"/>
                <a:ea typeface="Arial"/>
                <a:cs typeface="Arial"/>
              </a:defRPr>
            </a:lvl5pPr>
            <a:lvl6pPr>
              <a:defRPr sz="1200">
                <a:solidFill>
                  <a:srgbClr val="131A24"/>
                </a:solidFill>
                <a:latin typeface="Arial"/>
                <a:ea typeface="Arial"/>
                <a:cs typeface="Arial"/>
              </a:defRPr>
            </a:lvl6pPr>
            <a:lvl7pPr>
              <a:defRPr sz="1200">
                <a:solidFill>
                  <a:srgbClr val="131A24"/>
                </a:solidFill>
                <a:latin typeface="Arial"/>
                <a:ea typeface="Arial"/>
                <a:cs typeface="Arial"/>
              </a:defRPr>
            </a:lvl7pPr>
            <a:lvl8pPr>
              <a:defRPr sz="1200">
                <a:solidFill>
                  <a:srgbClr val="131A24"/>
                </a:solidFill>
                <a:latin typeface="Arial"/>
                <a:ea typeface="Arial"/>
                <a:cs typeface="Arial"/>
              </a:defRPr>
            </a:lvl8pPr>
            <a:lvl9pPr>
              <a:defRPr sz="1200">
                <a:solidFill>
                  <a:srgbClr val="131A24"/>
                </a:solidFill>
                <a:latin typeface="Arial"/>
                <a:ea typeface="Arial"/>
                <a:cs typeface="Arial"/>
              </a:defRPr>
            </a:lvl9pPr>
          </a:lstStyle>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Four layers: React presentation, Spring Boot REST application, business logic including the allocation engine, and JPA over MySQL.</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Authentication issues a JWT at login; the server verifies the role and the ownership of each record.</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The allocation engine is an independent service, which keeps decision rules separate from the domain classes.</a:t>
            </a:r>
          </a:p>
        </p:txBody>
      </p:sp>
      <p:pic>
        <p:nvPicPr>
          <p:cNvPr id="6" name="">
            <a:extLst xmlns:a="http://schemas.openxmlformats.org/drawingml/2006/main">
              <a:ext uri="{FF2B5EF4-FFF2-40B4-BE49-F238E27FC236}">
                <a16:creationId xmlns:a16="http://schemas.microsoft.com/office/drawing/2014/main" id="{2DCE0579-90C8-4DA0-9289-7A0D8D9E3A8F}"/>
              </a:ext>
            </a:extLst>
          </p:cNvPr>
          <p:cNvPicPr>
            <a:picLocks xmlns:a="http://schemas.openxmlformats.org/drawingml/2006/main" noChangeAspect="1"/>
          </p:cNvPicPr>
          <p:nvPr/>
        </p:nvPicPr>
        <p:blipFill>
          <a:blip xmlns:r="http://schemas.openxmlformats.org/officeDocument/2006/relationships" xmlns:a="http://schemas.openxmlformats.org/drawingml/2006/main" r:embed="Rdbee8b24edec4458"/>
          <a:stretch xmlns:a="http://schemas.openxmlformats.org/drawingml/2006/main"/>
        </p:blipFill>
        <p:spPr>
          <a:xfrm xmlns:a="http://schemas.openxmlformats.org/drawingml/2006/main">
            <a:off x="5689934" y="1676400"/>
            <a:ext cx="4812632" cy="4762500"/>
          </a:xfrm>
          <a:prstGeom xmlns:a="http://schemas.openxmlformats.org/drawingml/2006/main" prst="rect">
            <a:avLst/>
          </a:prstGeom>
        </p:spPr>
      </p:pic>
    </p:spTree>
    <p:extLst>
      <p:ext uri="{BB962C8B-B14F-4D97-AF65-F5344CB8AC3E}">
        <p14:creationId xmlns:p14="http://schemas.microsoft.com/office/powerpoint/2010/main" val="13583629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29E3A4-A075-4489-9B38-00FEFB11B050}"/>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8 / 11</a:t>
            </a:r>
          </a:p>
        </p:txBody>
      </p:sp>
      <p:sp>
        <p:nvSpPr>
          <p:cNvPr id="2" name="slide-title">
            <a:extLst xmlns:a="http://schemas.openxmlformats.org/drawingml/2006/main">
              <a:ext uri="{FF2B5EF4-FFF2-40B4-BE49-F238E27FC236}">
                <a16:creationId xmlns:a16="http://schemas.microsoft.com/office/drawing/2014/main" id="{0375D5B4-D9D3-440C-9C4F-1ED623BFBC6D}"/>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Database design</a:t>
            </a:r>
          </a:p>
        </p:txBody>
      </p:sp>
      <p:sp>
        <p:nvSpPr>
          <p:cNvPr id="3" name="slide-lead">
            <a:extLst xmlns:a="http://schemas.openxmlformats.org/drawingml/2006/main">
              <a:ext uri="{FF2B5EF4-FFF2-40B4-BE49-F238E27FC236}">
                <a16:creationId xmlns:a16="http://schemas.microsoft.com/office/drawing/2014/main" id="{78E6E7BC-13BB-4BD8-AEBE-1066520F5454}"/>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The entity relationship model submitted in the design phase, implemented as twelve tables.</a:t>
            </a:r>
          </a:p>
        </p:txBody>
      </p:sp>
      <p:sp>
        <p:nvSpPr>
          <p:cNvPr id="4" name="title-rule">
            <a:extLst xmlns:a="http://schemas.openxmlformats.org/drawingml/2006/main">
              <a:ext uri="{FF2B5EF4-FFF2-40B4-BE49-F238E27FC236}">
                <a16:creationId xmlns:a16="http://schemas.microsoft.com/office/drawing/2014/main" id="{F799C3DA-8EDF-4BB7-B5F2-358494151699}"/>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397A2B-F5A0-4FD9-AAD0-565219A858EE}"/>
              </a:ext>
            </a:extLst>
          </p:cNvPr>
          <p:cNvSpPr>
            <a:spLocks xmlns:a="http://schemas.openxmlformats.org/drawingml/2006/main" noGrp="1"/>
          </p:cNvSpPr>
          <p:nvPr/>
        </p:nvSpPr>
        <p:spPr>
          <a:xfrm xmlns:a="http://schemas.openxmlformats.org/drawingml/2006/main">
            <a:off x="685800" y="2057400"/>
            <a:ext cx="4095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a:solidFill>
                  <a:srgbClr val="131A24"/>
                </a:solidFill>
                <a:latin typeface="Arial"/>
                <a:ea typeface="Arial"/>
                <a:cs typeface="Arial"/>
              </a:defRPr>
            </a:defPPr>
            <a:lvl1pPr>
              <a:defRPr sz="1200">
                <a:solidFill>
                  <a:srgbClr val="131A24"/>
                </a:solidFill>
                <a:latin typeface="Arial"/>
                <a:ea typeface="Arial"/>
                <a:cs typeface="Arial"/>
              </a:defRPr>
            </a:lvl1pPr>
            <a:lvl2pPr>
              <a:defRPr sz="1200">
                <a:solidFill>
                  <a:srgbClr val="131A24"/>
                </a:solidFill>
                <a:latin typeface="Arial"/>
                <a:ea typeface="Arial"/>
                <a:cs typeface="Arial"/>
              </a:defRPr>
            </a:lvl2pPr>
            <a:lvl3pPr>
              <a:defRPr sz="1200">
                <a:solidFill>
                  <a:srgbClr val="131A24"/>
                </a:solidFill>
                <a:latin typeface="Arial"/>
                <a:ea typeface="Arial"/>
                <a:cs typeface="Arial"/>
              </a:defRPr>
            </a:lvl3pPr>
            <a:lvl4pPr>
              <a:defRPr sz="1200">
                <a:solidFill>
                  <a:srgbClr val="131A24"/>
                </a:solidFill>
                <a:latin typeface="Arial"/>
                <a:ea typeface="Arial"/>
                <a:cs typeface="Arial"/>
              </a:defRPr>
            </a:lvl4pPr>
            <a:lvl5pPr>
              <a:defRPr sz="1200">
                <a:solidFill>
                  <a:srgbClr val="131A24"/>
                </a:solidFill>
                <a:latin typeface="Arial"/>
                <a:ea typeface="Arial"/>
                <a:cs typeface="Arial"/>
              </a:defRPr>
            </a:lvl5pPr>
            <a:lvl6pPr>
              <a:defRPr sz="1200">
                <a:solidFill>
                  <a:srgbClr val="131A24"/>
                </a:solidFill>
                <a:latin typeface="Arial"/>
                <a:ea typeface="Arial"/>
                <a:cs typeface="Arial"/>
              </a:defRPr>
            </a:lvl6pPr>
            <a:lvl7pPr>
              <a:defRPr sz="1200">
                <a:solidFill>
                  <a:srgbClr val="131A24"/>
                </a:solidFill>
                <a:latin typeface="Arial"/>
                <a:ea typeface="Arial"/>
                <a:cs typeface="Arial"/>
              </a:defRPr>
            </a:lvl7pPr>
            <a:lvl8pPr>
              <a:defRPr sz="1200">
                <a:solidFill>
                  <a:srgbClr val="131A24"/>
                </a:solidFill>
                <a:latin typeface="Arial"/>
                <a:ea typeface="Arial"/>
                <a:cs typeface="Arial"/>
              </a:defRPr>
            </a:lvl8pPr>
            <a:lvl9pPr>
              <a:defRPr sz="1200">
                <a:solidFill>
                  <a:srgbClr val="131A24"/>
                </a:solidFill>
                <a:latin typeface="Arial"/>
                <a:ea typeface="Arial"/>
                <a:cs typeface="Arial"/>
              </a:defRPr>
            </a:lvl9pPr>
          </a:lstStyle>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Twelve entities in third normal form.</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Allocation, assignment and delivery are modelled separately, so a decision, a task and a delivery are tracked independently.</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Recipient food preferences resolve the many to many relationship between organizations and categories.</a:t>
            </a:r>
          </a:p>
        </p:txBody>
      </p:sp>
      <p:pic>
        <p:nvPicPr>
          <p:cNvPr id="6" name="">
            <a:extLst xmlns:a="http://schemas.openxmlformats.org/drawingml/2006/main">
              <a:ext uri="{FF2B5EF4-FFF2-40B4-BE49-F238E27FC236}">
                <a16:creationId xmlns:a16="http://schemas.microsoft.com/office/drawing/2014/main" id="{059F0CE2-9FA3-4620-B7C8-6B1AF731C6DD}"/>
              </a:ext>
            </a:extLst>
          </p:cNvPr>
          <p:cNvPicPr>
            <a:picLocks xmlns:a="http://schemas.openxmlformats.org/drawingml/2006/main" noChangeAspect="1"/>
          </p:cNvPicPr>
          <p:nvPr/>
        </p:nvPicPr>
        <p:blipFill>
          <a:blip xmlns:r="http://schemas.openxmlformats.org/officeDocument/2006/relationships" xmlns:a="http://schemas.openxmlformats.org/drawingml/2006/main" r:embed="R0fb93581f37443c1"/>
          <a:stretch xmlns:a="http://schemas.openxmlformats.org/drawingml/2006/main"/>
        </p:blipFill>
        <p:spPr>
          <a:xfrm xmlns:a="http://schemas.openxmlformats.org/drawingml/2006/main">
            <a:off x="5145061" y="1638300"/>
            <a:ext cx="5902377" cy="4800600"/>
          </a:xfrm>
          <a:prstGeom xmlns:a="http://schemas.openxmlformats.org/drawingml/2006/main" prst="rect">
            <a:avLst/>
          </a:prstGeom>
        </p:spPr>
      </p:pic>
    </p:spTree>
    <p:extLst>
      <p:ext uri="{BB962C8B-B14F-4D97-AF65-F5344CB8AC3E}">
        <p14:creationId xmlns:p14="http://schemas.microsoft.com/office/powerpoint/2010/main" val="2579872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20FC1AA-DDC7-458A-801E-D03E07A03BF6}"/>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9 / 11</a:t>
            </a:r>
          </a:p>
        </p:txBody>
      </p:sp>
      <p:sp>
        <p:nvSpPr>
          <p:cNvPr id="2" name="slide-title">
            <a:extLst xmlns:a="http://schemas.openxmlformats.org/drawingml/2006/main">
              <a:ext uri="{FF2B5EF4-FFF2-40B4-BE49-F238E27FC236}">
                <a16:creationId xmlns:a16="http://schemas.microsoft.com/office/drawing/2014/main" id="{2D91ABB2-B17B-4D10-9E3B-E605F13788F8}"/>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Key features in the running application</a:t>
            </a:r>
          </a:p>
        </p:txBody>
      </p:sp>
      <p:sp>
        <p:nvSpPr>
          <p:cNvPr id="3" name="slide-lead">
            <a:extLst xmlns:a="http://schemas.openxmlformats.org/drawingml/2006/main">
              <a:ext uri="{FF2B5EF4-FFF2-40B4-BE49-F238E27FC236}">
                <a16:creationId xmlns:a16="http://schemas.microsoft.com/office/drawing/2014/main" id="{6F39F326-F502-4874-BF4C-DD695EBF42D1}"/>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A donation is matched on registration, the decision is explained, and the administrator can change the recipient.</a:t>
            </a:r>
          </a:p>
        </p:txBody>
      </p:sp>
      <p:sp>
        <p:nvSpPr>
          <p:cNvPr id="4" name="title-rule">
            <a:extLst xmlns:a="http://schemas.openxmlformats.org/drawingml/2006/main">
              <a:ext uri="{FF2B5EF4-FFF2-40B4-BE49-F238E27FC236}">
                <a16:creationId xmlns:a16="http://schemas.microsoft.com/office/drawing/2014/main" id="{2E9F7623-A06A-4603-996A-17A65112A591}"/>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94E99E72-785E-47E0-BA26-5D7ADEAFBD15}"/>
              </a:ext>
            </a:extLst>
          </p:cNvPr>
          <p:cNvPicPr>
            <a:picLocks xmlns:a="http://schemas.openxmlformats.org/drawingml/2006/main" noChangeAspect="1"/>
          </p:cNvPicPr>
          <p:nvPr/>
        </p:nvPicPr>
        <p:blipFill>
          <a:blip xmlns:r="http://schemas.openxmlformats.org/officeDocument/2006/relationships" xmlns:a="http://schemas.openxmlformats.org/drawingml/2006/main" r:embed="Recbe70717b124f72"/>
          <a:stretch xmlns:a="http://schemas.openxmlformats.org/drawingml/2006/main"/>
        </p:blipFill>
        <p:spPr>
          <a:xfrm xmlns:a="http://schemas.openxmlformats.org/drawingml/2006/main">
            <a:off x="686858" y="1771650"/>
            <a:ext cx="3522133" cy="1981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ED68902-B9F5-4626-9690-0BAF986746F9}"/>
              </a:ext>
            </a:extLst>
          </p:cNvPr>
          <p:cNvSpPr>
            <a:spLocks xmlns:a="http://schemas.openxmlformats.org/drawingml/2006/main" noGrp="1"/>
          </p:cNvSpPr>
          <p:nvPr/>
        </p:nvSpPr>
        <p:spPr>
          <a:xfrm xmlns:a="http://schemas.openxmlformats.org/drawingml/2006/main">
            <a:off x="685800" y="1771650"/>
            <a:ext cx="3524250" cy="1981200"/>
          </a:xfrm>
          <a:prstGeom xmlns:a="http://schemas.openxmlformats.org/drawingml/2006/main" prst="rect">
            <a:avLst/>
          </a:prstGeom>
          <a:noFill xmlns:a="http://schemas.openxmlformats.org/drawingml/2006/main"/>
          <a:ln xmlns:a="http://schemas.openxmlformats.org/drawingml/2006/main" w="9525">
            <a:solidFill>
              <a:srgbClr val="E1E5EA"/>
            </a:solidFill>
            <a:prstDash val="solid"/>
          </a:ln>
        </p:spPr>
      </p:sp>
      <p:sp>
        <p:nvSpPr>
          <p:cNvPr id="7" name="">
            <a:extLst xmlns:a="http://schemas.openxmlformats.org/drawingml/2006/main">
              <a:ext uri="{FF2B5EF4-FFF2-40B4-BE49-F238E27FC236}">
                <a16:creationId xmlns:a16="http://schemas.microsoft.com/office/drawing/2014/main" id="{2B90E927-D550-4DA9-B9F1-27892913BC7C}"/>
              </a:ext>
            </a:extLst>
          </p:cNvPr>
          <p:cNvSpPr>
            <a:spLocks xmlns:a="http://schemas.openxmlformats.org/drawingml/2006/main" noGrp="1"/>
          </p:cNvSpPr>
          <p:nvPr/>
        </p:nvSpPr>
        <p:spPr>
          <a:xfrm xmlns:a="http://schemas.openxmlformats.org/drawingml/2006/main">
            <a:off x="685800" y="39052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63" b="1">
                <a:solidFill>
                  <a:srgbClr val="131A24"/>
                </a:solidFill>
                <a:latin typeface="Arial"/>
                <a:ea typeface="Arial"/>
                <a:cs typeface="Arial"/>
              </a:defRPr>
            </a:defPPr>
            <a:lvl1pPr>
              <a:defRPr sz="1163" b="1">
                <a:solidFill>
                  <a:srgbClr val="131A24"/>
                </a:solidFill>
                <a:latin typeface="Arial"/>
                <a:ea typeface="Arial"/>
                <a:cs typeface="Arial"/>
              </a:defRPr>
            </a:lvl1pPr>
            <a:lvl2pPr>
              <a:defRPr sz="1163" b="1">
                <a:solidFill>
                  <a:srgbClr val="131A24"/>
                </a:solidFill>
                <a:latin typeface="Arial"/>
                <a:ea typeface="Arial"/>
                <a:cs typeface="Arial"/>
              </a:defRPr>
            </a:lvl2pPr>
            <a:lvl3pPr>
              <a:defRPr sz="1163" b="1">
                <a:solidFill>
                  <a:srgbClr val="131A24"/>
                </a:solidFill>
                <a:latin typeface="Arial"/>
                <a:ea typeface="Arial"/>
                <a:cs typeface="Arial"/>
              </a:defRPr>
            </a:lvl3pPr>
            <a:lvl4pPr>
              <a:defRPr sz="1163" b="1">
                <a:solidFill>
                  <a:srgbClr val="131A24"/>
                </a:solidFill>
                <a:latin typeface="Arial"/>
                <a:ea typeface="Arial"/>
                <a:cs typeface="Arial"/>
              </a:defRPr>
            </a:lvl4pPr>
            <a:lvl5pPr>
              <a:defRPr sz="1163" b="1">
                <a:solidFill>
                  <a:srgbClr val="131A24"/>
                </a:solidFill>
                <a:latin typeface="Arial"/>
                <a:ea typeface="Arial"/>
                <a:cs typeface="Arial"/>
              </a:defRPr>
            </a:lvl5pPr>
            <a:lvl6pPr>
              <a:defRPr sz="1163" b="1">
                <a:solidFill>
                  <a:srgbClr val="131A24"/>
                </a:solidFill>
                <a:latin typeface="Arial"/>
                <a:ea typeface="Arial"/>
                <a:cs typeface="Arial"/>
              </a:defRPr>
            </a:lvl6pPr>
            <a:lvl7pPr>
              <a:defRPr sz="1163" b="1">
                <a:solidFill>
                  <a:srgbClr val="131A24"/>
                </a:solidFill>
                <a:latin typeface="Arial"/>
                <a:ea typeface="Arial"/>
                <a:cs typeface="Arial"/>
              </a:defRPr>
            </a:lvl7pPr>
            <a:lvl8pPr>
              <a:defRPr sz="1163" b="1">
                <a:solidFill>
                  <a:srgbClr val="131A24"/>
                </a:solidFill>
                <a:latin typeface="Arial"/>
                <a:ea typeface="Arial"/>
                <a:cs typeface="Arial"/>
              </a:defRPr>
            </a:lvl8pPr>
            <a:lvl9pPr>
              <a:defRPr sz="1163" b="1">
                <a:solidFill>
                  <a:srgbClr val="131A24"/>
                </a:solidFill>
                <a:latin typeface="Arial"/>
                <a:ea typeface="Arial"/>
                <a:cs typeface="Arial"/>
              </a:defRPr>
            </a:lvl9pPr>
          </a:lstStyle>
          <a:p xmlns:a="http://schemas.openxmlformats.org/drawingml/2006/main">
            <a:pPr>
              <a:defRPr sz="1163" b="1">
                <a:solidFill>
                  <a:srgbClr val="131A24"/>
                </a:solidFill>
                <a:latin typeface="Arial"/>
                <a:ea typeface="Arial"/>
                <a:cs typeface="Arial"/>
              </a:defRPr>
            </a:pPr>
            <a:r>
              <a:rPr sz="1163" b="1">
                <a:solidFill>
                  <a:srgbClr val="131A24"/>
                </a:solidFill>
                <a:latin typeface="Arial"/>
                <a:ea typeface="Arial"/>
                <a:cs typeface="Arial"/>
              </a:rPr>
              <a:t>Donor workspace</a:t>
            </a:r>
          </a:p>
        </p:txBody>
      </p:sp>
      <p:sp>
        <p:nvSpPr>
          <p:cNvPr id="8" name="">
            <a:extLst xmlns:a="http://schemas.openxmlformats.org/drawingml/2006/main">
              <a:ext uri="{FF2B5EF4-FFF2-40B4-BE49-F238E27FC236}">
                <a16:creationId xmlns:a16="http://schemas.microsoft.com/office/drawing/2014/main" id="{202049A7-10CD-43F1-87F5-022132EEA075}"/>
              </a:ext>
            </a:extLst>
          </p:cNvPr>
          <p:cNvSpPr>
            <a:spLocks xmlns:a="http://schemas.openxmlformats.org/drawingml/2006/main" noGrp="1"/>
          </p:cNvSpPr>
          <p:nvPr/>
        </p:nvSpPr>
        <p:spPr>
          <a:xfrm xmlns:a="http://schemas.openxmlformats.org/drawingml/2006/main">
            <a:off x="685800" y="41529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Food registered and matched immediately</a:t>
            </a:r>
          </a:p>
        </p:txBody>
      </p:sp>
      <p:pic>
        <p:nvPicPr>
          <p:cNvPr id="9" name="">
            <a:extLst xmlns:a="http://schemas.openxmlformats.org/drawingml/2006/main">
              <a:ext uri="{FF2B5EF4-FFF2-40B4-BE49-F238E27FC236}">
                <a16:creationId xmlns:a16="http://schemas.microsoft.com/office/drawing/2014/main" id="{A685639D-B754-4BE4-B1B5-7ABF85BDAF8D}"/>
              </a:ext>
            </a:extLst>
          </p:cNvPr>
          <p:cNvPicPr>
            <a:picLocks xmlns:a="http://schemas.openxmlformats.org/drawingml/2006/main" noChangeAspect="1"/>
          </p:cNvPicPr>
          <p:nvPr/>
        </p:nvPicPr>
        <p:blipFill>
          <a:blip xmlns:r="http://schemas.openxmlformats.org/officeDocument/2006/relationships" xmlns:a="http://schemas.openxmlformats.org/drawingml/2006/main" r:embed="Rce49115d8dc444d2"/>
          <a:stretch xmlns:a="http://schemas.openxmlformats.org/drawingml/2006/main"/>
        </p:blipFill>
        <p:spPr>
          <a:xfrm xmlns:a="http://schemas.openxmlformats.org/drawingml/2006/main">
            <a:off x="4334933" y="1771650"/>
            <a:ext cx="3522133" cy="1981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4565928-A230-4B70-9D9E-632EE44D43A1}"/>
              </a:ext>
            </a:extLst>
          </p:cNvPr>
          <p:cNvSpPr>
            <a:spLocks xmlns:a="http://schemas.openxmlformats.org/drawingml/2006/main" noGrp="1"/>
          </p:cNvSpPr>
          <p:nvPr/>
        </p:nvSpPr>
        <p:spPr>
          <a:xfrm xmlns:a="http://schemas.openxmlformats.org/drawingml/2006/main">
            <a:off x="4333875" y="1771650"/>
            <a:ext cx="3524250" cy="1981200"/>
          </a:xfrm>
          <a:prstGeom xmlns:a="http://schemas.openxmlformats.org/drawingml/2006/main" prst="rect">
            <a:avLst/>
          </a:prstGeom>
          <a:noFill xmlns:a="http://schemas.openxmlformats.org/drawingml/2006/main"/>
          <a:ln xmlns:a="http://schemas.openxmlformats.org/drawingml/2006/main" w="9525">
            <a:solidFill>
              <a:srgbClr val="E1E5EA"/>
            </a:solidFill>
            <a:prstDash val="solid"/>
          </a:ln>
        </p:spPr>
      </p:sp>
      <p:sp>
        <p:nvSpPr>
          <p:cNvPr id="11" name="">
            <a:extLst xmlns:a="http://schemas.openxmlformats.org/drawingml/2006/main">
              <a:ext uri="{FF2B5EF4-FFF2-40B4-BE49-F238E27FC236}">
                <a16:creationId xmlns:a16="http://schemas.microsoft.com/office/drawing/2014/main" id="{F0E2173C-76A3-4AED-9BA7-4DE7F3049D95}"/>
              </a:ext>
            </a:extLst>
          </p:cNvPr>
          <p:cNvSpPr>
            <a:spLocks xmlns:a="http://schemas.openxmlformats.org/drawingml/2006/main" noGrp="1"/>
          </p:cNvSpPr>
          <p:nvPr/>
        </p:nvSpPr>
        <p:spPr>
          <a:xfrm xmlns:a="http://schemas.openxmlformats.org/drawingml/2006/main">
            <a:off x="4333875" y="39052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63" b="1">
                <a:solidFill>
                  <a:srgbClr val="131A24"/>
                </a:solidFill>
                <a:latin typeface="Arial"/>
                <a:ea typeface="Arial"/>
                <a:cs typeface="Arial"/>
              </a:defRPr>
            </a:defPPr>
            <a:lvl1pPr>
              <a:defRPr sz="1163" b="1">
                <a:solidFill>
                  <a:srgbClr val="131A24"/>
                </a:solidFill>
                <a:latin typeface="Arial"/>
                <a:ea typeface="Arial"/>
                <a:cs typeface="Arial"/>
              </a:defRPr>
            </a:lvl1pPr>
            <a:lvl2pPr>
              <a:defRPr sz="1163" b="1">
                <a:solidFill>
                  <a:srgbClr val="131A24"/>
                </a:solidFill>
                <a:latin typeface="Arial"/>
                <a:ea typeface="Arial"/>
                <a:cs typeface="Arial"/>
              </a:defRPr>
            </a:lvl2pPr>
            <a:lvl3pPr>
              <a:defRPr sz="1163" b="1">
                <a:solidFill>
                  <a:srgbClr val="131A24"/>
                </a:solidFill>
                <a:latin typeface="Arial"/>
                <a:ea typeface="Arial"/>
                <a:cs typeface="Arial"/>
              </a:defRPr>
            </a:lvl3pPr>
            <a:lvl4pPr>
              <a:defRPr sz="1163" b="1">
                <a:solidFill>
                  <a:srgbClr val="131A24"/>
                </a:solidFill>
                <a:latin typeface="Arial"/>
                <a:ea typeface="Arial"/>
                <a:cs typeface="Arial"/>
              </a:defRPr>
            </a:lvl4pPr>
            <a:lvl5pPr>
              <a:defRPr sz="1163" b="1">
                <a:solidFill>
                  <a:srgbClr val="131A24"/>
                </a:solidFill>
                <a:latin typeface="Arial"/>
                <a:ea typeface="Arial"/>
                <a:cs typeface="Arial"/>
              </a:defRPr>
            </a:lvl5pPr>
            <a:lvl6pPr>
              <a:defRPr sz="1163" b="1">
                <a:solidFill>
                  <a:srgbClr val="131A24"/>
                </a:solidFill>
                <a:latin typeface="Arial"/>
                <a:ea typeface="Arial"/>
                <a:cs typeface="Arial"/>
              </a:defRPr>
            </a:lvl6pPr>
            <a:lvl7pPr>
              <a:defRPr sz="1163" b="1">
                <a:solidFill>
                  <a:srgbClr val="131A24"/>
                </a:solidFill>
                <a:latin typeface="Arial"/>
                <a:ea typeface="Arial"/>
                <a:cs typeface="Arial"/>
              </a:defRPr>
            </a:lvl7pPr>
            <a:lvl8pPr>
              <a:defRPr sz="1163" b="1">
                <a:solidFill>
                  <a:srgbClr val="131A24"/>
                </a:solidFill>
                <a:latin typeface="Arial"/>
                <a:ea typeface="Arial"/>
                <a:cs typeface="Arial"/>
              </a:defRPr>
            </a:lvl8pPr>
            <a:lvl9pPr>
              <a:defRPr sz="1163" b="1">
                <a:solidFill>
                  <a:srgbClr val="131A24"/>
                </a:solidFill>
                <a:latin typeface="Arial"/>
                <a:ea typeface="Arial"/>
                <a:cs typeface="Arial"/>
              </a:defRPr>
            </a:lvl9pPr>
          </a:lstStyle>
          <a:p xmlns:a="http://schemas.openxmlformats.org/drawingml/2006/main">
            <a:pPr>
              <a:defRPr sz="1163" b="1">
                <a:solidFill>
                  <a:srgbClr val="131A24"/>
                </a:solidFill>
                <a:latin typeface="Arial"/>
                <a:ea typeface="Arial"/>
                <a:cs typeface="Arial"/>
              </a:defRPr>
            </a:pPr>
            <a:r>
              <a:rPr sz="1163" b="1">
                <a:solidFill>
                  <a:srgbClr val="131A24"/>
                </a:solidFill>
                <a:latin typeface="Arial"/>
                <a:ea typeface="Arial"/>
                <a:cs typeface="Arial"/>
              </a:rPr>
              <a:t>Allocation engine</a:t>
            </a:r>
          </a:p>
        </p:txBody>
      </p:sp>
      <p:sp>
        <p:nvSpPr>
          <p:cNvPr id="12" name="">
            <a:extLst xmlns:a="http://schemas.openxmlformats.org/drawingml/2006/main">
              <a:ext uri="{FF2B5EF4-FFF2-40B4-BE49-F238E27FC236}">
                <a16:creationId xmlns:a16="http://schemas.microsoft.com/office/drawing/2014/main" id="{52C7A317-4B46-4394-8FD6-620CE9B29E8D}"/>
              </a:ext>
            </a:extLst>
          </p:cNvPr>
          <p:cNvSpPr>
            <a:spLocks xmlns:a="http://schemas.openxmlformats.org/drawingml/2006/main" noGrp="1"/>
          </p:cNvSpPr>
          <p:nvPr/>
        </p:nvSpPr>
        <p:spPr>
          <a:xfrm xmlns:a="http://schemas.openxmlformats.org/drawingml/2006/main">
            <a:off x="4333875" y="41529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Score, factors and safety check in one view</a:t>
            </a:r>
          </a:p>
        </p:txBody>
      </p:sp>
      <p:pic>
        <p:nvPicPr>
          <p:cNvPr id="13" name="">
            <a:extLst xmlns:a="http://schemas.openxmlformats.org/drawingml/2006/main">
              <a:ext uri="{FF2B5EF4-FFF2-40B4-BE49-F238E27FC236}">
                <a16:creationId xmlns:a16="http://schemas.microsoft.com/office/drawing/2014/main" id="{907AD379-8131-467C-A119-37A08D63F122}"/>
              </a:ext>
            </a:extLst>
          </p:cNvPr>
          <p:cNvPicPr>
            <a:picLocks xmlns:a="http://schemas.openxmlformats.org/drawingml/2006/main" noChangeAspect="1"/>
          </p:cNvPicPr>
          <p:nvPr/>
        </p:nvPicPr>
        <p:blipFill>
          <a:blip xmlns:r="http://schemas.openxmlformats.org/officeDocument/2006/relationships" xmlns:a="http://schemas.openxmlformats.org/drawingml/2006/main" r:embed="Re88f63c0048b44c5"/>
          <a:stretch xmlns:a="http://schemas.openxmlformats.org/drawingml/2006/main"/>
        </p:blipFill>
        <p:spPr>
          <a:xfrm xmlns:a="http://schemas.openxmlformats.org/drawingml/2006/main">
            <a:off x="7983008" y="1771650"/>
            <a:ext cx="3522133" cy="19812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B75448A-E3EE-498F-9F38-F3FB4911926A}"/>
              </a:ext>
            </a:extLst>
          </p:cNvPr>
          <p:cNvSpPr>
            <a:spLocks xmlns:a="http://schemas.openxmlformats.org/drawingml/2006/main" noGrp="1"/>
          </p:cNvSpPr>
          <p:nvPr/>
        </p:nvSpPr>
        <p:spPr>
          <a:xfrm xmlns:a="http://schemas.openxmlformats.org/drawingml/2006/main">
            <a:off x="7981950" y="1771650"/>
            <a:ext cx="3524250" cy="1981200"/>
          </a:xfrm>
          <a:prstGeom xmlns:a="http://schemas.openxmlformats.org/drawingml/2006/main" prst="rect">
            <a:avLst/>
          </a:prstGeom>
          <a:noFill xmlns:a="http://schemas.openxmlformats.org/drawingml/2006/main"/>
          <a:ln xmlns:a="http://schemas.openxmlformats.org/drawingml/2006/main" w="9525">
            <a:solidFill>
              <a:srgbClr val="E1E5EA"/>
            </a:solidFill>
            <a:prstDash val="solid"/>
          </a:ln>
        </p:spPr>
      </p:sp>
      <p:sp>
        <p:nvSpPr>
          <p:cNvPr id="15" name="">
            <a:extLst xmlns:a="http://schemas.openxmlformats.org/drawingml/2006/main">
              <a:ext uri="{FF2B5EF4-FFF2-40B4-BE49-F238E27FC236}">
                <a16:creationId xmlns:a16="http://schemas.microsoft.com/office/drawing/2014/main" id="{C3A32B2C-8D75-44D3-B7BA-EABF84616150}"/>
              </a:ext>
            </a:extLst>
          </p:cNvPr>
          <p:cNvSpPr>
            <a:spLocks xmlns:a="http://schemas.openxmlformats.org/drawingml/2006/main" noGrp="1"/>
          </p:cNvSpPr>
          <p:nvPr/>
        </p:nvSpPr>
        <p:spPr>
          <a:xfrm xmlns:a="http://schemas.openxmlformats.org/drawingml/2006/main">
            <a:off x="7981950" y="39052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63" b="1">
                <a:solidFill>
                  <a:srgbClr val="131A24"/>
                </a:solidFill>
                <a:latin typeface="Arial"/>
                <a:ea typeface="Arial"/>
                <a:cs typeface="Arial"/>
              </a:defRPr>
            </a:defPPr>
            <a:lvl1pPr>
              <a:defRPr sz="1163" b="1">
                <a:solidFill>
                  <a:srgbClr val="131A24"/>
                </a:solidFill>
                <a:latin typeface="Arial"/>
                <a:ea typeface="Arial"/>
                <a:cs typeface="Arial"/>
              </a:defRPr>
            </a:lvl1pPr>
            <a:lvl2pPr>
              <a:defRPr sz="1163" b="1">
                <a:solidFill>
                  <a:srgbClr val="131A24"/>
                </a:solidFill>
                <a:latin typeface="Arial"/>
                <a:ea typeface="Arial"/>
                <a:cs typeface="Arial"/>
              </a:defRPr>
            </a:lvl2pPr>
            <a:lvl3pPr>
              <a:defRPr sz="1163" b="1">
                <a:solidFill>
                  <a:srgbClr val="131A24"/>
                </a:solidFill>
                <a:latin typeface="Arial"/>
                <a:ea typeface="Arial"/>
                <a:cs typeface="Arial"/>
              </a:defRPr>
            </a:lvl3pPr>
            <a:lvl4pPr>
              <a:defRPr sz="1163" b="1">
                <a:solidFill>
                  <a:srgbClr val="131A24"/>
                </a:solidFill>
                <a:latin typeface="Arial"/>
                <a:ea typeface="Arial"/>
                <a:cs typeface="Arial"/>
              </a:defRPr>
            </a:lvl4pPr>
            <a:lvl5pPr>
              <a:defRPr sz="1163" b="1">
                <a:solidFill>
                  <a:srgbClr val="131A24"/>
                </a:solidFill>
                <a:latin typeface="Arial"/>
                <a:ea typeface="Arial"/>
                <a:cs typeface="Arial"/>
              </a:defRPr>
            </a:lvl5pPr>
            <a:lvl6pPr>
              <a:defRPr sz="1163" b="1">
                <a:solidFill>
                  <a:srgbClr val="131A24"/>
                </a:solidFill>
                <a:latin typeface="Arial"/>
                <a:ea typeface="Arial"/>
                <a:cs typeface="Arial"/>
              </a:defRPr>
            </a:lvl6pPr>
            <a:lvl7pPr>
              <a:defRPr sz="1163" b="1">
                <a:solidFill>
                  <a:srgbClr val="131A24"/>
                </a:solidFill>
                <a:latin typeface="Arial"/>
                <a:ea typeface="Arial"/>
                <a:cs typeface="Arial"/>
              </a:defRPr>
            </a:lvl7pPr>
            <a:lvl8pPr>
              <a:defRPr sz="1163" b="1">
                <a:solidFill>
                  <a:srgbClr val="131A24"/>
                </a:solidFill>
                <a:latin typeface="Arial"/>
                <a:ea typeface="Arial"/>
                <a:cs typeface="Arial"/>
              </a:defRPr>
            </a:lvl8pPr>
            <a:lvl9pPr>
              <a:defRPr sz="1163" b="1">
                <a:solidFill>
                  <a:srgbClr val="131A24"/>
                </a:solidFill>
                <a:latin typeface="Arial"/>
                <a:ea typeface="Arial"/>
                <a:cs typeface="Arial"/>
              </a:defRPr>
            </a:lvl9pPr>
          </a:lstStyle>
          <a:p xmlns:a="http://schemas.openxmlformats.org/drawingml/2006/main">
            <a:pPr>
              <a:defRPr sz="1163" b="1">
                <a:solidFill>
                  <a:srgbClr val="131A24"/>
                </a:solidFill>
                <a:latin typeface="Arial"/>
                <a:ea typeface="Arial"/>
                <a:cs typeface="Arial"/>
              </a:defRPr>
            </a:pPr>
            <a:r>
              <a:rPr sz="1163" b="1">
                <a:solidFill>
                  <a:srgbClr val="131A24"/>
                </a:solidFill>
                <a:latin typeface="Arial"/>
                <a:ea typeface="Arial"/>
                <a:cs typeface="Arial"/>
              </a:rPr>
              <a:t>Administrator override</a:t>
            </a:r>
          </a:p>
        </p:txBody>
      </p:sp>
      <p:sp>
        <p:nvSpPr>
          <p:cNvPr id="16" name="">
            <a:extLst xmlns:a="http://schemas.openxmlformats.org/drawingml/2006/main">
              <a:ext uri="{FF2B5EF4-FFF2-40B4-BE49-F238E27FC236}">
                <a16:creationId xmlns:a16="http://schemas.microsoft.com/office/drawing/2014/main" id="{DAD43DA4-98E3-4719-A27B-09191A799A06}"/>
              </a:ext>
            </a:extLst>
          </p:cNvPr>
          <p:cNvSpPr>
            <a:spLocks xmlns:a="http://schemas.openxmlformats.org/drawingml/2006/main" noGrp="1"/>
          </p:cNvSpPr>
          <p:nvPr/>
        </p:nvSpPr>
        <p:spPr>
          <a:xfrm xmlns:a="http://schemas.openxmlformats.org/drawingml/2006/main">
            <a:off x="7981950" y="41529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vl1pPr>
              <a:defRPr sz="938" b="0">
                <a:solidFill>
                  <a:srgbClr val="52606F"/>
                </a:solidFill>
                <a:latin typeface="Arial"/>
                <a:ea typeface="Arial"/>
                <a:cs typeface="Arial"/>
              </a:defRPr>
            </a:lvl1pPr>
            <a:lvl2pPr>
              <a:defRPr sz="938" b="0">
                <a:solidFill>
                  <a:srgbClr val="52606F"/>
                </a:solidFill>
                <a:latin typeface="Arial"/>
                <a:ea typeface="Arial"/>
                <a:cs typeface="Arial"/>
              </a:defRPr>
            </a:lvl2pPr>
            <a:lvl3pPr>
              <a:defRPr sz="938" b="0">
                <a:solidFill>
                  <a:srgbClr val="52606F"/>
                </a:solidFill>
                <a:latin typeface="Arial"/>
                <a:ea typeface="Arial"/>
                <a:cs typeface="Arial"/>
              </a:defRPr>
            </a:lvl3pPr>
            <a:lvl4pPr>
              <a:defRPr sz="938" b="0">
                <a:solidFill>
                  <a:srgbClr val="52606F"/>
                </a:solidFill>
                <a:latin typeface="Arial"/>
                <a:ea typeface="Arial"/>
                <a:cs typeface="Arial"/>
              </a:defRPr>
            </a:lvl4pPr>
            <a:lvl5pPr>
              <a:defRPr sz="938" b="0">
                <a:solidFill>
                  <a:srgbClr val="52606F"/>
                </a:solidFill>
                <a:latin typeface="Arial"/>
                <a:ea typeface="Arial"/>
                <a:cs typeface="Arial"/>
              </a:defRPr>
            </a:lvl5pPr>
            <a:lvl6pPr>
              <a:defRPr sz="938" b="0">
                <a:solidFill>
                  <a:srgbClr val="52606F"/>
                </a:solidFill>
                <a:latin typeface="Arial"/>
                <a:ea typeface="Arial"/>
                <a:cs typeface="Arial"/>
              </a:defRPr>
            </a:lvl6pPr>
            <a:lvl7pPr>
              <a:defRPr sz="938" b="0">
                <a:solidFill>
                  <a:srgbClr val="52606F"/>
                </a:solidFill>
                <a:latin typeface="Arial"/>
                <a:ea typeface="Arial"/>
                <a:cs typeface="Arial"/>
              </a:defRPr>
            </a:lvl7pPr>
            <a:lvl8pPr>
              <a:defRPr sz="938" b="0">
                <a:solidFill>
                  <a:srgbClr val="52606F"/>
                </a:solidFill>
                <a:latin typeface="Arial"/>
                <a:ea typeface="Arial"/>
                <a:cs typeface="Arial"/>
              </a:defRPr>
            </a:lvl8pPr>
            <a:lvl9pPr>
              <a:defRPr sz="938" b="0">
                <a:solidFill>
                  <a:srgbClr val="52606F"/>
                </a:solidFill>
                <a:latin typeface="Arial"/>
                <a:ea typeface="Arial"/>
                <a:cs typeface="Arial"/>
              </a:defRPr>
            </a:lvl9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Recipient changed, with a written reason</a:t>
            </a:r>
          </a:p>
        </p:txBody>
      </p:sp>
      <p:sp>
        <p:nvSpPr>
          <p:cNvPr id="17" name="">
            <a:extLst xmlns:a="http://schemas.openxmlformats.org/drawingml/2006/main">
              <a:ext uri="{FF2B5EF4-FFF2-40B4-BE49-F238E27FC236}">
                <a16:creationId xmlns:a16="http://schemas.microsoft.com/office/drawing/2014/main" id="{DDD7EC8D-BB6B-437A-9D2D-2A6A9004DF2A}"/>
              </a:ext>
            </a:extLst>
          </p:cNvPr>
          <p:cNvSpPr>
            <a:spLocks xmlns:a="http://schemas.openxmlformats.org/drawingml/2006/main" noGrp="1"/>
          </p:cNvSpPr>
          <p:nvPr/>
        </p:nvSpPr>
        <p:spPr>
          <a:xfrm xmlns:a="http://schemas.openxmlformats.org/drawingml/2006/main">
            <a:off x="685800" y="48768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52606F"/>
                </a:solidFill>
                <a:latin typeface="Arial"/>
                <a:ea typeface="Arial"/>
                <a:cs typeface="Arial"/>
              </a:defRPr>
            </a:defPPr>
            <a:lvl1pPr>
              <a:defRPr sz="1125" b="0">
                <a:solidFill>
                  <a:srgbClr val="52606F"/>
                </a:solidFill>
                <a:latin typeface="Arial"/>
                <a:ea typeface="Arial"/>
                <a:cs typeface="Arial"/>
              </a:defRPr>
            </a:lvl1pPr>
            <a:lvl2pPr>
              <a:defRPr sz="1125" b="0">
                <a:solidFill>
                  <a:srgbClr val="52606F"/>
                </a:solidFill>
                <a:latin typeface="Arial"/>
                <a:ea typeface="Arial"/>
                <a:cs typeface="Arial"/>
              </a:defRPr>
            </a:lvl2pPr>
            <a:lvl3pPr>
              <a:defRPr sz="1125" b="0">
                <a:solidFill>
                  <a:srgbClr val="52606F"/>
                </a:solidFill>
                <a:latin typeface="Arial"/>
                <a:ea typeface="Arial"/>
                <a:cs typeface="Arial"/>
              </a:defRPr>
            </a:lvl3pPr>
            <a:lvl4pPr>
              <a:defRPr sz="1125" b="0">
                <a:solidFill>
                  <a:srgbClr val="52606F"/>
                </a:solidFill>
                <a:latin typeface="Arial"/>
                <a:ea typeface="Arial"/>
                <a:cs typeface="Arial"/>
              </a:defRPr>
            </a:lvl4pPr>
            <a:lvl5pPr>
              <a:defRPr sz="1125" b="0">
                <a:solidFill>
                  <a:srgbClr val="52606F"/>
                </a:solidFill>
                <a:latin typeface="Arial"/>
                <a:ea typeface="Arial"/>
                <a:cs typeface="Arial"/>
              </a:defRPr>
            </a:lvl5pPr>
            <a:lvl6pPr>
              <a:defRPr sz="1125" b="0">
                <a:solidFill>
                  <a:srgbClr val="52606F"/>
                </a:solidFill>
                <a:latin typeface="Arial"/>
                <a:ea typeface="Arial"/>
                <a:cs typeface="Arial"/>
              </a:defRPr>
            </a:lvl6pPr>
            <a:lvl7pPr>
              <a:defRPr sz="1125" b="0">
                <a:solidFill>
                  <a:srgbClr val="52606F"/>
                </a:solidFill>
                <a:latin typeface="Arial"/>
                <a:ea typeface="Arial"/>
                <a:cs typeface="Arial"/>
              </a:defRPr>
            </a:lvl7pPr>
            <a:lvl8pPr>
              <a:defRPr sz="1125" b="0">
                <a:solidFill>
                  <a:srgbClr val="52606F"/>
                </a:solidFill>
                <a:latin typeface="Arial"/>
                <a:ea typeface="Arial"/>
                <a:cs typeface="Arial"/>
              </a:defRPr>
            </a:lvl8pPr>
            <a:lvl9pPr>
              <a:defRPr sz="1125" b="0">
                <a:solidFill>
                  <a:srgbClr val="52606F"/>
                </a:solidFill>
                <a:latin typeface="Arial"/>
                <a:ea typeface="Arial"/>
                <a:cs typeface="Arial"/>
              </a:defRPr>
            </a:lvl9pPr>
          </a:lstStyle>
          <a:p xmlns:a="http://schemas.openxmlformats.org/drawingml/2006/main">
            <a:pPr>
              <a:defRPr sz="1125" b="0">
                <a:solidFill>
                  <a:srgbClr val="52606F"/>
                </a:solidFill>
                <a:latin typeface="Arial"/>
                <a:ea typeface="Arial"/>
                <a:cs typeface="Arial"/>
              </a:defRPr>
            </a:pPr>
            <a:r>
              <a:rPr sz="1125" b="0">
                <a:solidFill>
                  <a:srgbClr val="52606F"/>
                </a:solidFill>
                <a:latin typeface="Arial"/>
                <a:ea typeface="Arial"/>
                <a:cs typeface="Arial"/>
              </a:rPr>
              <a:t>Demonstration path: the donor registers food, the administrator reviews or changes the decision, the recipient accepts, the volunteer delivers, and the recipient confirms receipt.</a:t>
            </a:r>
          </a:p>
        </p:txBody>
      </p:sp>
    </p:spTree>
    <p:extLst>
      <p:ext uri="{BB962C8B-B14F-4D97-AF65-F5344CB8AC3E}">
        <p14:creationId xmlns:p14="http://schemas.microsoft.com/office/powerpoint/2010/main" val="4409196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52E383-519B-4B36-AED1-3435D527F51E}"/>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10 / 11</a:t>
            </a:r>
          </a:p>
        </p:txBody>
      </p:sp>
      <p:sp>
        <p:nvSpPr>
          <p:cNvPr id="2" name="slide-title">
            <a:extLst xmlns:a="http://schemas.openxmlformats.org/drawingml/2006/main">
              <a:ext uri="{FF2B5EF4-FFF2-40B4-BE49-F238E27FC236}">
                <a16:creationId xmlns:a16="http://schemas.microsoft.com/office/drawing/2014/main" id="{EFF88916-A9CB-49B0-AEC1-C127A8628E3C}"/>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Results and verification</a:t>
            </a:r>
          </a:p>
        </p:txBody>
      </p:sp>
      <p:sp>
        <p:nvSpPr>
          <p:cNvPr id="3" name="slide-lead">
            <a:extLst xmlns:a="http://schemas.openxmlformats.org/drawingml/2006/main">
              <a:ext uri="{FF2B5EF4-FFF2-40B4-BE49-F238E27FC236}">
                <a16:creationId xmlns:a16="http://schemas.microsoft.com/office/drawing/2014/main" id="{3EAB7512-F7C4-4FD9-99DC-5E9E6697DBD2}"/>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Measurements taken from the running system with the seeded dataset.</a:t>
            </a:r>
          </a:p>
        </p:txBody>
      </p:sp>
      <p:sp>
        <p:nvSpPr>
          <p:cNvPr id="4" name="title-rule">
            <a:extLst xmlns:a="http://schemas.openxmlformats.org/drawingml/2006/main">
              <a:ext uri="{FF2B5EF4-FFF2-40B4-BE49-F238E27FC236}">
                <a16:creationId xmlns:a16="http://schemas.microsoft.com/office/drawing/2014/main" id="{99504284-066A-41D5-9514-4CA734F2474B}"/>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76AA45-E746-4F11-92AC-2C1EDCA6680F}"/>
              </a:ext>
            </a:extLst>
          </p:cNvPr>
          <p:cNvSpPr>
            <a:spLocks xmlns:a="http://schemas.openxmlformats.org/drawingml/2006/main" noGrp="1"/>
          </p:cNvSpPr>
          <p:nvPr/>
        </p:nvSpPr>
        <p:spPr>
          <a:xfrm xmlns:a="http://schemas.openxmlformats.org/drawingml/2006/main">
            <a:off x="685800" y="19050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vl1pPr>
              <a:defRPr sz="2550" b="1">
                <a:solidFill>
                  <a:srgbClr val="0E7C57"/>
                </a:solidFill>
                <a:latin typeface="Arial"/>
                <a:ea typeface="Arial"/>
                <a:cs typeface="Arial"/>
              </a:defRPr>
            </a:lvl1pPr>
            <a:lvl2pPr>
              <a:defRPr sz="2550" b="1">
                <a:solidFill>
                  <a:srgbClr val="0E7C57"/>
                </a:solidFill>
                <a:latin typeface="Arial"/>
                <a:ea typeface="Arial"/>
                <a:cs typeface="Arial"/>
              </a:defRPr>
            </a:lvl2pPr>
            <a:lvl3pPr>
              <a:defRPr sz="2550" b="1">
                <a:solidFill>
                  <a:srgbClr val="0E7C57"/>
                </a:solidFill>
                <a:latin typeface="Arial"/>
                <a:ea typeface="Arial"/>
                <a:cs typeface="Arial"/>
              </a:defRPr>
            </a:lvl3pPr>
            <a:lvl4pPr>
              <a:defRPr sz="2550" b="1">
                <a:solidFill>
                  <a:srgbClr val="0E7C57"/>
                </a:solidFill>
                <a:latin typeface="Arial"/>
                <a:ea typeface="Arial"/>
                <a:cs typeface="Arial"/>
              </a:defRPr>
            </a:lvl4pPr>
            <a:lvl5pPr>
              <a:defRPr sz="2550" b="1">
                <a:solidFill>
                  <a:srgbClr val="0E7C57"/>
                </a:solidFill>
                <a:latin typeface="Arial"/>
                <a:ea typeface="Arial"/>
                <a:cs typeface="Arial"/>
              </a:defRPr>
            </a:lvl5pPr>
            <a:lvl6pPr>
              <a:defRPr sz="2550" b="1">
                <a:solidFill>
                  <a:srgbClr val="0E7C57"/>
                </a:solidFill>
                <a:latin typeface="Arial"/>
                <a:ea typeface="Arial"/>
                <a:cs typeface="Arial"/>
              </a:defRPr>
            </a:lvl6pPr>
            <a:lvl7pPr>
              <a:defRPr sz="2550" b="1">
                <a:solidFill>
                  <a:srgbClr val="0E7C57"/>
                </a:solidFill>
                <a:latin typeface="Arial"/>
                <a:ea typeface="Arial"/>
                <a:cs typeface="Arial"/>
              </a:defRPr>
            </a:lvl7pPr>
            <a:lvl8pPr>
              <a:defRPr sz="2550" b="1">
                <a:solidFill>
                  <a:srgbClr val="0E7C57"/>
                </a:solidFill>
                <a:latin typeface="Arial"/>
                <a:ea typeface="Arial"/>
                <a:cs typeface="Arial"/>
              </a:defRPr>
            </a:lvl8pPr>
            <a:lvl9pPr>
              <a:defRPr sz="2550" b="1">
                <a:solidFill>
                  <a:srgbClr val="0E7C57"/>
                </a:solidFill>
                <a:latin typeface="Arial"/>
                <a:ea typeface="Arial"/>
                <a:cs typeface="Arial"/>
              </a:defRPr>
            </a:lvl9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414 kg</a:t>
            </a:r>
          </a:p>
        </p:txBody>
      </p:sp>
      <p:sp>
        <p:nvSpPr>
          <p:cNvPr id="6" name="">
            <a:extLst xmlns:a="http://schemas.openxmlformats.org/drawingml/2006/main">
              <a:ext uri="{FF2B5EF4-FFF2-40B4-BE49-F238E27FC236}">
                <a16:creationId xmlns:a16="http://schemas.microsoft.com/office/drawing/2014/main" id="{9769C47F-038F-4D96-957C-2199611365DA}"/>
              </a:ext>
            </a:extLst>
          </p:cNvPr>
          <p:cNvSpPr>
            <a:spLocks xmlns:a="http://schemas.openxmlformats.org/drawingml/2006/main" noGrp="1"/>
          </p:cNvSpPr>
          <p:nvPr/>
        </p:nvSpPr>
        <p:spPr>
          <a:xfrm xmlns:a="http://schemas.openxmlformats.org/drawingml/2006/main">
            <a:off x="685800" y="2362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vl1pPr>
              <a:defRPr sz="1200" b="0">
                <a:solidFill>
                  <a:srgbClr val="52606F"/>
                </a:solidFill>
                <a:latin typeface="Arial"/>
                <a:ea typeface="Arial"/>
                <a:cs typeface="Arial"/>
              </a:defRPr>
            </a:lvl1pPr>
            <a:lvl2pPr>
              <a:defRPr sz="1200" b="0">
                <a:solidFill>
                  <a:srgbClr val="52606F"/>
                </a:solidFill>
                <a:latin typeface="Arial"/>
                <a:ea typeface="Arial"/>
                <a:cs typeface="Arial"/>
              </a:defRPr>
            </a:lvl2pPr>
            <a:lvl3pPr>
              <a:defRPr sz="1200" b="0">
                <a:solidFill>
                  <a:srgbClr val="52606F"/>
                </a:solidFill>
                <a:latin typeface="Arial"/>
                <a:ea typeface="Arial"/>
                <a:cs typeface="Arial"/>
              </a:defRPr>
            </a:lvl3pPr>
            <a:lvl4pPr>
              <a:defRPr sz="1200" b="0">
                <a:solidFill>
                  <a:srgbClr val="52606F"/>
                </a:solidFill>
                <a:latin typeface="Arial"/>
                <a:ea typeface="Arial"/>
                <a:cs typeface="Arial"/>
              </a:defRPr>
            </a:lvl4pPr>
            <a:lvl5pPr>
              <a:defRPr sz="1200" b="0">
                <a:solidFill>
                  <a:srgbClr val="52606F"/>
                </a:solidFill>
                <a:latin typeface="Arial"/>
                <a:ea typeface="Arial"/>
                <a:cs typeface="Arial"/>
              </a:defRPr>
            </a:lvl5pPr>
            <a:lvl6pPr>
              <a:defRPr sz="1200" b="0">
                <a:solidFill>
                  <a:srgbClr val="52606F"/>
                </a:solidFill>
                <a:latin typeface="Arial"/>
                <a:ea typeface="Arial"/>
                <a:cs typeface="Arial"/>
              </a:defRPr>
            </a:lvl6pPr>
            <a:lvl7pPr>
              <a:defRPr sz="1200" b="0">
                <a:solidFill>
                  <a:srgbClr val="52606F"/>
                </a:solidFill>
                <a:latin typeface="Arial"/>
                <a:ea typeface="Arial"/>
                <a:cs typeface="Arial"/>
              </a:defRPr>
            </a:lvl7pPr>
            <a:lvl8pPr>
              <a:defRPr sz="1200" b="0">
                <a:solidFill>
                  <a:srgbClr val="52606F"/>
                </a:solidFill>
                <a:latin typeface="Arial"/>
                <a:ea typeface="Arial"/>
                <a:cs typeface="Arial"/>
              </a:defRPr>
            </a:lvl8pPr>
            <a:lvl9pPr>
              <a:defRPr sz="1200" b="0">
                <a:solidFill>
                  <a:srgbClr val="52606F"/>
                </a:solidFill>
                <a:latin typeface="Arial"/>
                <a:ea typeface="Arial"/>
                <a:cs typeface="Arial"/>
              </a:defRPr>
            </a:lvl9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food rescued</a:t>
            </a:r>
          </a:p>
        </p:txBody>
      </p:sp>
      <p:sp>
        <p:nvSpPr>
          <p:cNvPr id="7" name="">
            <a:extLst xmlns:a="http://schemas.openxmlformats.org/drawingml/2006/main">
              <a:ext uri="{FF2B5EF4-FFF2-40B4-BE49-F238E27FC236}">
                <a16:creationId xmlns:a16="http://schemas.microsoft.com/office/drawing/2014/main" id="{43FE60FB-4A8A-469C-8A50-B66FE22F5ADF}"/>
              </a:ext>
            </a:extLst>
          </p:cNvPr>
          <p:cNvSpPr>
            <a:spLocks xmlns:a="http://schemas.openxmlformats.org/drawingml/2006/main" noGrp="1"/>
          </p:cNvSpPr>
          <p:nvPr/>
        </p:nvSpPr>
        <p:spPr>
          <a:xfrm xmlns:a="http://schemas.openxmlformats.org/drawingml/2006/main">
            <a:off x="4305300" y="19050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vl1pPr>
              <a:defRPr sz="2550" b="1">
                <a:solidFill>
                  <a:srgbClr val="0E7C57"/>
                </a:solidFill>
                <a:latin typeface="Arial"/>
                <a:ea typeface="Arial"/>
                <a:cs typeface="Arial"/>
              </a:defRPr>
            </a:lvl1pPr>
            <a:lvl2pPr>
              <a:defRPr sz="2550" b="1">
                <a:solidFill>
                  <a:srgbClr val="0E7C57"/>
                </a:solidFill>
                <a:latin typeface="Arial"/>
                <a:ea typeface="Arial"/>
                <a:cs typeface="Arial"/>
              </a:defRPr>
            </a:lvl2pPr>
            <a:lvl3pPr>
              <a:defRPr sz="2550" b="1">
                <a:solidFill>
                  <a:srgbClr val="0E7C57"/>
                </a:solidFill>
                <a:latin typeface="Arial"/>
                <a:ea typeface="Arial"/>
                <a:cs typeface="Arial"/>
              </a:defRPr>
            </a:lvl3pPr>
            <a:lvl4pPr>
              <a:defRPr sz="2550" b="1">
                <a:solidFill>
                  <a:srgbClr val="0E7C57"/>
                </a:solidFill>
                <a:latin typeface="Arial"/>
                <a:ea typeface="Arial"/>
                <a:cs typeface="Arial"/>
              </a:defRPr>
            </a:lvl4pPr>
            <a:lvl5pPr>
              <a:defRPr sz="2550" b="1">
                <a:solidFill>
                  <a:srgbClr val="0E7C57"/>
                </a:solidFill>
                <a:latin typeface="Arial"/>
                <a:ea typeface="Arial"/>
                <a:cs typeface="Arial"/>
              </a:defRPr>
            </a:lvl5pPr>
            <a:lvl6pPr>
              <a:defRPr sz="2550" b="1">
                <a:solidFill>
                  <a:srgbClr val="0E7C57"/>
                </a:solidFill>
                <a:latin typeface="Arial"/>
                <a:ea typeface="Arial"/>
                <a:cs typeface="Arial"/>
              </a:defRPr>
            </a:lvl6pPr>
            <a:lvl7pPr>
              <a:defRPr sz="2550" b="1">
                <a:solidFill>
                  <a:srgbClr val="0E7C57"/>
                </a:solidFill>
                <a:latin typeface="Arial"/>
                <a:ea typeface="Arial"/>
                <a:cs typeface="Arial"/>
              </a:defRPr>
            </a:lvl7pPr>
            <a:lvl8pPr>
              <a:defRPr sz="2550" b="1">
                <a:solidFill>
                  <a:srgbClr val="0E7C57"/>
                </a:solidFill>
                <a:latin typeface="Arial"/>
                <a:ea typeface="Arial"/>
                <a:cs typeface="Arial"/>
              </a:defRPr>
            </a:lvl8pPr>
            <a:lvl9pPr>
              <a:defRPr sz="2550" b="1">
                <a:solidFill>
                  <a:srgbClr val="0E7C57"/>
                </a:solidFill>
                <a:latin typeface="Arial"/>
                <a:ea typeface="Arial"/>
                <a:cs typeface="Arial"/>
              </a:defRPr>
            </a:lvl9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1,035</a:t>
            </a:r>
          </a:p>
        </p:txBody>
      </p:sp>
      <p:sp>
        <p:nvSpPr>
          <p:cNvPr id="8" name="">
            <a:extLst xmlns:a="http://schemas.openxmlformats.org/drawingml/2006/main">
              <a:ext uri="{FF2B5EF4-FFF2-40B4-BE49-F238E27FC236}">
                <a16:creationId xmlns:a16="http://schemas.microsoft.com/office/drawing/2014/main" id="{3A0294CB-4C03-4AAA-9AC4-6D89C741071E}"/>
              </a:ext>
            </a:extLst>
          </p:cNvPr>
          <p:cNvSpPr>
            <a:spLocks xmlns:a="http://schemas.openxmlformats.org/drawingml/2006/main" noGrp="1"/>
          </p:cNvSpPr>
          <p:nvPr/>
        </p:nvSpPr>
        <p:spPr>
          <a:xfrm xmlns:a="http://schemas.openxmlformats.org/drawingml/2006/main">
            <a:off x="4305300" y="2362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vl1pPr>
              <a:defRPr sz="1200" b="0">
                <a:solidFill>
                  <a:srgbClr val="52606F"/>
                </a:solidFill>
                <a:latin typeface="Arial"/>
                <a:ea typeface="Arial"/>
                <a:cs typeface="Arial"/>
              </a:defRPr>
            </a:lvl1pPr>
            <a:lvl2pPr>
              <a:defRPr sz="1200" b="0">
                <a:solidFill>
                  <a:srgbClr val="52606F"/>
                </a:solidFill>
                <a:latin typeface="Arial"/>
                <a:ea typeface="Arial"/>
                <a:cs typeface="Arial"/>
              </a:defRPr>
            </a:lvl2pPr>
            <a:lvl3pPr>
              <a:defRPr sz="1200" b="0">
                <a:solidFill>
                  <a:srgbClr val="52606F"/>
                </a:solidFill>
                <a:latin typeface="Arial"/>
                <a:ea typeface="Arial"/>
                <a:cs typeface="Arial"/>
              </a:defRPr>
            </a:lvl3pPr>
            <a:lvl4pPr>
              <a:defRPr sz="1200" b="0">
                <a:solidFill>
                  <a:srgbClr val="52606F"/>
                </a:solidFill>
                <a:latin typeface="Arial"/>
                <a:ea typeface="Arial"/>
                <a:cs typeface="Arial"/>
              </a:defRPr>
            </a:lvl4pPr>
            <a:lvl5pPr>
              <a:defRPr sz="1200" b="0">
                <a:solidFill>
                  <a:srgbClr val="52606F"/>
                </a:solidFill>
                <a:latin typeface="Arial"/>
                <a:ea typeface="Arial"/>
                <a:cs typeface="Arial"/>
              </a:defRPr>
            </a:lvl5pPr>
            <a:lvl6pPr>
              <a:defRPr sz="1200" b="0">
                <a:solidFill>
                  <a:srgbClr val="52606F"/>
                </a:solidFill>
                <a:latin typeface="Arial"/>
                <a:ea typeface="Arial"/>
                <a:cs typeface="Arial"/>
              </a:defRPr>
            </a:lvl6pPr>
            <a:lvl7pPr>
              <a:defRPr sz="1200" b="0">
                <a:solidFill>
                  <a:srgbClr val="52606F"/>
                </a:solidFill>
                <a:latin typeface="Arial"/>
                <a:ea typeface="Arial"/>
                <a:cs typeface="Arial"/>
              </a:defRPr>
            </a:lvl7pPr>
            <a:lvl8pPr>
              <a:defRPr sz="1200" b="0">
                <a:solidFill>
                  <a:srgbClr val="52606F"/>
                </a:solidFill>
                <a:latin typeface="Arial"/>
                <a:ea typeface="Arial"/>
                <a:cs typeface="Arial"/>
              </a:defRPr>
            </a:lvl8pPr>
            <a:lvl9pPr>
              <a:defRPr sz="1200" b="0">
                <a:solidFill>
                  <a:srgbClr val="52606F"/>
                </a:solidFill>
                <a:latin typeface="Arial"/>
                <a:ea typeface="Arial"/>
                <a:cs typeface="Arial"/>
              </a:defRPr>
            </a:lvl9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meals equivalent</a:t>
            </a:r>
          </a:p>
        </p:txBody>
      </p:sp>
      <p:sp>
        <p:nvSpPr>
          <p:cNvPr id="9" name="">
            <a:extLst xmlns:a="http://schemas.openxmlformats.org/drawingml/2006/main">
              <a:ext uri="{FF2B5EF4-FFF2-40B4-BE49-F238E27FC236}">
                <a16:creationId xmlns:a16="http://schemas.microsoft.com/office/drawing/2014/main" id="{096B8EE8-9F3F-4134-8F3E-4E2ED8AAB8B1}"/>
              </a:ext>
            </a:extLst>
          </p:cNvPr>
          <p:cNvSpPr>
            <a:spLocks xmlns:a="http://schemas.openxmlformats.org/drawingml/2006/main" noGrp="1"/>
          </p:cNvSpPr>
          <p:nvPr/>
        </p:nvSpPr>
        <p:spPr>
          <a:xfrm xmlns:a="http://schemas.openxmlformats.org/drawingml/2006/main">
            <a:off x="7924800" y="19050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vl1pPr>
              <a:defRPr sz="2550" b="1">
                <a:solidFill>
                  <a:srgbClr val="0E7C57"/>
                </a:solidFill>
                <a:latin typeface="Arial"/>
                <a:ea typeface="Arial"/>
                <a:cs typeface="Arial"/>
              </a:defRPr>
            </a:lvl1pPr>
            <a:lvl2pPr>
              <a:defRPr sz="2550" b="1">
                <a:solidFill>
                  <a:srgbClr val="0E7C57"/>
                </a:solidFill>
                <a:latin typeface="Arial"/>
                <a:ea typeface="Arial"/>
                <a:cs typeface="Arial"/>
              </a:defRPr>
            </a:lvl2pPr>
            <a:lvl3pPr>
              <a:defRPr sz="2550" b="1">
                <a:solidFill>
                  <a:srgbClr val="0E7C57"/>
                </a:solidFill>
                <a:latin typeface="Arial"/>
                <a:ea typeface="Arial"/>
                <a:cs typeface="Arial"/>
              </a:defRPr>
            </a:lvl3pPr>
            <a:lvl4pPr>
              <a:defRPr sz="2550" b="1">
                <a:solidFill>
                  <a:srgbClr val="0E7C57"/>
                </a:solidFill>
                <a:latin typeface="Arial"/>
                <a:ea typeface="Arial"/>
                <a:cs typeface="Arial"/>
              </a:defRPr>
            </a:lvl4pPr>
            <a:lvl5pPr>
              <a:defRPr sz="2550" b="1">
                <a:solidFill>
                  <a:srgbClr val="0E7C57"/>
                </a:solidFill>
                <a:latin typeface="Arial"/>
                <a:ea typeface="Arial"/>
                <a:cs typeface="Arial"/>
              </a:defRPr>
            </a:lvl5pPr>
            <a:lvl6pPr>
              <a:defRPr sz="2550" b="1">
                <a:solidFill>
                  <a:srgbClr val="0E7C57"/>
                </a:solidFill>
                <a:latin typeface="Arial"/>
                <a:ea typeface="Arial"/>
                <a:cs typeface="Arial"/>
              </a:defRPr>
            </a:lvl6pPr>
            <a:lvl7pPr>
              <a:defRPr sz="2550" b="1">
                <a:solidFill>
                  <a:srgbClr val="0E7C57"/>
                </a:solidFill>
                <a:latin typeface="Arial"/>
                <a:ea typeface="Arial"/>
                <a:cs typeface="Arial"/>
              </a:defRPr>
            </a:lvl7pPr>
            <a:lvl8pPr>
              <a:defRPr sz="2550" b="1">
                <a:solidFill>
                  <a:srgbClr val="0E7C57"/>
                </a:solidFill>
                <a:latin typeface="Arial"/>
                <a:ea typeface="Arial"/>
                <a:cs typeface="Arial"/>
              </a:defRPr>
            </a:lvl8pPr>
            <a:lvl9pPr>
              <a:defRPr sz="2550" b="1">
                <a:solidFill>
                  <a:srgbClr val="0E7C57"/>
                </a:solidFill>
                <a:latin typeface="Arial"/>
                <a:ea typeface="Arial"/>
                <a:cs typeface="Arial"/>
              </a:defRPr>
            </a:lvl9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84.6%</a:t>
            </a:r>
          </a:p>
        </p:txBody>
      </p:sp>
      <p:sp>
        <p:nvSpPr>
          <p:cNvPr id="10" name="">
            <a:extLst xmlns:a="http://schemas.openxmlformats.org/drawingml/2006/main">
              <a:ext uri="{FF2B5EF4-FFF2-40B4-BE49-F238E27FC236}">
                <a16:creationId xmlns:a16="http://schemas.microsoft.com/office/drawing/2014/main" id="{2AF5E350-9683-4656-B2A1-88522FD45E80}"/>
              </a:ext>
            </a:extLst>
          </p:cNvPr>
          <p:cNvSpPr>
            <a:spLocks xmlns:a="http://schemas.openxmlformats.org/drawingml/2006/main" noGrp="1"/>
          </p:cNvSpPr>
          <p:nvPr/>
        </p:nvSpPr>
        <p:spPr>
          <a:xfrm xmlns:a="http://schemas.openxmlformats.org/drawingml/2006/main">
            <a:off x="7924800" y="2362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vl1pPr>
              <a:defRPr sz="1200" b="0">
                <a:solidFill>
                  <a:srgbClr val="52606F"/>
                </a:solidFill>
                <a:latin typeface="Arial"/>
                <a:ea typeface="Arial"/>
                <a:cs typeface="Arial"/>
              </a:defRPr>
            </a:lvl1pPr>
            <a:lvl2pPr>
              <a:defRPr sz="1200" b="0">
                <a:solidFill>
                  <a:srgbClr val="52606F"/>
                </a:solidFill>
                <a:latin typeface="Arial"/>
                <a:ea typeface="Arial"/>
                <a:cs typeface="Arial"/>
              </a:defRPr>
            </a:lvl2pPr>
            <a:lvl3pPr>
              <a:defRPr sz="1200" b="0">
                <a:solidFill>
                  <a:srgbClr val="52606F"/>
                </a:solidFill>
                <a:latin typeface="Arial"/>
                <a:ea typeface="Arial"/>
                <a:cs typeface="Arial"/>
              </a:defRPr>
            </a:lvl3pPr>
            <a:lvl4pPr>
              <a:defRPr sz="1200" b="0">
                <a:solidFill>
                  <a:srgbClr val="52606F"/>
                </a:solidFill>
                <a:latin typeface="Arial"/>
                <a:ea typeface="Arial"/>
                <a:cs typeface="Arial"/>
              </a:defRPr>
            </a:lvl4pPr>
            <a:lvl5pPr>
              <a:defRPr sz="1200" b="0">
                <a:solidFill>
                  <a:srgbClr val="52606F"/>
                </a:solidFill>
                <a:latin typeface="Arial"/>
                <a:ea typeface="Arial"/>
                <a:cs typeface="Arial"/>
              </a:defRPr>
            </a:lvl5pPr>
            <a:lvl6pPr>
              <a:defRPr sz="1200" b="0">
                <a:solidFill>
                  <a:srgbClr val="52606F"/>
                </a:solidFill>
                <a:latin typeface="Arial"/>
                <a:ea typeface="Arial"/>
                <a:cs typeface="Arial"/>
              </a:defRPr>
            </a:lvl6pPr>
            <a:lvl7pPr>
              <a:defRPr sz="1200" b="0">
                <a:solidFill>
                  <a:srgbClr val="52606F"/>
                </a:solidFill>
                <a:latin typeface="Arial"/>
                <a:ea typeface="Arial"/>
                <a:cs typeface="Arial"/>
              </a:defRPr>
            </a:lvl7pPr>
            <a:lvl8pPr>
              <a:defRPr sz="1200" b="0">
                <a:solidFill>
                  <a:srgbClr val="52606F"/>
                </a:solidFill>
                <a:latin typeface="Arial"/>
                <a:ea typeface="Arial"/>
                <a:cs typeface="Arial"/>
              </a:defRPr>
            </a:lvl8pPr>
            <a:lvl9pPr>
              <a:defRPr sz="1200" b="0">
                <a:solidFill>
                  <a:srgbClr val="52606F"/>
                </a:solidFill>
                <a:latin typeface="Arial"/>
                <a:ea typeface="Arial"/>
                <a:cs typeface="Arial"/>
              </a:defRPr>
            </a:lvl9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allocations accepted</a:t>
            </a:r>
          </a:p>
        </p:txBody>
      </p:sp>
      <p:sp>
        <p:nvSpPr>
          <p:cNvPr id="11" name="">
            <a:extLst xmlns:a="http://schemas.openxmlformats.org/drawingml/2006/main">
              <a:ext uri="{FF2B5EF4-FFF2-40B4-BE49-F238E27FC236}">
                <a16:creationId xmlns:a16="http://schemas.microsoft.com/office/drawing/2014/main" id="{0C89E539-B623-49E7-8205-61843B988364}"/>
              </a:ext>
            </a:extLst>
          </p:cNvPr>
          <p:cNvSpPr>
            <a:spLocks xmlns:a="http://schemas.openxmlformats.org/drawingml/2006/main" noGrp="1"/>
          </p:cNvSpPr>
          <p:nvPr/>
        </p:nvSpPr>
        <p:spPr>
          <a:xfrm xmlns:a="http://schemas.openxmlformats.org/drawingml/2006/main">
            <a:off x="685800" y="30289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vl1pPr>
              <a:defRPr sz="2550" b="1">
                <a:solidFill>
                  <a:srgbClr val="0E7C57"/>
                </a:solidFill>
                <a:latin typeface="Arial"/>
                <a:ea typeface="Arial"/>
                <a:cs typeface="Arial"/>
              </a:defRPr>
            </a:lvl1pPr>
            <a:lvl2pPr>
              <a:defRPr sz="2550" b="1">
                <a:solidFill>
                  <a:srgbClr val="0E7C57"/>
                </a:solidFill>
                <a:latin typeface="Arial"/>
                <a:ea typeface="Arial"/>
                <a:cs typeface="Arial"/>
              </a:defRPr>
            </a:lvl2pPr>
            <a:lvl3pPr>
              <a:defRPr sz="2550" b="1">
                <a:solidFill>
                  <a:srgbClr val="0E7C57"/>
                </a:solidFill>
                <a:latin typeface="Arial"/>
                <a:ea typeface="Arial"/>
                <a:cs typeface="Arial"/>
              </a:defRPr>
            </a:lvl3pPr>
            <a:lvl4pPr>
              <a:defRPr sz="2550" b="1">
                <a:solidFill>
                  <a:srgbClr val="0E7C57"/>
                </a:solidFill>
                <a:latin typeface="Arial"/>
                <a:ea typeface="Arial"/>
                <a:cs typeface="Arial"/>
              </a:defRPr>
            </a:lvl4pPr>
            <a:lvl5pPr>
              <a:defRPr sz="2550" b="1">
                <a:solidFill>
                  <a:srgbClr val="0E7C57"/>
                </a:solidFill>
                <a:latin typeface="Arial"/>
                <a:ea typeface="Arial"/>
                <a:cs typeface="Arial"/>
              </a:defRPr>
            </a:lvl5pPr>
            <a:lvl6pPr>
              <a:defRPr sz="2550" b="1">
                <a:solidFill>
                  <a:srgbClr val="0E7C57"/>
                </a:solidFill>
                <a:latin typeface="Arial"/>
                <a:ea typeface="Arial"/>
                <a:cs typeface="Arial"/>
              </a:defRPr>
            </a:lvl6pPr>
            <a:lvl7pPr>
              <a:defRPr sz="2550" b="1">
                <a:solidFill>
                  <a:srgbClr val="0E7C57"/>
                </a:solidFill>
                <a:latin typeface="Arial"/>
                <a:ea typeface="Arial"/>
                <a:cs typeface="Arial"/>
              </a:defRPr>
            </a:lvl7pPr>
            <a:lvl8pPr>
              <a:defRPr sz="2550" b="1">
                <a:solidFill>
                  <a:srgbClr val="0E7C57"/>
                </a:solidFill>
                <a:latin typeface="Arial"/>
                <a:ea typeface="Arial"/>
                <a:cs typeface="Arial"/>
              </a:defRPr>
            </a:lvl8pPr>
            <a:lvl9pPr>
              <a:defRPr sz="2550" b="1">
                <a:solidFill>
                  <a:srgbClr val="0E7C57"/>
                </a:solidFill>
                <a:latin typeface="Arial"/>
                <a:ea typeface="Arial"/>
                <a:cs typeface="Arial"/>
              </a:defRPr>
            </a:lvl9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55 min</a:t>
            </a:r>
          </a:p>
        </p:txBody>
      </p:sp>
      <p:sp>
        <p:nvSpPr>
          <p:cNvPr id="12" name="">
            <a:extLst xmlns:a="http://schemas.openxmlformats.org/drawingml/2006/main">
              <a:ext uri="{FF2B5EF4-FFF2-40B4-BE49-F238E27FC236}">
                <a16:creationId xmlns:a16="http://schemas.microsoft.com/office/drawing/2014/main" id="{6937015F-0B16-45F3-983E-9A471A487A30}"/>
              </a:ext>
            </a:extLst>
          </p:cNvPr>
          <p:cNvSpPr>
            <a:spLocks xmlns:a="http://schemas.openxmlformats.org/drawingml/2006/main" noGrp="1"/>
          </p:cNvSpPr>
          <p:nvPr/>
        </p:nvSpPr>
        <p:spPr>
          <a:xfrm xmlns:a="http://schemas.openxmlformats.org/drawingml/2006/main">
            <a:off x="685800" y="34861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vl1pPr>
              <a:defRPr sz="1200" b="0">
                <a:solidFill>
                  <a:srgbClr val="52606F"/>
                </a:solidFill>
                <a:latin typeface="Arial"/>
                <a:ea typeface="Arial"/>
                <a:cs typeface="Arial"/>
              </a:defRPr>
            </a:lvl1pPr>
            <a:lvl2pPr>
              <a:defRPr sz="1200" b="0">
                <a:solidFill>
                  <a:srgbClr val="52606F"/>
                </a:solidFill>
                <a:latin typeface="Arial"/>
                <a:ea typeface="Arial"/>
                <a:cs typeface="Arial"/>
              </a:defRPr>
            </a:lvl2pPr>
            <a:lvl3pPr>
              <a:defRPr sz="1200" b="0">
                <a:solidFill>
                  <a:srgbClr val="52606F"/>
                </a:solidFill>
                <a:latin typeface="Arial"/>
                <a:ea typeface="Arial"/>
                <a:cs typeface="Arial"/>
              </a:defRPr>
            </a:lvl3pPr>
            <a:lvl4pPr>
              <a:defRPr sz="1200" b="0">
                <a:solidFill>
                  <a:srgbClr val="52606F"/>
                </a:solidFill>
                <a:latin typeface="Arial"/>
                <a:ea typeface="Arial"/>
                <a:cs typeface="Arial"/>
              </a:defRPr>
            </a:lvl4pPr>
            <a:lvl5pPr>
              <a:defRPr sz="1200" b="0">
                <a:solidFill>
                  <a:srgbClr val="52606F"/>
                </a:solidFill>
                <a:latin typeface="Arial"/>
                <a:ea typeface="Arial"/>
                <a:cs typeface="Arial"/>
              </a:defRPr>
            </a:lvl5pPr>
            <a:lvl6pPr>
              <a:defRPr sz="1200" b="0">
                <a:solidFill>
                  <a:srgbClr val="52606F"/>
                </a:solidFill>
                <a:latin typeface="Arial"/>
                <a:ea typeface="Arial"/>
                <a:cs typeface="Arial"/>
              </a:defRPr>
            </a:lvl6pPr>
            <a:lvl7pPr>
              <a:defRPr sz="1200" b="0">
                <a:solidFill>
                  <a:srgbClr val="52606F"/>
                </a:solidFill>
                <a:latin typeface="Arial"/>
                <a:ea typeface="Arial"/>
                <a:cs typeface="Arial"/>
              </a:defRPr>
            </a:lvl7pPr>
            <a:lvl8pPr>
              <a:defRPr sz="1200" b="0">
                <a:solidFill>
                  <a:srgbClr val="52606F"/>
                </a:solidFill>
                <a:latin typeface="Arial"/>
                <a:ea typeface="Arial"/>
                <a:cs typeface="Arial"/>
              </a:defRPr>
            </a:lvl8pPr>
            <a:lvl9pPr>
              <a:defRPr sz="1200" b="0">
                <a:solidFill>
                  <a:srgbClr val="52606F"/>
                </a:solidFill>
                <a:latin typeface="Arial"/>
                <a:ea typeface="Arial"/>
                <a:cs typeface="Arial"/>
              </a:defRPr>
            </a:lvl9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pickup to confirmation</a:t>
            </a:r>
          </a:p>
        </p:txBody>
      </p:sp>
      <p:sp>
        <p:nvSpPr>
          <p:cNvPr id="13" name="">
            <a:extLst xmlns:a="http://schemas.openxmlformats.org/drawingml/2006/main">
              <a:ext uri="{FF2B5EF4-FFF2-40B4-BE49-F238E27FC236}">
                <a16:creationId xmlns:a16="http://schemas.microsoft.com/office/drawing/2014/main" id="{2E487B8A-9B64-4753-9129-5796B564C588}"/>
              </a:ext>
            </a:extLst>
          </p:cNvPr>
          <p:cNvSpPr>
            <a:spLocks xmlns:a="http://schemas.openxmlformats.org/drawingml/2006/main" noGrp="1"/>
          </p:cNvSpPr>
          <p:nvPr/>
        </p:nvSpPr>
        <p:spPr>
          <a:xfrm xmlns:a="http://schemas.openxmlformats.org/drawingml/2006/main">
            <a:off x="4305300" y="30289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vl1pPr>
              <a:defRPr sz="2550" b="1">
                <a:solidFill>
                  <a:srgbClr val="0E7C57"/>
                </a:solidFill>
                <a:latin typeface="Arial"/>
                <a:ea typeface="Arial"/>
                <a:cs typeface="Arial"/>
              </a:defRPr>
            </a:lvl1pPr>
            <a:lvl2pPr>
              <a:defRPr sz="2550" b="1">
                <a:solidFill>
                  <a:srgbClr val="0E7C57"/>
                </a:solidFill>
                <a:latin typeface="Arial"/>
                <a:ea typeface="Arial"/>
                <a:cs typeface="Arial"/>
              </a:defRPr>
            </a:lvl2pPr>
            <a:lvl3pPr>
              <a:defRPr sz="2550" b="1">
                <a:solidFill>
                  <a:srgbClr val="0E7C57"/>
                </a:solidFill>
                <a:latin typeface="Arial"/>
                <a:ea typeface="Arial"/>
                <a:cs typeface="Arial"/>
              </a:defRPr>
            </a:lvl3pPr>
            <a:lvl4pPr>
              <a:defRPr sz="2550" b="1">
                <a:solidFill>
                  <a:srgbClr val="0E7C57"/>
                </a:solidFill>
                <a:latin typeface="Arial"/>
                <a:ea typeface="Arial"/>
                <a:cs typeface="Arial"/>
              </a:defRPr>
            </a:lvl4pPr>
            <a:lvl5pPr>
              <a:defRPr sz="2550" b="1">
                <a:solidFill>
                  <a:srgbClr val="0E7C57"/>
                </a:solidFill>
                <a:latin typeface="Arial"/>
                <a:ea typeface="Arial"/>
                <a:cs typeface="Arial"/>
              </a:defRPr>
            </a:lvl5pPr>
            <a:lvl6pPr>
              <a:defRPr sz="2550" b="1">
                <a:solidFill>
                  <a:srgbClr val="0E7C57"/>
                </a:solidFill>
                <a:latin typeface="Arial"/>
                <a:ea typeface="Arial"/>
                <a:cs typeface="Arial"/>
              </a:defRPr>
            </a:lvl6pPr>
            <a:lvl7pPr>
              <a:defRPr sz="2550" b="1">
                <a:solidFill>
                  <a:srgbClr val="0E7C57"/>
                </a:solidFill>
                <a:latin typeface="Arial"/>
                <a:ea typeface="Arial"/>
                <a:cs typeface="Arial"/>
              </a:defRPr>
            </a:lvl7pPr>
            <a:lvl8pPr>
              <a:defRPr sz="2550" b="1">
                <a:solidFill>
                  <a:srgbClr val="0E7C57"/>
                </a:solidFill>
                <a:latin typeface="Arial"/>
                <a:ea typeface="Arial"/>
                <a:cs typeface="Arial"/>
              </a:defRPr>
            </a:lvl8pPr>
            <a:lvl9pPr>
              <a:defRPr sz="2550" b="1">
                <a:solidFill>
                  <a:srgbClr val="0E7C57"/>
                </a:solidFill>
                <a:latin typeface="Arial"/>
                <a:ea typeface="Arial"/>
                <a:cs typeface="Arial"/>
              </a:defRPr>
            </a:lvl9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15 of 15</a:t>
            </a:r>
          </a:p>
        </p:txBody>
      </p:sp>
      <p:sp>
        <p:nvSpPr>
          <p:cNvPr id="14" name="">
            <a:extLst xmlns:a="http://schemas.openxmlformats.org/drawingml/2006/main">
              <a:ext uri="{FF2B5EF4-FFF2-40B4-BE49-F238E27FC236}">
                <a16:creationId xmlns:a16="http://schemas.microsoft.com/office/drawing/2014/main" id="{9709CEF0-2A87-4051-BF53-1B40CBF988A8}"/>
              </a:ext>
            </a:extLst>
          </p:cNvPr>
          <p:cNvSpPr>
            <a:spLocks xmlns:a="http://schemas.openxmlformats.org/drawingml/2006/main" noGrp="1"/>
          </p:cNvSpPr>
          <p:nvPr/>
        </p:nvSpPr>
        <p:spPr>
          <a:xfrm xmlns:a="http://schemas.openxmlformats.org/drawingml/2006/main">
            <a:off x="4305300" y="34861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vl1pPr>
              <a:defRPr sz="1200" b="0">
                <a:solidFill>
                  <a:srgbClr val="52606F"/>
                </a:solidFill>
                <a:latin typeface="Arial"/>
                <a:ea typeface="Arial"/>
                <a:cs typeface="Arial"/>
              </a:defRPr>
            </a:lvl1pPr>
            <a:lvl2pPr>
              <a:defRPr sz="1200" b="0">
                <a:solidFill>
                  <a:srgbClr val="52606F"/>
                </a:solidFill>
                <a:latin typeface="Arial"/>
                <a:ea typeface="Arial"/>
                <a:cs typeface="Arial"/>
              </a:defRPr>
            </a:lvl2pPr>
            <a:lvl3pPr>
              <a:defRPr sz="1200" b="0">
                <a:solidFill>
                  <a:srgbClr val="52606F"/>
                </a:solidFill>
                <a:latin typeface="Arial"/>
                <a:ea typeface="Arial"/>
                <a:cs typeface="Arial"/>
              </a:defRPr>
            </a:lvl3pPr>
            <a:lvl4pPr>
              <a:defRPr sz="1200" b="0">
                <a:solidFill>
                  <a:srgbClr val="52606F"/>
                </a:solidFill>
                <a:latin typeface="Arial"/>
                <a:ea typeface="Arial"/>
                <a:cs typeface="Arial"/>
              </a:defRPr>
            </a:lvl4pPr>
            <a:lvl5pPr>
              <a:defRPr sz="1200" b="0">
                <a:solidFill>
                  <a:srgbClr val="52606F"/>
                </a:solidFill>
                <a:latin typeface="Arial"/>
                <a:ea typeface="Arial"/>
                <a:cs typeface="Arial"/>
              </a:defRPr>
            </a:lvl5pPr>
            <a:lvl6pPr>
              <a:defRPr sz="1200" b="0">
                <a:solidFill>
                  <a:srgbClr val="52606F"/>
                </a:solidFill>
                <a:latin typeface="Arial"/>
                <a:ea typeface="Arial"/>
                <a:cs typeface="Arial"/>
              </a:defRPr>
            </a:lvl6pPr>
            <a:lvl7pPr>
              <a:defRPr sz="1200" b="0">
                <a:solidFill>
                  <a:srgbClr val="52606F"/>
                </a:solidFill>
                <a:latin typeface="Arial"/>
                <a:ea typeface="Arial"/>
                <a:cs typeface="Arial"/>
              </a:defRPr>
            </a:lvl7pPr>
            <a:lvl8pPr>
              <a:defRPr sz="1200" b="0">
                <a:solidFill>
                  <a:srgbClr val="52606F"/>
                </a:solidFill>
                <a:latin typeface="Arial"/>
                <a:ea typeface="Arial"/>
                <a:cs typeface="Arial"/>
              </a:defRPr>
            </a:lvl8pPr>
            <a:lvl9pPr>
              <a:defRPr sz="1200" b="0">
                <a:solidFill>
                  <a:srgbClr val="52606F"/>
                </a:solidFill>
                <a:latin typeface="Arial"/>
                <a:ea typeface="Arial"/>
                <a:cs typeface="Arial"/>
              </a:defRPr>
            </a:lvl9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automated tests pass</a:t>
            </a:r>
          </a:p>
        </p:txBody>
      </p:sp>
      <p:sp>
        <p:nvSpPr>
          <p:cNvPr id="15" name="">
            <a:extLst xmlns:a="http://schemas.openxmlformats.org/drawingml/2006/main">
              <a:ext uri="{FF2B5EF4-FFF2-40B4-BE49-F238E27FC236}">
                <a16:creationId xmlns:a16="http://schemas.microsoft.com/office/drawing/2014/main" id="{7EF77A60-D08B-49EB-B8CA-F6F03411DEC1}"/>
              </a:ext>
            </a:extLst>
          </p:cNvPr>
          <p:cNvSpPr>
            <a:spLocks xmlns:a="http://schemas.openxmlformats.org/drawingml/2006/main" noGrp="1"/>
          </p:cNvSpPr>
          <p:nvPr/>
        </p:nvSpPr>
        <p:spPr>
          <a:xfrm xmlns:a="http://schemas.openxmlformats.org/drawingml/2006/main">
            <a:off x="7924800" y="30289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vl1pPr>
              <a:defRPr sz="2550" b="1">
                <a:solidFill>
                  <a:srgbClr val="0E7C57"/>
                </a:solidFill>
                <a:latin typeface="Arial"/>
                <a:ea typeface="Arial"/>
                <a:cs typeface="Arial"/>
              </a:defRPr>
            </a:lvl1pPr>
            <a:lvl2pPr>
              <a:defRPr sz="2550" b="1">
                <a:solidFill>
                  <a:srgbClr val="0E7C57"/>
                </a:solidFill>
                <a:latin typeface="Arial"/>
                <a:ea typeface="Arial"/>
                <a:cs typeface="Arial"/>
              </a:defRPr>
            </a:lvl2pPr>
            <a:lvl3pPr>
              <a:defRPr sz="2550" b="1">
                <a:solidFill>
                  <a:srgbClr val="0E7C57"/>
                </a:solidFill>
                <a:latin typeface="Arial"/>
                <a:ea typeface="Arial"/>
                <a:cs typeface="Arial"/>
              </a:defRPr>
            </a:lvl3pPr>
            <a:lvl4pPr>
              <a:defRPr sz="2550" b="1">
                <a:solidFill>
                  <a:srgbClr val="0E7C57"/>
                </a:solidFill>
                <a:latin typeface="Arial"/>
                <a:ea typeface="Arial"/>
                <a:cs typeface="Arial"/>
              </a:defRPr>
            </a:lvl4pPr>
            <a:lvl5pPr>
              <a:defRPr sz="2550" b="1">
                <a:solidFill>
                  <a:srgbClr val="0E7C57"/>
                </a:solidFill>
                <a:latin typeface="Arial"/>
                <a:ea typeface="Arial"/>
                <a:cs typeface="Arial"/>
              </a:defRPr>
            </a:lvl5pPr>
            <a:lvl6pPr>
              <a:defRPr sz="2550" b="1">
                <a:solidFill>
                  <a:srgbClr val="0E7C57"/>
                </a:solidFill>
                <a:latin typeface="Arial"/>
                <a:ea typeface="Arial"/>
                <a:cs typeface="Arial"/>
              </a:defRPr>
            </a:lvl6pPr>
            <a:lvl7pPr>
              <a:defRPr sz="2550" b="1">
                <a:solidFill>
                  <a:srgbClr val="0E7C57"/>
                </a:solidFill>
                <a:latin typeface="Arial"/>
                <a:ea typeface="Arial"/>
                <a:cs typeface="Arial"/>
              </a:defRPr>
            </a:lvl7pPr>
            <a:lvl8pPr>
              <a:defRPr sz="2550" b="1">
                <a:solidFill>
                  <a:srgbClr val="0E7C57"/>
                </a:solidFill>
                <a:latin typeface="Arial"/>
                <a:ea typeface="Arial"/>
                <a:cs typeface="Arial"/>
              </a:defRPr>
            </a:lvl8pPr>
            <a:lvl9pPr>
              <a:defRPr sz="2550" b="1">
                <a:solidFill>
                  <a:srgbClr val="0E7C57"/>
                </a:solidFill>
                <a:latin typeface="Arial"/>
                <a:ea typeface="Arial"/>
                <a:cs typeface="Arial"/>
              </a:defRPr>
            </a:lvl9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6</a:t>
            </a:r>
          </a:p>
        </p:txBody>
      </p:sp>
      <p:sp>
        <p:nvSpPr>
          <p:cNvPr id="16" name="">
            <a:extLst xmlns:a="http://schemas.openxmlformats.org/drawingml/2006/main">
              <a:ext uri="{FF2B5EF4-FFF2-40B4-BE49-F238E27FC236}">
                <a16:creationId xmlns:a16="http://schemas.microsoft.com/office/drawing/2014/main" id="{4DDD1441-A57B-4AFC-88EA-9B34FCF5EDCD}"/>
              </a:ext>
            </a:extLst>
          </p:cNvPr>
          <p:cNvSpPr>
            <a:spLocks xmlns:a="http://schemas.openxmlformats.org/drawingml/2006/main" noGrp="1"/>
          </p:cNvSpPr>
          <p:nvPr/>
        </p:nvSpPr>
        <p:spPr>
          <a:xfrm xmlns:a="http://schemas.openxmlformats.org/drawingml/2006/main">
            <a:off x="7924800" y="34861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vl1pPr>
              <a:defRPr sz="1200" b="0">
                <a:solidFill>
                  <a:srgbClr val="52606F"/>
                </a:solidFill>
                <a:latin typeface="Arial"/>
                <a:ea typeface="Arial"/>
                <a:cs typeface="Arial"/>
              </a:defRPr>
            </a:lvl1pPr>
            <a:lvl2pPr>
              <a:defRPr sz="1200" b="0">
                <a:solidFill>
                  <a:srgbClr val="52606F"/>
                </a:solidFill>
                <a:latin typeface="Arial"/>
                <a:ea typeface="Arial"/>
                <a:cs typeface="Arial"/>
              </a:defRPr>
            </a:lvl2pPr>
            <a:lvl3pPr>
              <a:defRPr sz="1200" b="0">
                <a:solidFill>
                  <a:srgbClr val="52606F"/>
                </a:solidFill>
                <a:latin typeface="Arial"/>
                <a:ea typeface="Arial"/>
                <a:cs typeface="Arial"/>
              </a:defRPr>
            </a:lvl3pPr>
            <a:lvl4pPr>
              <a:defRPr sz="1200" b="0">
                <a:solidFill>
                  <a:srgbClr val="52606F"/>
                </a:solidFill>
                <a:latin typeface="Arial"/>
                <a:ea typeface="Arial"/>
                <a:cs typeface="Arial"/>
              </a:defRPr>
            </a:lvl4pPr>
            <a:lvl5pPr>
              <a:defRPr sz="1200" b="0">
                <a:solidFill>
                  <a:srgbClr val="52606F"/>
                </a:solidFill>
                <a:latin typeface="Arial"/>
                <a:ea typeface="Arial"/>
                <a:cs typeface="Arial"/>
              </a:defRPr>
            </a:lvl5pPr>
            <a:lvl6pPr>
              <a:defRPr sz="1200" b="0">
                <a:solidFill>
                  <a:srgbClr val="52606F"/>
                </a:solidFill>
                <a:latin typeface="Arial"/>
                <a:ea typeface="Arial"/>
                <a:cs typeface="Arial"/>
              </a:defRPr>
            </a:lvl6pPr>
            <a:lvl7pPr>
              <a:defRPr sz="1200" b="0">
                <a:solidFill>
                  <a:srgbClr val="52606F"/>
                </a:solidFill>
                <a:latin typeface="Arial"/>
                <a:ea typeface="Arial"/>
                <a:cs typeface="Arial"/>
              </a:defRPr>
            </a:lvl7pPr>
            <a:lvl8pPr>
              <a:defRPr sz="1200" b="0">
                <a:solidFill>
                  <a:srgbClr val="52606F"/>
                </a:solidFill>
                <a:latin typeface="Arial"/>
                <a:ea typeface="Arial"/>
                <a:cs typeface="Arial"/>
              </a:defRPr>
            </a:lvl8pPr>
            <a:lvl9pPr>
              <a:defRPr sz="1200" b="0">
                <a:solidFill>
                  <a:srgbClr val="52606F"/>
                </a:solidFill>
                <a:latin typeface="Arial"/>
                <a:ea typeface="Arial"/>
                <a:cs typeface="Arial"/>
              </a:defRPr>
            </a:lvl9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recipient organisations</a:t>
            </a:r>
          </a:p>
        </p:txBody>
      </p:sp>
      <p:sp>
        <p:nvSpPr>
          <p:cNvPr id="17" name="">
            <a:extLst xmlns:a="http://schemas.openxmlformats.org/drawingml/2006/main">
              <a:ext uri="{FF2B5EF4-FFF2-40B4-BE49-F238E27FC236}">
                <a16:creationId xmlns:a16="http://schemas.microsoft.com/office/drawing/2014/main" id="{8BC7E367-E76A-4088-A138-5D86229F1A4E}"/>
              </a:ext>
            </a:extLst>
          </p:cNvPr>
          <p:cNvSpPr>
            <a:spLocks xmlns:a="http://schemas.openxmlformats.org/drawingml/2006/main" noGrp="1"/>
          </p:cNvSpPr>
          <p:nvPr/>
        </p:nvSpPr>
        <p:spPr>
          <a:xfrm xmlns:a="http://schemas.openxmlformats.org/drawingml/2006/main">
            <a:off x="685800" y="4305300"/>
            <a:ext cx="108204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vl1pPr>
              <a:defRPr sz="1275">
                <a:solidFill>
                  <a:srgbClr val="131A24"/>
                </a:solidFill>
                <a:latin typeface="Arial"/>
                <a:ea typeface="Arial"/>
                <a:cs typeface="Arial"/>
              </a:defRPr>
            </a:lvl1pPr>
            <a:lvl2pPr>
              <a:defRPr sz="1275">
                <a:solidFill>
                  <a:srgbClr val="131A24"/>
                </a:solidFill>
                <a:latin typeface="Arial"/>
                <a:ea typeface="Arial"/>
                <a:cs typeface="Arial"/>
              </a:defRPr>
            </a:lvl2pPr>
            <a:lvl3pPr>
              <a:defRPr sz="1275">
                <a:solidFill>
                  <a:srgbClr val="131A24"/>
                </a:solidFill>
                <a:latin typeface="Arial"/>
                <a:ea typeface="Arial"/>
                <a:cs typeface="Arial"/>
              </a:defRPr>
            </a:lvl3pPr>
            <a:lvl4pPr>
              <a:defRPr sz="1275">
                <a:solidFill>
                  <a:srgbClr val="131A24"/>
                </a:solidFill>
                <a:latin typeface="Arial"/>
                <a:ea typeface="Arial"/>
                <a:cs typeface="Arial"/>
              </a:defRPr>
            </a:lvl4pPr>
            <a:lvl5pPr>
              <a:defRPr sz="1275">
                <a:solidFill>
                  <a:srgbClr val="131A24"/>
                </a:solidFill>
                <a:latin typeface="Arial"/>
                <a:ea typeface="Arial"/>
                <a:cs typeface="Arial"/>
              </a:defRPr>
            </a:lvl5pPr>
            <a:lvl6pPr>
              <a:defRPr sz="1275">
                <a:solidFill>
                  <a:srgbClr val="131A24"/>
                </a:solidFill>
                <a:latin typeface="Arial"/>
                <a:ea typeface="Arial"/>
                <a:cs typeface="Arial"/>
              </a:defRPr>
            </a:lvl6pPr>
            <a:lvl7pPr>
              <a:defRPr sz="1275">
                <a:solidFill>
                  <a:srgbClr val="131A24"/>
                </a:solidFill>
                <a:latin typeface="Arial"/>
                <a:ea typeface="Arial"/>
                <a:cs typeface="Arial"/>
              </a:defRPr>
            </a:lvl7pPr>
            <a:lvl8pPr>
              <a:defRPr sz="1275">
                <a:solidFill>
                  <a:srgbClr val="131A24"/>
                </a:solidFill>
                <a:latin typeface="Arial"/>
                <a:ea typeface="Arial"/>
                <a:cs typeface="Arial"/>
              </a:defRPr>
            </a:lvl8pPr>
            <a:lvl9pPr>
              <a:defRPr sz="1275">
                <a:solidFill>
                  <a:srgbClr val="131A24"/>
                </a:solidFill>
                <a:latin typeface="Arial"/>
                <a:ea typeface="Arial"/>
                <a:cs typeface="Arial"/>
              </a:defRPr>
            </a:lvl9pPr>
          </a:lstStyle>
          <a:p xmlns:a="http://schemas.openxmlformats.org/drawingml/2006/main">
            <a:pPr marL="228600" indent="-114300">
              <a:spcAft>
                <a:spcPts val="1200"/>
              </a:spcAft>
              <a:buChar char="•"/>
              <a:defRPr sz="1275">
                <a:solidFill>
                  <a:srgbClr val="131A24"/>
                </a:solidFill>
                <a:latin typeface="Arial"/>
                <a:ea typeface="Arial"/>
                <a:cs typeface="Arial"/>
              </a:defRPr>
            </a:pPr>
            <a:r>
              <a:rPr sz="1275">
                <a:solidFill>
                  <a:srgbClr val="131A24"/>
                </a:solidFill>
                <a:latin typeface="Arial"/>
                <a:ea typeface="Arial"/>
                <a:cs typeface="Arial"/>
              </a:rPr>
              <a:t>Fifteen automated tests cover the eligibility constraints, scoring, fairness, the arrival rule, access control, automatic matching, override and volunteer assignment.</a:t>
            </a:r>
          </a:p>
          <a:p xmlns:a="http://schemas.openxmlformats.org/drawingml/2006/main">
            <a:pPr marL="228600" indent="-114300">
              <a:spcAft>
                <a:spcPts val="1200"/>
              </a:spcAft>
              <a:buChar char="•"/>
              <a:defRPr sz="1275">
                <a:solidFill>
                  <a:srgbClr val="131A24"/>
                </a:solidFill>
                <a:latin typeface="Arial"/>
                <a:ea typeface="Arial"/>
                <a:cs typeface="Arial"/>
              </a:defRPr>
            </a:pPr>
            <a:r>
              <a:rPr sz="1275">
                <a:solidFill>
                  <a:srgbClr val="131A24"/>
                </a:solidFill>
                <a:latin typeface="Arial"/>
                <a:ea typeface="Arial"/>
                <a:cs typeface="Arial"/>
              </a:rPr>
              <a:t>Eighteen API checks confirm the role restrictions, including rejection of unauthorised requests with 401 and 403 responses.</a:t>
            </a:r>
          </a:p>
          <a:p xmlns:a="http://schemas.openxmlformats.org/drawingml/2006/main">
            <a:pPr marL="228600" indent="-114300">
              <a:spcAft>
                <a:spcPts val="1200"/>
              </a:spcAft>
              <a:buChar char="•"/>
              <a:defRPr sz="1275">
                <a:solidFill>
                  <a:srgbClr val="131A24"/>
                </a:solidFill>
                <a:latin typeface="Arial"/>
                <a:ea typeface="Arial"/>
                <a:cs typeface="Arial"/>
              </a:defRPr>
            </a:pPr>
            <a:r>
              <a:rPr sz="1275">
                <a:solidFill>
                  <a:srgbClr val="131A24"/>
                </a:solidFill>
                <a:latin typeface="Arial"/>
                <a:ea typeface="Arial"/>
                <a:cs typeface="Arial"/>
              </a:rPr>
              <a:t>A complete rescue has been executed end to end, including a recipient change, delivery and confirmation.</a:t>
            </a:r>
          </a:p>
        </p:txBody>
      </p:sp>
    </p:spTree>
    <p:extLst>
      <p:ext uri="{BB962C8B-B14F-4D97-AF65-F5344CB8AC3E}">
        <p14:creationId xmlns:p14="http://schemas.microsoft.com/office/powerpoint/2010/main" val="10251966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8DD50D-4735-40A1-BFB8-D969FFA0BA14}"/>
              </a:ext>
            </a:extLst>
          </p:cNvPr>
          <p:cNvSpPr>
            <a:spLocks xmlns:a="http://schemas.openxmlformats.org/drawingml/2006/main" noGrp="1"/>
          </p:cNvSpPr>
          <p:nvPr/>
        </p:nvSpPr>
        <p:spPr>
          <a:xfrm xmlns:a="http://schemas.openxmlformats.org/drawingml/2006/main">
            <a:off x="9906000" y="64389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vl1pPr>
              <a:defRPr sz="975" b="0">
                <a:solidFill>
                  <a:srgbClr val="8A94A3"/>
                </a:solidFill>
                <a:latin typeface="Arial"/>
                <a:ea typeface="Arial"/>
                <a:cs typeface="Arial"/>
              </a:defRPr>
            </a:lvl1pPr>
            <a:lvl2pPr>
              <a:defRPr sz="975" b="0">
                <a:solidFill>
                  <a:srgbClr val="8A94A3"/>
                </a:solidFill>
                <a:latin typeface="Arial"/>
                <a:ea typeface="Arial"/>
                <a:cs typeface="Arial"/>
              </a:defRPr>
            </a:lvl2pPr>
            <a:lvl3pPr>
              <a:defRPr sz="975" b="0">
                <a:solidFill>
                  <a:srgbClr val="8A94A3"/>
                </a:solidFill>
                <a:latin typeface="Arial"/>
                <a:ea typeface="Arial"/>
                <a:cs typeface="Arial"/>
              </a:defRPr>
            </a:lvl3pPr>
            <a:lvl4pPr>
              <a:defRPr sz="975" b="0">
                <a:solidFill>
                  <a:srgbClr val="8A94A3"/>
                </a:solidFill>
                <a:latin typeface="Arial"/>
                <a:ea typeface="Arial"/>
                <a:cs typeface="Arial"/>
              </a:defRPr>
            </a:lvl4pPr>
            <a:lvl5pPr>
              <a:defRPr sz="975" b="0">
                <a:solidFill>
                  <a:srgbClr val="8A94A3"/>
                </a:solidFill>
                <a:latin typeface="Arial"/>
                <a:ea typeface="Arial"/>
                <a:cs typeface="Arial"/>
              </a:defRPr>
            </a:lvl5pPr>
            <a:lvl6pPr>
              <a:defRPr sz="975" b="0">
                <a:solidFill>
                  <a:srgbClr val="8A94A3"/>
                </a:solidFill>
                <a:latin typeface="Arial"/>
                <a:ea typeface="Arial"/>
                <a:cs typeface="Arial"/>
              </a:defRPr>
            </a:lvl6pPr>
            <a:lvl7pPr>
              <a:defRPr sz="975" b="0">
                <a:solidFill>
                  <a:srgbClr val="8A94A3"/>
                </a:solidFill>
                <a:latin typeface="Arial"/>
                <a:ea typeface="Arial"/>
                <a:cs typeface="Arial"/>
              </a:defRPr>
            </a:lvl7pPr>
            <a:lvl8pPr>
              <a:defRPr sz="975" b="0">
                <a:solidFill>
                  <a:srgbClr val="8A94A3"/>
                </a:solidFill>
                <a:latin typeface="Arial"/>
                <a:ea typeface="Arial"/>
                <a:cs typeface="Arial"/>
              </a:defRPr>
            </a:lvl8pPr>
            <a:lvl9pPr>
              <a:defRPr sz="975" b="0">
                <a:solidFill>
                  <a:srgbClr val="8A94A3"/>
                </a:solidFill>
                <a:latin typeface="Arial"/>
                <a:ea typeface="Arial"/>
                <a:cs typeface="Arial"/>
              </a:defRPr>
            </a:lvl9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11 / 11</a:t>
            </a:r>
          </a:p>
        </p:txBody>
      </p:sp>
      <p:sp>
        <p:nvSpPr>
          <p:cNvPr id="2" name="slide-title">
            <a:extLst xmlns:a="http://schemas.openxmlformats.org/drawingml/2006/main">
              <a:ext uri="{FF2B5EF4-FFF2-40B4-BE49-F238E27FC236}">
                <a16:creationId xmlns:a16="http://schemas.microsoft.com/office/drawing/2014/main" id="{172F1967-557B-49E8-A204-8DBA0058082E}"/>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vl1pPr>
              <a:defRPr sz="3000" b="1">
                <a:solidFill>
                  <a:srgbClr val="131A24"/>
                </a:solidFill>
                <a:latin typeface="Arial"/>
                <a:ea typeface="Arial"/>
                <a:cs typeface="Arial"/>
              </a:defRPr>
            </a:lvl1pPr>
            <a:lvl2pPr>
              <a:defRPr sz="3000" b="1">
                <a:solidFill>
                  <a:srgbClr val="131A24"/>
                </a:solidFill>
                <a:latin typeface="Arial"/>
                <a:ea typeface="Arial"/>
                <a:cs typeface="Arial"/>
              </a:defRPr>
            </a:lvl2pPr>
            <a:lvl3pPr>
              <a:defRPr sz="3000" b="1">
                <a:solidFill>
                  <a:srgbClr val="131A24"/>
                </a:solidFill>
                <a:latin typeface="Arial"/>
                <a:ea typeface="Arial"/>
                <a:cs typeface="Arial"/>
              </a:defRPr>
            </a:lvl3pPr>
            <a:lvl4pPr>
              <a:defRPr sz="3000" b="1">
                <a:solidFill>
                  <a:srgbClr val="131A24"/>
                </a:solidFill>
                <a:latin typeface="Arial"/>
                <a:ea typeface="Arial"/>
                <a:cs typeface="Arial"/>
              </a:defRPr>
            </a:lvl4pPr>
            <a:lvl5pPr>
              <a:defRPr sz="3000" b="1">
                <a:solidFill>
                  <a:srgbClr val="131A24"/>
                </a:solidFill>
                <a:latin typeface="Arial"/>
                <a:ea typeface="Arial"/>
                <a:cs typeface="Arial"/>
              </a:defRPr>
            </a:lvl5pPr>
            <a:lvl6pPr>
              <a:defRPr sz="3000" b="1">
                <a:solidFill>
                  <a:srgbClr val="131A24"/>
                </a:solidFill>
                <a:latin typeface="Arial"/>
                <a:ea typeface="Arial"/>
                <a:cs typeface="Arial"/>
              </a:defRPr>
            </a:lvl6pPr>
            <a:lvl7pPr>
              <a:defRPr sz="3000" b="1">
                <a:solidFill>
                  <a:srgbClr val="131A24"/>
                </a:solidFill>
                <a:latin typeface="Arial"/>
                <a:ea typeface="Arial"/>
                <a:cs typeface="Arial"/>
              </a:defRPr>
            </a:lvl7pPr>
            <a:lvl8pPr>
              <a:defRPr sz="3000" b="1">
                <a:solidFill>
                  <a:srgbClr val="131A24"/>
                </a:solidFill>
                <a:latin typeface="Arial"/>
                <a:ea typeface="Arial"/>
                <a:cs typeface="Arial"/>
              </a:defRPr>
            </a:lvl8pPr>
            <a:lvl9pPr>
              <a:defRPr sz="3000" b="1">
                <a:solidFill>
                  <a:srgbClr val="131A24"/>
                </a:solidFill>
                <a:latin typeface="Arial"/>
                <a:ea typeface="Arial"/>
                <a:cs typeface="Arial"/>
              </a:defRPr>
            </a:lvl9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Challenges, limitations and future improvements</a:t>
            </a:r>
          </a:p>
        </p:txBody>
      </p:sp>
      <p:sp>
        <p:nvSpPr>
          <p:cNvPr id="3" name="slide-lead">
            <a:extLst xmlns:a="http://schemas.openxmlformats.org/drawingml/2006/main">
              <a:ext uri="{FF2B5EF4-FFF2-40B4-BE49-F238E27FC236}">
                <a16:creationId xmlns:a16="http://schemas.microsoft.com/office/drawing/2014/main" id="{85335B1A-97DE-439C-BEE0-502B75B1B116}"/>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vl1pPr>
              <a:defRPr sz="1575" b="0">
                <a:solidFill>
                  <a:srgbClr val="52606F"/>
                </a:solidFill>
                <a:latin typeface="Arial"/>
                <a:ea typeface="Arial"/>
                <a:cs typeface="Arial"/>
              </a:defRPr>
            </a:lvl1pPr>
            <a:lvl2pPr>
              <a:defRPr sz="1575" b="0">
                <a:solidFill>
                  <a:srgbClr val="52606F"/>
                </a:solidFill>
                <a:latin typeface="Arial"/>
                <a:ea typeface="Arial"/>
                <a:cs typeface="Arial"/>
              </a:defRPr>
            </a:lvl2pPr>
            <a:lvl3pPr>
              <a:defRPr sz="1575" b="0">
                <a:solidFill>
                  <a:srgbClr val="52606F"/>
                </a:solidFill>
                <a:latin typeface="Arial"/>
                <a:ea typeface="Arial"/>
                <a:cs typeface="Arial"/>
              </a:defRPr>
            </a:lvl3pPr>
            <a:lvl4pPr>
              <a:defRPr sz="1575" b="0">
                <a:solidFill>
                  <a:srgbClr val="52606F"/>
                </a:solidFill>
                <a:latin typeface="Arial"/>
                <a:ea typeface="Arial"/>
                <a:cs typeface="Arial"/>
              </a:defRPr>
            </a:lvl4pPr>
            <a:lvl5pPr>
              <a:defRPr sz="1575" b="0">
                <a:solidFill>
                  <a:srgbClr val="52606F"/>
                </a:solidFill>
                <a:latin typeface="Arial"/>
                <a:ea typeface="Arial"/>
                <a:cs typeface="Arial"/>
              </a:defRPr>
            </a:lvl5pPr>
            <a:lvl6pPr>
              <a:defRPr sz="1575" b="0">
                <a:solidFill>
                  <a:srgbClr val="52606F"/>
                </a:solidFill>
                <a:latin typeface="Arial"/>
                <a:ea typeface="Arial"/>
                <a:cs typeface="Arial"/>
              </a:defRPr>
            </a:lvl6pPr>
            <a:lvl7pPr>
              <a:defRPr sz="1575" b="0">
                <a:solidFill>
                  <a:srgbClr val="52606F"/>
                </a:solidFill>
                <a:latin typeface="Arial"/>
                <a:ea typeface="Arial"/>
                <a:cs typeface="Arial"/>
              </a:defRPr>
            </a:lvl7pPr>
            <a:lvl8pPr>
              <a:defRPr sz="1575" b="0">
                <a:solidFill>
                  <a:srgbClr val="52606F"/>
                </a:solidFill>
                <a:latin typeface="Arial"/>
                <a:ea typeface="Arial"/>
                <a:cs typeface="Arial"/>
              </a:defRPr>
            </a:lvl8pPr>
            <a:lvl9pPr>
              <a:defRPr sz="1575" b="0">
                <a:solidFill>
                  <a:srgbClr val="52606F"/>
                </a:solidFill>
                <a:latin typeface="Arial"/>
                <a:ea typeface="Arial"/>
                <a:cs typeface="Arial"/>
              </a:defRPr>
            </a:lvl9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What was difficult to get right, where the current release stops, and what comes next.</a:t>
            </a:r>
          </a:p>
        </p:txBody>
      </p:sp>
      <p:sp>
        <p:nvSpPr>
          <p:cNvPr id="4" name="title-rule">
            <a:extLst xmlns:a="http://schemas.openxmlformats.org/drawingml/2006/main">
              <a:ext uri="{FF2B5EF4-FFF2-40B4-BE49-F238E27FC236}">
                <a16:creationId xmlns:a16="http://schemas.microsoft.com/office/drawing/2014/main" id="{01D8266F-7B5E-47E2-87D4-AFB4D198E3DC}"/>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9F3552-12F7-4228-9D4B-757C7DC8E0C7}"/>
              </a:ext>
            </a:extLst>
          </p:cNvPr>
          <p:cNvSpPr>
            <a:spLocks xmlns:a="http://schemas.openxmlformats.org/drawingml/2006/main" noGrp="1"/>
          </p:cNvSpPr>
          <p:nvPr/>
        </p:nvSpPr>
        <p:spPr>
          <a:xfrm xmlns:a="http://schemas.openxmlformats.org/drawingml/2006/main">
            <a:off x="685800" y="17716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b="1">
                <a:solidFill>
                  <a:srgbClr val="131A24"/>
                </a:solidFill>
                <a:latin typeface="Arial"/>
                <a:ea typeface="Arial"/>
                <a:cs typeface="Arial"/>
              </a:defRPr>
            </a:defPPr>
            <a:lvl1pPr>
              <a:defRPr sz="1275" b="1">
                <a:solidFill>
                  <a:srgbClr val="131A24"/>
                </a:solidFill>
                <a:latin typeface="Arial"/>
                <a:ea typeface="Arial"/>
                <a:cs typeface="Arial"/>
              </a:defRPr>
            </a:lvl1pPr>
            <a:lvl2pPr>
              <a:defRPr sz="1275" b="1">
                <a:solidFill>
                  <a:srgbClr val="131A24"/>
                </a:solidFill>
                <a:latin typeface="Arial"/>
                <a:ea typeface="Arial"/>
                <a:cs typeface="Arial"/>
              </a:defRPr>
            </a:lvl2pPr>
            <a:lvl3pPr>
              <a:defRPr sz="1275" b="1">
                <a:solidFill>
                  <a:srgbClr val="131A24"/>
                </a:solidFill>
                <a:latin typeface="Arial"/>
                <a:ea typeface="Arial"/>
                <a:cs typeface="Arial"/>
              </a:defRPr>
            </a:lvl3pPr>
            <a:lvl4pPr>
              <a:defRPr sz="1275" b="1">
                <a:solidFill>
                  <a:srgbClr val="131A24"/>
                </a:solidFill>
                <a:latin typeface="Arial"/>
                <a:ea typeface="Arial"/>
                <a:cs typeface="Arial"/>
              </a:defRPr>
            </a:lvl4pPr>
            <a:lvl5pPr>
              <a:defRPr sz="1275" b="1">
                <a:solidFill>
                  <a:srgbClr val="131A24"/>
                </a:solidFill>
                <a:latin typeface="Arial"/>
                <a:ea typeface="Arial"/>
                <a:cs typeface="Arial"/>
              </a:defRPr>
            </a:lvl5pPr>
            <a:lvl6pPr>
              <a:defRPr sz="1275" b="1">
                <a:solidFill>
                  <a:srgbClr val="131A24"/>
                </a:solidFill>
                <a:latin typeface="Arial"/>
                <a:ea typeface="Arial"/>
                <a:cs typeface="Arial"/>
              </a:defRPr>
            </a:lvl6pPr>
            <a:lvl7pPr>
              <a:defRPr sz="1275" b="1">
                <a:solidFill>
                  <a:srgbClr val="131A24"/>
                </a:solidFill>
                <a:latin typeface="Arial"/>
                <a:ea typeface="Arial"/>
                <a:cs typeface="Arial"/>
              </a:defRPr>
            </a:lvl7pPr>
            <a:lvl8pPr>
              <a:defRPr sz="1275" b="1">
                <a:solidFill>
                  <a:srgbClr val="131A24"/>
                </a:solidFill>
                <a:latin typeface="Arial"/>
                <a:ea typeface="Arial"/>
                <a:cs typeface="Arial"/>
              </a:defRPr>
            </a:lvl8pPr>
            <a:lvl9pPr>
              <a:defRPr sz="1275" b="1">
                <a:solidFill>
                  <a:srgbClr val="131A24"/>
                </a:solidFill>
                <a:latin typeface="Arial"/>
                <a:ea typeface="Arial"/>
                <a:cs typeface="Arial"/>
              </a:defRPr>
            </a:lvl9pPr>
          </a:lstStyle>
          <a:p xmlns:a="http://schemas.openxmlformats.org/drawingml/2006/main">
            <a:pPr>
              <a:defRPr sz="1275" b="1">
                <a:solidFill>
                  <a:srgbClr val="131A24"/>
                </a:solidFill>
                <a:latin typeface="Arial"/>
                <a:ea typeface="Arial"/>
                <a:cs typeface="Arial"/>
              </a:defRPr>
            </a:pPr>
            <a:r>
              <a:rPr sz="1275" b="1">
                <a:solidFill>
                  <a:srgbClr val="131A24"/>
                </a:solidFill>
                <a:latin typeface="Arial"/>
                <a:ea typeface="Arial"/>
                <a:cs typeface="Arial"/>
              </a:rPr>
              <a:t>Challenges faced</a:t>
            </a:r>
          </a:p>
        </p:txBody>
      </p:sp>
      <p:sp>
        <p:nvSpPr>
          <p:cNvPr id="6" name="">
            <a:extLst xmlns:a="http://schemas.openxmlformats.org/drawingml/2006/main">
              <a:ext uri="{FF2B5EF4-FFF2-40B4-BE49-F238E27FC236}">
                <a16:creationId xmlns:a16="http://schemas.microsoft.com/office/drawing/2014/main" id="{4000B0C3-705A-4FD6-A1D3-6DA474CFF422}"/>
              </a:ext>
            </a:extLst>
          </p:cNvPr>
          <p:cNvSpPr>
            <a:spLocks xmlns:a="http://schemas.openxmlformats.org/drawingml/2006/main" noGrp="1"/>
          </p:cNvSpPr>
          <p:nvPr/>
        </p:nvSpPr>
        <p:spPr>
          <a:xfrm xmlns:a="http://schemas.openxmlformats.org/drawingml/2006/main">
            <a:off x="685800" y="2133600"/>
            <a:ext cx="4953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vl1pPr>
              <a:defRPr sz="1275">
                <a:solidFill>
                  <a:srgbClr val="131A24"/>
                </a:solidFill>
                <a:latin typeface="Arial"/>
                <a:ea typeface="Arial"/>
                <a:cs typeface="Arial"/>
              </a:defRPr>
            </a:lvl1pPr>
            <a:lvl2pPr>
              <a:defRPr sz="1275">
                <a:solidFill>
                  <a:srgbClr val="131A24"/>
                </a:solidFill>
                <a:latin typeface="Arial"/>
                <a:ea typeface="Arial"/>
                <a:cs typeface="Arial"/>
              </a:defRPr>
            </a:lvl2pPr>
            <a:lvl3pPr>
              <a:defRPr sz="1275">
                <a:solidFill>
                  <a:srgbClr val="131A24"/>
                </a:solidFill>
                <a:latin typeface="Arial"/>
                <a:ea typeface="Arial"/>
                <a:cs typeface="Arial"/>
              </a:defRPr>
            </a:lvl3pPr>
            <a:lvl4pPr>
              <a:defRPr sz="1275">
                <a:solidFill>
                  <a:srgbClr val="131A24"/>
                </a:solidFill>
                <a:latin typeface="Arial"/>
                <a:ea typeface="Arial"/>
                <a:cs typeface="Arial"/>
              </a:defRPr>
            </a:lvl4pPr>
            <a:lvl5pPr>
              <a:defRPr sz="1275">
                <a:solidFill>
                  <a:srgbClr val="131A24"/>
                </a:solidFill>
                <a:latin typeface="Arial"/>
                <a:ea typeface="Arial"/>
                <a:cs typeface="Arial"/>
              </a:defRPr>
            </a:lvl5pPr>
            <a:lvl6pPr>
              <a:defRPr sz="1275">
                <a:solidFill>
                  <a:srgbClr val="131A24"/>
                </a:solidFill>
                <a:latin typeface="Arial"/>
                <a:ea typeface="Arial"/>
                <a:cs typeface="Arial"/>
              </a:defRPr>
            </a:lvl6pPr>
            <a:lvl7pPr>
              <a:defRPr sz="1275">
                <a:solidFill>
                  <a:srgbClr val="131A24"/>
                </a:solidFill>
                <a:latin typeface="Arial"/>
                <a:ea typeface="Arial"/>
                <a:cs typeface="Arial"/>
              </a:defRPr>
            </a:lvl7pPr>
            <a:lvl8pPr>
              <a:defRPr sz="1275">
                <a:solidFill>
                  <a:srgbClr val="131A24"/>
                </a:solidFill>
                <a:latin typeface="Arial"/>
                <a:ea typeface="Arial"/>
                <a:cs typeface="Arial"/>
              </a:defRPr>
            </a:lvl8pPr>
            <a:lvl9pPr>
              <a:defRPr sz="1275">
                <a:solidFill>
                  <a:srgbClr val="131A24"/>
                </a:solidFill>
                <a:latin typeface="Arial"/>
                <a:ea typeface="Arial"/>
                <a:cs typeface="Arial"/>
              </a:defRPr>
            </a:lvl9pPr>
          </a:lstStyle>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Food safety had to become a hard filter. A good score cannot excuse food that arrives after its safe window closes.</a:t>
            </a:r>
          </a:p>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Six factors had to stay explainable. Every weight, exclusion and override is visible in the decision record.</a:t>
            </a:r>
          </a:p>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Four roles share one workflow, so the API checks access and record ownership for every request.</a:t>
            </a:r>
          </a:p>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A rejection or recipient change has to leave the donation, volunteer and storage figures consistent.</a:t>
            </a:r>
          </a:p>
        </p:txBody>
      </p:sp>
      <p:sp>
        <p:nvSpPr>
          <p:cNvPr id="7" name="">
            <a:extLst xmlns:a="http://schemas.openxmlformats.org/drawingml/2006/main">
              <a:ext uri="{FF2B5EF4-FFF2-40B4-BE49-F238E27FC236}">
                <a16:creationId xmlns:a16="http://schemas.microsoft.com/office/drawing/2014/main" id="{03F3D8AE-7FA7-4258-A39D-B54DBAFB018D}"/>
              </a:ext>
            </a:extLst>
          </p:cNvPr>
          <p:cNvSpPr>
            <a:spLocks xmlns:a="http://schemas.openxmlformats.org/drawingml/2006/main" noGrp="1"/>
          </p:cNvSpPr>
          <p:nvPr/>
        </p:nvSpPr>
        <p:spPr>
          <a:xfrm xmlns:a="http://schemas.openxmlformats.org/drawingml/2006/main">
            <a:off x="6477000" y="1771650"/>
            <a:ext cx="502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b="1">
                <a:solidFill>
                  <a:srgbClr val="131A24"/>
                </a:solidFill>
                <a:latin typeface="Arial"/>
                <a:ea typeface="Arial"/>
                <a:cs typeface="Arial"/>
              </a:defRPr>
            </a:defPPr>
            <a:lvl1pPr>
              <a:defRPr sz="1275" b="1">
                <a:solidFill>
                  <a:srgbClr val="131A24"/>
                </a:solidFill>
                <a:latin typeface="Arial"/>
                <a:ea typeface="Arial"/>
                <a:cs typeface="Arial"/>
              </a:defRPr>
            </a:lvl1pPr>
            <a:lvl2pPr>
              <a:defRPr sz="1275" b="1">
                <a:solidFill>
                  <a:srgbClr val="131A24"/>
                </a:solidFill>
                <a:latin typeface="Arial"/>
                <a:ea typeface="Arial"/>
                <a:cs typeface="Arial"/>
              </a:defRPr>
            </a:lvl2pPr>
            <a:lvl3pPr>
              <a:defRPr sz="1275" b="1">
                <a:solidFill>
                  <a:srgbClr val="131A24"/>
                </a:solidFill>
                <a:latin typeface="Arial"/>
                <a:ea typeface="Arial"/>
                <a:cs typeface="Arial"/>
              </a:defRPr>
            </a:lvl3pPr>
            <a:lvl4pPr>
              <a:defRPr sz="1275" b="1">
                <a:solidFill>
                  <a:srgbClr val="131A24"/>
                </a:solidFill>
                <a:latin typeface="Arial"/>
                <a:ea typeface="Arial"/>
                <a:cs typeface="Arial"/>
              </a:defRPr>
            </a:lvl4pPr>
            <a:lvl5pPr>
              <a:defRPr sz="1275" b="1">
                <a:solidFill>
                  <a:srgbClr val="131A24"/>
                </a:solidFill>
                <a:latin typeface="Arial"/>
                <a:ea typeface="Arial"/>
                <a:cs typeface="Arial"/>
              </a:defRPr>
            </a:lvl5pPr>
            <a:lvl6pPr>
              <a:defRPr sz="1275" b="1">
                <a:solidFill>
                  <a:srgbClr val="131A24"/>
                </a:solidFill>
                <a:latin typeface="Arial"/>
                <a:ea typeface="Arial"/>
                <a:cs typeface="Arial"/>
              </a:defRPr>
            </a:lvl6pPr>
            <a:lvl7pPr>
              <a:defRPr sz="1275" b="1">
                <a:solidFill>
                  <a:srgbClr val="131A24"/>
                </a:solidFill>
                <a:latin typeface="Arial"/>
                <a:ea typeface="Arial"/>
                <a:cs typeface="Arial"/>
              </a:defRPr>
            </a:lvl7pPr>
            <a:lvl8pPr>
              <a:defRPr sz="1275" b="1">
                <a:solidFill>
                  <a:srgbClr val="131A24"/>
                </a:solidFill>
                <a:latin typeface="Arial"/>
                <a:ea typeface="Arial"/>
                <a:cs typeface="Arial"/>
              </a:defRPr>
            </a:lvl8pPr>
            <a:lvl9pPr>
              <a:defRPr sz="1275" b="1">
                <a:solidFill>
                  <a:srgbClr val="131A24"/>
                </a:solidFill>
                <a:latin typeface="Arial"/>
                <a:ea typeface="Arial"/>
                <a:cs typeface="Arial"/>
              </a:defRPr>
            </a:lvl9pPr>
          </a:lstStyle>
          <a:p xmlns:a="http://schemas.openxmlformats.org/drawingml/2006/main">
            <a:pPr>
              <a:defRPr sz="1275" b="1">
                <a:solidFill>
                  <a:srgbClr val="131A24"/>
                </a:solidFill>
                <a:latin typeface="Arial"/>
                <a:ea typeface="Arial"/>
                <a:cs typeface="Arial"/>
              </a:defRPr>
            </a:pPr>
            <a:r>
              <a:rPr sz="1275" b="1">
                <a:solidFill>
                  <a:srgbClr val="131A24"/>
                </a:solidFill>
                <a:latin typeface="Arial"/>
                <a:ea typeface="Arial"/>
                <a:cs typeface="Arial"/>
              </a:rPr>
              <a:t>Limitations and next steps</a:t>
            </a:r>
          </a:p>
        </p:txBody>
      </p:sp>
      <p:sp>
        <p:nvSpPr>
          <p:cNvPr id="8" name="">
            <a:extLst xmlns:a="http://schemas.openxmlformats.org/drawingml/2006/main">
              <a:ext uri="{FF2B5EF4-FFF2-40B4-BE49-F238E27FC236}">
                <a16:creationId xmlns:a16="http://schemas.microsoft.com/office/drawing/2014/main" id="{C9C45B3D-B1E8-4A7B-9AF7-7CAD9D16C13D}"/>
              </a:ext>
            </a:extLst>
          </p:cNvPr>
          <p:cNvSpPr>
            <a:spLocks xmlns:a="http://schemas.openxmlformats.org/drawingml/2006/main" noGrp="1"/>
          </p:cNvSpPr>
          <p:nvPr/>
        </p:nvSpPr>
        <p:spPr>
          <a:xfrm xmlns:a="http://schemas.openxmlformats.org/drawingml/2006/main">
            <a:off x="6477000" y="2133600"/>
            <a:ext cx="50292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vl1pPr>
              <a:defRPr sz="1275">
                <a:solidFill>
                  <a:srgbClr val="131A24"/>
                </a:solidFill>
                <a:latin typeface="Arial"/>
                <a:ea typeface="Arial"/>
                <a:cs typeface="Arial"/>
              </a:defRPr>
            </a:lvl1pPr>
            <a:lvl2pPr>
              <a:defRPr sz="1275">
                <a:solidFill>
                  <a:srgbClr val="131A24"/>
                </a:solidFill>
                <a:latin typeface="Arial"/>
                <a:ea typeface="Arial"/>
                <a:cs typeface="Arial"/>
              </a:defRPr>
            </a:lvl2pPr>
            <a:lvl3pPr>
              <a:defRPr sz="1275">
                <a:solidFill>
                  <a:srgbClr val="131A24"/>
                </a:solidFill>
                <a:latin typeface="Arial"/>
                <a:ea typeface="Arial"/>
                <a:cs typeface="Arial"/>
              </a:defRPr>
            </a:lvl3pPr>
            <a:lvl4pPr>
              <a:defRPr sz="1275">
                <a:solidFill>
                  <a:srgbClr val="131A24"/>
                </a:solidFill>
                <a:latin typeface="Arial"/>
                <a:ea typeface="Arial"/>
                <a:cs typeface="Arial"/>
              </a:defRPr>
            </a:lvl4pPr>
            <a:lvl5pPr>
              <a:defRPr sz="1275">
                <a:solidFill>
                  <a:srgbClr val="131A24"/>
                </a:solidFill>
                <a:latin typeface="Arial"/>
                <a:ea typeface="Arial"/>
                <a:cs typeface="Arial"/>
              </a:defRPr>
            </a:lvl5pPr>
            <a:lvl6pPr>
              <a:defRPr sz="1275">
                <a:solidFill>
                  <a:srgbClr val="131A24"/>
                </a:solidFill>
                <a:latin typeface="Arial"/>
                <a:ea typeface="Arial"/>
                <a:cs typeface="Arial"/>
              </a:defRPr>
            </a:lvl6pPr>
            <a:lvl7pPr>
              <a:defRPr sz="1275">
                <a:solidFill>
                  <a:srgbClr val="131A24"/>
                </a:solidFill>
                <a:latin typeface="Arial"/>
                <a:ea typeface="Arial"/>
                <a:cs typeface="Arial"/>
              </a:defRPr>
            </a:lvl7pPr>
            <a:lvl8pPr>
              <a:defRPr sz="1275">
                <a:solidFill>
                  <a:srgbClr val="131A24"/>
                </a:solidFill>
                <a:latin typeface="Arial"/>
                <a:ea typeface="Arial"/>
                <a:cs typeface="Arial"/>
              </a:defRPr>
            </a:lvl8pPr>
            <a:lvl9pPr>
              <a:defRPr sz="1275">
                <a:solidFill>
                  <a:srgbClr val="131A24"/>
                </a:solidFill>
                <a:latin typeface="Arial"/>
                <a:ea typeface="Arial"/>
                <a:cs typeface="Arial"/>
              </a:defRPr>
            </a:lvl9pPr>
          </a:lstStyle>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Distances use straight lines and one city speed. Next: road routing, traffic and per-vehicle speeds.</a:t>
            </a:r>
          </a:p>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Locations are coordinates entered on sign-up. Next: a map picker and live volunteer position.</a:t>
            </a:r>
          </a:p>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The system runs locally on MySQL. Next: a hosted deployment with backups and monitoring.</a:t>
            </a:r>
          </a:p>
          <a:p xmlns:a="http://schemas.openxmlformats.org/drawingml/2006/main">
            <a:pPr marL="228600" indent="-114300">
              <a:spcAft>
                <a:spcPts val="2200"/>
              </a:spcAft>
              <a:buChar char="•"/>
              <a:defRPr sz="1275">
                <a:solidFill>
                  <a:srgbClr val="131A24"/>
                </a:solidFill>
                <a:latin typeface="Arial"/>
                <a:ea typeface="Arial"/>
                <a:cs typeface="Arial"/>
              </a:defRPr>
            </a:pPr>
            <a:r>
              <a:rPr sz="1275">
                <a:solidFill>
                  <a:srgbClr val="131A24"/>
                </a:solidFill>
                <a:latin typeface="Arial"/>
                <a:ea typeface="Arial"/>
                <a:cs typeface="Arial"/>
              </a:rPr>
              <a:t>Notifications are in-app. Next: SMS or WhatsApp for organizations that do not keep the site open.</a:t>
            </a:r>
          </a:p>
        </p:txBody>
      </p:sp>
    </p:spTree>
    <p:extLst>
      <p:ext uri="{BB962C8B-B14F-4D97-AF65-F5344CB8AC3E}">
        <p14:creationId xmlns:p14="http://schemas.microsoft.com/office/powerpoint/2010/main" val="2077982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FoodBridge - Final Project Demo</dc:title>
  <dc:subject>An Intelligent Food Rescue Coordination and Resource Allocation Platform</dc:subject>
  <dc:creator>Adithyan S Nair</dc:creator>
  <cp:keywords>FoodBridge; donation; allocation engine; software engineering</cp:keywords>
  <dc:description>Final project demo presentation for the Software Engineering Laboratory (PTPS).</dc:description>
  <cp:lastModifiedBy>Adithyan S Nair</cp:lastModifiedBy>
  <cp:revision>6</cp:revision>
  <dcterms:created xsi:type="dcterms:W3CDTF">2026-10-23T10:15:00Z</dcterms:created>
  <dcterms:modified xsi:type="dcterms:W3CDTF">2026-10-28T09:35:00Z</dcterms:modified>
</cp:coreProperties>
</file>