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61643964a4080" /><Relationship Type="http://schemas.openxmlformats.org/officeDocument/2006/relationships/extended-properties" Target="/docProps/app.xml" Id="Rc11cf5fd804447ef" /><Relationship Type="http://schemas.openxmlformats.org/officeDocument/2006/relationships/officeDocument" Target="/ppt/presentation.xml" Id="R963e78de7269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3858f7e714d38"/>
  </p:sldMasterIdLst>
  <p:notesMasterIdLst>
    <p:notesMasterId xmlns:r="http://schemas.openxmlformats.org/officeDocument/2006/relationships" r:id="R2781a36253bd4315"/>
  </p:notesMasterIdLst>
  <p:sldIdLst>
    <p:sldId xmlns:r="http://schemas.openxmlformats.org/officeDocument/2006/relationships" id="256" r:id="R02b8fb7b35414d26"/>
    <p:sldId xmlns:r="http://schemas.openxmlformats.org/officeDocument/2006/relationships" id="257" r:id="Ra4d7f69ff94c4680"/>
    <p:sldId xmlns:r="http://schemas.openxmlformats.org/officeDocument/2006/relationships" id="258" r:id="R832b848ce481444f"/>
    <p:sldId xmlns:r="http://schemas.openxmlformats.org/officeDocument/2006/relationships" id="259" r:id="R110d747cfdd54acb"/>
    <p:sldId xmlns:r="http://schemas.openxmlformats.org/officeDocument/2006/relationships" id="260" r:id="R3dd4b5c4fe9842df"/>
    <p:sldId xmlns:r="http://schemas.openxmlformats.org/officeDocument/2006/relationships" id="261" r:id="R99915ba0702e4266"/>
    <p:sldId xmlns:r="http://schemas.openxmlformats.org/officeDocument/2006/relationships" id="262" r:id="R40731b762de34206"/>
    <p:sldId xmlns:r="http://schemas.openxmlformats.org/officeDocument/2006/relationships" id="263" r:id="R5d7b82e743464531"/>
    <p:sldId xmlns:r="http://schemas.openxmlformats.org/officeDocument/2006/relationships" id="264" r:id="Red56f83b273946da"/>
    <p:sldId xmlns:r="http://schemas.openxmlformats.org/officeDocument/2006/relationships" id="265" r:id="R10f5369322e2434c"/>
    <p:sldId xmlns:r="http://schemas.openxmlformats.org/officeDocument/2006/relationships" id="266" r:id="Ra2d1eb6a40c846ba"/>
    <p:sldId xmlns:r="http://schemas.openxmlformats.org/officeDocument/2006/relationships" id="267" r:id="R2e39d724f54b4696"/>
    <p:sldId xmlns:r="http://schemas.openxmlformats.org/officeDocument/2006/relationships" id="268" r:id="R35b6623b123b4767"/>
    <p:sldId xmlns:r="http://schemas.openxmlformats.org/officeDocument/2006/relationships" id="269" r:id="Rcd8f634e941a422d"/>
    <p:sldId xmlns:r="http://schemas.openxmlformats.org/officeDocument/2006/relationships" id="270" r:id="R2d7a063763a040d5"/>
    <p:sldId xmlns:r="http://schemas.openxmlformats.org/officeDocument/2006/relationships" id="271" r:id="R36fb79d47f564038"/>
    <p:sldId xmlns:r="http://schemas.openxmlformats.org/officeDocument/2006/relationships" id="272" r:id="R7ad270d730534759"/>
    <p:sldId xmlns:r="http://schemas.openxmlformats.org/officeDocument/2006/relationships" id="273" r:id="R19bcb74f8cf04e8f"/>
    <p:sldId xmlns:r="http://schemas.openxmlformats.org/officeDocument/2006/relationships" id="274" r:id="R424e0da75c884a55"/>
    <p:sldId xmlns:r="http://schemas.openxmlformats.org/officeDocument/2006/relationships" id="275" r:id="Rb2e6c47e294b45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c301cb42ce422c" /><Relationship Type="http://schemas.openxmlformats.org/officeDocument/2006/relationships/slideMaster" Target="/ppt/slideMasters/slideMaster1.xml" Id="Rd9b3858f7e714d38" /><Relationship Type="http://schemas.openxmlformats.org/officeDocument/2006/relationships/notesMaster" Target="/ppt/notesMasters/notesMaster1.xml" Id="R2781a36253bd4315" /><Relationship Type="http://schemas.openxmlformats.org/officeDocument/2006/relationships/presProps" Target="/ppt/presProps.xml" Id="R9d4f96a8cba14fd6" /><Relationship Type="http://schemas.openxmlformats.org/officeDocument/2006/relationships/tableStyles" Target="/ppt/tableStyles.xml" Id="R62941f1681a846c8" /><Relationship Type="http://schemas.openxmlformats.org/officeDocument/2006/relationships/slide" Target="/ppt/slides/slide1.xml" Id="R02b8fb7b35414d26" /><Relationship Type="http://schemas.openxmlformats.org/officeDocument/2006/relationships/slide" Target="/ppt/slides/slide2.xml" Id="Ra4d7f69ff94c4680" /><Relationship Type="http://schemas.openxmlformats.org/officeDocument/2006/relationships/slide" Target="/ppt/slides/slide3.xml" Id="R832b848ce481444f" /><Relationship Type="http://schemas.openxmlformats.org/officeDocument/2006/relationships/slide" Target="/ppt/slides/slide4.xml" Id="R110d747cfdd54acb" /><Relationship Type="http://schemas.openxmlformats.org/officeDocument/2006/relationships/slide" Target="/ppt/slides/slide5.xml" Id="R3dd4b5c4fe9842df" /><Relationship Type="http://schemas.openxmlformats.org/officeDocument/2006/relationships/slide" Target="/ppt/slides/slide6.xml" Id="R99915ba0702e4266" /><Relationship Type="http://schemas.openxmlformats.org/officeDocument/2006/relationships/slide" Target="/ppt/slides/slide7.xml" Id="R40731b762de34206" /><Relationship Type="http://schemas.openxmlformats.org/officeDocument/2006/relationships/slide" Target="/ppt/slides/slide8.xml" Id="R5d7b82e743464531" /><Relationship Type="http://schemas.openxmlformats.org/officeDocument/2006/relationships/slide" Target="/ppt/slides/slide9.xml" Id="Red56f83b273946da" /><Relationship Type="http://schemas.openxmlformats.org/officeDocument/2006/relationships/slide" Target="/ppt/slides/slide10.xml" Id="R10f5369322e2434c" /><Relationship Type="http://schemas.openxmlformats.org/officeDocument/2006/relationships/slide" Target="/ppt/slides/slide11.xml" Id="Ra2d1eb6a40c846ba" /><Relationship Type="http://schemas.openxmlformats.org/officeDocument/2006/relationships/slide" Target="/ppt/slides/slide12.xml" Id="R2e39d724f54b4696" /><Relationship Type="http://schemas.openxmlformats.org/officeDocument/2006/relationships/slide" Target="/ppt/slides/slide13.xml" Id="R35b6623b123b4767" /><Relationship Type="http://schemas.openxmlformats.org/officeDocument/2006/relationships/slide" Target="/ppt/slides/slide14.xml" Id="Rcd8f634e941a422d" /><Relationship Type="http://schemas.openxmlformats.org/officeDocument/2006/relationships/slide" Target="/ppt/slides/slide15.xml" Id="R2d7a063763a040d5" /><Relationship Type="http://schemas.openxmlformats.org/officeDocument/2006/relationships/slide" Target="/ppt/slides/slide16.xml" Id="R36fb79d47f564038" /><Relationship Type="http://schemas.openxmlformats.org/officeDocument/2006/relationships/slide" Target="/ppt/slides/slide17.xml" Id="R7ad270d730534759" /><Relationship Type="http://schemas.openxmlformats.org/officeDocument/2006/relationships/slide" Target="/ppt/slides/slide18.xml" Id="R19bcb74f8cf04e8f" /><Relationship Type="http://schemas.openxmlformats.org/officeDocument/2006/relationships/slide" Target="/ppt/slides/slide19.xml" Id="R424e0da75c884a55" /><Relationship Type="http://schemas.openxmlformats.org/officeDocument/2006/relationships/slide" Target="/ppt/slides/slide20.xml" Id="Rb2e6c47e294b45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6a1bf39d6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4d528b422c44f4" /><Relationship Type="http://schemas.openxmlformats.org/officeDocument/2006/relationships/notesMaster" Target="/ppt/notesMasters/notesMaster1.xml" Id="Rfc0955bd07d8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5586d700b4373" /><Relationship Type="http://schemas.openxmlformats.org/officeDocument/2006/relationships/notesMaster" Target="/ppt/notesMasters/notesMaster1.xml" Id="R8d28bcf2f38f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26cf8af1824e8e" /><Relationship Type="http://schemas.openxmlformats.org/officeDocument/2006/relationships/notesMaster" Target="/ppt/notesMasters/notesMaster1.xml" Id="Rbd2ae23283b349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ce3a5b8b34fbd" /><Relationship Type="http://schemas.openxmlformats.org/officeDocument/2006/relationships/notesMaster" Target="/ppt/notesMasters/notesMaster1.xml" Id="R9cd4d905def0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bda431413049c7" /><Relationship Type="http://schemas.openxmlformats.org/officeDocument/2006/relationships/notesMaster" Target="/ppt/notesMasters/notesMaster1.xml" Id="R68ec18fd0e37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7ded755f7c4de2" /><Relationship Type="http://schemas.openxmlformats.org/officeDocument/2006/relationships/notesMaster" Target="/ppt/notesMasters/notesMaster1.xml" Id="R5995251492714f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fe69b187894267" /><Relationship Type="http://schemas.openxmlformats.org/officeDocument/2006/relationships/notesMaster" Target="/ppt/notesMasters/notesMaster1.xml" Id="R24c156fe6e9f4a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385f94dda4cd8" /><Relationship Type="http://schemas.openxmlformats.org/officeDocument/2006/relationships/notesMaster" Target="/ppt/notesMasters/notesMaster1.xml" Id="Rb60018e6cc084f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f641d9aefa4f07" /><Relationship Type="http://schemas.openxmlformats.org/officeDocument/2006/relationships/notesMaster" Target="/ppt/notesMasters/notesMaster1.xml" Id="R0439990b59cb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747af51a834425" /><Relationship Type="http://schemas.openxmlformats.org/officeDocument/2006/relationships/notesMaster" Target="/ppt/notesMasters/notesMaster1.xml" Id="R54980b84aaf742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2bbc06d9544bfa" /><Relationship Type="http://schemas.openxmlformats.org/officeDocument/2006/relationships/notesMaster" Target="/ppt/notesMasters/notesMaster1.xml" Id="Rbd4c435819d44d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5aa5c199e435c" /><Relationship Type="http://schemas.openxmlformats.org/officeDocument/2006/relationships/notesMaster" Target="/ppt/notesMasters/notesMaster1.xml" Id="R8e822e89e02c41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3c2cf2734f4400" /><Relationship Type="http://schemas.openxmlformats.org/officeDocument/2006/relationships/notesMaster" Target="/ppt/notesMasters/notesMaster1.xml" Id="R2367df905b1642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8d26a221a24257" /><Relationship Type="http://schemas.openxmlformats.org/officeDocument/2006/relationships/notesMaster" Target="/ppt/notesMasters/notesMaster1.xml" Id="Rae63ac621eda45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723fbd43044427" /><Relationship Type="http://schemas.openxmlformats.org/officeDocument/2006/relationships/notesMaster" Target="/ppt/notesMasters/notesMaster1.xml" Id="R7a3b7d71d6bd47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35d75f5ad3484d" /><Relationship Type="http://schemas.openxmlformats.org/officeDocument/2006/relationships/notesMaster" Target="/ppt/notesMasters/notesMaster1.xml" Id="Rad725f3fe99a4a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5172d1cbf5435a" /><Relationship Type="http://schemas.openxmlformats.org/officeDocument/2006/relationships/notesMaster" Target="/ppt/notesMasters/notesMaster1.xml" Id="Rcce53c0dd94041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8c3914b6794551" /><Relationship Type="http://schemas.openxmlformats.org/officeDocument/2006/relationships/notesMaster" Target="/ppt/notesMasters/notesMaster1.xml" Id="Rd6e9f9276f2f46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8ef4afaf62434f" /><Relationship Type="http://schemas.openxmlformats.org/officeDocument/2006/relationships/notesMaster" Target="/ppt/notesMasters/notesMaster1.xml" Id="R711408b55e9b43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6fd87d2ba841f0" /><Relationship Type="http://schemas.openxmlformats.org/officeDocument/2006/relationships/notesMaster" Target="/ppt/notesMasters/notesMaster1.xml" Id="Rc69adcfcf6e2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number in this deck comes from the running build and its seeded demonstration dataset, recorded on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943334c344d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5c7779ebb49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a95b3e59b44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d39b9951248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56d40c6d44a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d0154c6d444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245ED5-88CB-4FBD-B084-87C75D43D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D9D317E-C9BA-4057-8807-26A11C3E0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A908FA-2C31-4CC1-ABE6-FA3F280F7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E1533B-DF95-4024-BFC4-A8E8C46A12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FDE2FD-EB29-479D-9A44-1954D55DFA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C31ABD-2F6A-4B85-82BA-367AC0F23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DADB11-2699-41BA-B72C-F79460CC5F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976B98-EB30-421C-9525-6118212401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6CD898-EB59-490F-8D4C-5504D9A24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521281-268F-48CE-9DB5-CC65F40D8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a6ee97412c44f8" /><Relationship Type="http://schemas.openxmlformats.org/officeDocument/2006/relationships/slideLayout" Target="/ppt/slideLayouts/slideLayout1.xml" Id="R390faf1541234561" /><Relationship Type="http://schemas.openxmlformats.org/officeDocument/2006/relationships/slideLayout" Target="/ppt/slideLayouts/slideLayout2.xml" Id="Rf79031919b9044fb" /><Relationship Type="http://schemas.openxmlformats.org/officeDocument/2006/relationships/slideLayout" Target="/ppt/slideLayouts/slideLayout3.xml" Id="Rf9e76255039f4cd5" /><Relationship Type="http://schemas.openxmlformats.org/officeDocument/2006/relationships/slideLayout" Target="/ppt/slideLayouts/slideLayout4.xml" Id="R1cab3787c7ba4588" /><Relationship Type="http://schemas.openxmlformats.org/officeDocument/2006/relationships/slideLayout" Target="/ppt/slideLayouts/slideLayout5.xml" Id="R67527f0742ad44bb" /><Relationship Type="http://schemas.openxmlformats.org/officeDocument/2006/relationships/slideLayout" Target="/ppt/slideLayouts/slideLayout6.xml" Id="Rb7b9cf67c38c46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faf1541234561"/>
    <p:sldLayoutId xmlns:r="http://schemas.openxmlformats.org/officeDocument/2006/relationships" id="2147483650" r:id="Rf79031919b9044fb"/>
    <p:sldLayoutId xmlns:r="http://schemas.openxmlformats.org/officeDocument/2006/relationships" id="2147483651" r:id="Rf9e76255039f4cd5"/>
    <p:sldLayoutId xmlns:r="http://schemas.openxmlformats.org/officeDocument/2006/relationships" id="2147483652" r:id="R1cab3787c7ba4588"/>
    <p:sldLayoutId xmlns:r="http://schemas.openxmlformats.org/officeDocument/2006/relationships" id="2147483653" r:id="R67527f0742ad44bb"/>
    <p:sldLayoutId xmlns:r="http://schemas.openxmlformats.org/officeDocument/2006/relationships" id="2147483654" r:id="Rb7b9cf67c38c46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44bfdbcac45d8" /><Relationship Type="http://schemas.openxmlformats.org/officeDocument/2006/relationships/image" Target="/ppt/media/image.png" Id="R6f51c67259244601" /><Relationship Type="http://schemas.openxmlformats.org/officeDocument/2006/relationships/notesSlide" Target="/ppt/notesSlides/notesSlide1.xml" Id="R18c52fbdcec8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0a546bb7f4148" /><Relationship Type="http://schemas.openxmlformats.org/officeDocument/2006/relationships/notesSlide" Target="/ppt/notesSlides/notesSlide2.xml" Id="Ra86dd24f591d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0f013ff924801" /><Relationship Type="http://schemas.openxmlformats.org/officeDocument/2006/relationships/notesSlide" Target="/ppt/notesSlides/notesSlide3.xml" Id="R999130324c6347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78cbbc2a44a20" /><Relationship Type="http://schemas.openxmlformats.org/officeDocument/2006/relationships/notesSlide" Target="/ppt/notesSlides/notesSlide4.xml" Id="R475d80468f9c43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0e3959755432b" /><Relationship Type="http://schemas.openxmlformats.org/officeDocument/2006/relationships/notesSlide" Target="/ppt/notesSlides/notesSlide5.xml" Id="R7bdbff174842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d9e4aeba214015" /><Relationship Type="http://schemas.openxmlformats.org/officeDocument/2006/relationships/notesSlide" Target="/ppt/notesSlides/notesSlide6.xml" Id="Rfb05304b9ece4d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8810ae64e4702" /><Relationship Type="http://schemas.openxmlformats.org/officeDocument/2006/relationships/notesSlide" Target="/ppt/notesSlides/notesSlide7.xml" Id="R0ee9294c6415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d5ceff84842d1" /><Relationship Type="http://schemas.openxmlformats.org/officeDocument/2006/relationships/notesSlide" Target="/ppt/notesSlides/notesSlide8.xml" Id="Rc44fc256a41141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a2efcbc454324" /><Relationship Type="http://schemas.openxmlformats.org/officeDocument/2006/relationships/notesSlide" Target="/ppt/notesSlides/notesSlide9.xml" Id="R8318db6180e940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48bbc52504802" /><Relationship Type="http://schemas.openxmlformats.org/officeDocument/2006/relationships/notesSlide" Target="/ppt/notesSlides/notesSlide10.xml" Id="R09381d9cdb9b47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9b243162d4ee8" /><Relationship Type="http://schemas.openxmlformats.org/officeDocument/2006/relationships/image" Target="/ppt/media/image.jpeg" Id="Rc60c17e61ad84f23" /><Relationship Type="http://schemas.openxmlformats.org/officeDocument/2006/relationships/notesSlide" Target="/ppt/notesSlides/notesSlide11.xml" Id="Rdad32a8210c84d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17ff8cbef44af" /><Relationship Type="http://schemas.openxmlformats.org/officeDocument/2006/relationships/notesSlide" Target="/ppt/notesSlides/notesSlide12.xml" Id="R0ea5310d99334c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a927a7bad4eea" /><Relationship Type="http://schemas.openxmlformats.org/officeDocument/2006/relationships/image" Target="/ppt/media/image2.jpeg" Id="R59c91f2e8b4d4010" /><Relationship Type="http://schemas.openxmlformats.org/officeDocument/2006/relationships/image" Target="/ppt/media/image3.jpeg" Id="Ra8f56e5161d14735" /><Relationship Type="http://schemas.openxmlformats.org/officeDocument/2006/relationships/notesSlide" Target="/ppt/notesSlides/notesSlide13.xml" Id="R1c88d684fe8346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7f5c9ca48b496e" /><Relationship Type="http://schemas.openxmlformats.org/officeDocument/2006/relationships/image" Target="/ppt/media/image4.jpeg" Id="R2f4bb67d8e754bea" /><Relationship Type="http://schemas.openxmlformats.org/officeDocument/2006/relationships/image" Target="/ppt/media/image5.jpeg" Id="R067449f7ac754013" /><Relationship Type="http://schemas.openxmlformats.org/officeDocument/2006/relationships/notesSlide" Target="/ppt/notesSlides/notesSlide14.xml" Id="R2231be82994843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9effb629148e4" /><Relationship Type="http://schemas.openxmlformats.org/officeDocument/2006/relationships/chart" Target="/ppt/slides/charts/chart1.xml" Id="R611534f2430c48b4" /><Relationship Type="http://schemas.openxmlformats.org/officeDocument/2006/relationships/notesSlide" Target="/ppt/notesSlides/notesSlide15.xml" Id="Rf6075a83d5fc47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4a1b28b174ff0" /><Relationship Type="http://schemas.openxmlformats.org/officeDocument/2006/relationships/notesSlide" Target="/ppt/notesSlides/notesSlide16.xml" Id="R277ef3f89d4c40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8de22a6d884ce4" /><Relationship Type="http://schemas.openxmlformats.org/officeDocument/2006/relationships/notesSlide" Target="/ppt/notesSlides/notesSlide17.xml" Id="Ra9414979c3774b3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2e1563bb34e1a" /><Relationship Type="http://schemas.openxmlformats.org/officeDocument/2006/relationships/notesSlide" Target="/ppt/notesSlides/notesSlide18.xml" Id="Rac7c491bae6c46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0b541e6d3463b" /><Relationship Type="http://schemas.openxmlformats.org/officeDocument/2006/relationships/notesSlide" Target="/ppt/notesSlides/notesSlide19.xml" Id="Rff42940239da44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fbc5e659144bb" /><Relationship Type="http://schemas.openxmlformats.org/officeDocument/2006/relationships/notesSlide" Target="/ppt/notesSlides/notesSlide20.xml" Id="R9c4ee55d438a47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kg rescued</c:v>
          </c:tx>
          <c:spPr>
            <a:solidFill xmlns:a="http://schemas.openxmlformats.org/drawingml/2006/main">
              <a:srgbClr val="0E7C57"/>
            </a:solidFill>
          </c:spPr>
          <c:invertIfNegative val="0"/>
          <c:cat>
            <c:strRef>
              <c:f>'Chart Data'!$A$2:$A$15</c:f>
              <c:strCache>
                <c:ptCount val="14"/>
                <c:pt idx="0">
                  <c:v>03 Oct</c:v>
                </c:pt>
                <c:pt idx="1">
                  <c:v>04 Oct</c:v>
                </c:pt>
                <c:pt idx="2">
                  <c:v>05 Oct</c:v>
                </c:pt>
                <c:pt idx="3">
                  <c:v>06 Oct</c:v>
                </c:pt>
                <c:pt idx="4">
                  <c:v>07 Oct</c:v>
                </c:pt>
                <c:pt idx="5">
                  <c:v>08 Oct</c:v>
                </c:pt>
                <c:pt idx="6">
                  <c:v>09 Oct</c:v>
                </c:pt>
                <c:pt idx="7">
                  <c:v>10 Oct</c:v>
                </c:pt>
                <c:pt idx="8">
                  <c:v>11 Oct</c:v>
                </c:pt>
                <c:pt idx="9">
                  <c:v>12 Oct</c:v>
                </c:pt>
                <c:pt idx="10">
                  <c:v>13 Oct</c:v>
                </c:pt>
                <c:pt idx="11">
                  <c:v>14 Oct</c:v>
                </c:pt>
                <c:pt idx="12">
                  <c:v>15 Oct</c:v>
                </c:pt>
                <c:pt idx="13">
                  <c:v>16 Oct</c:v>
                </c:pt>
              </c:strCache>
            </c:str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24</c:v>
                </c:pt>
                <c:pt idx="1">
                  <c:v>30</c:v>
                </c:pt>
                <c:pt idx="2">
                  <c:v>45</c:v>
                </c:pt>
                <c:pt idx="3">
                  <c:v>40</c:v>
                </c:pt>
                <c:pt idx="4">
                  <c:v>12</c:v>
                </c:pt>
                <c:pt idx="5">
                  <c:v>55</c:v>
                </c:pt>
                <c:pt idx="6">
                  <c:v>35</c:v>
                </c:pt>
                <c:pt idx="7">
                  <c:v>120</c:v>
                </c:pt>
                <c:pt idx="8">
                  <c:v>15</c:v>
                </c:pt>
                <c:pt idx="9">
                  <c:v>8</c:v>
                </c:pt>
                <c:pt idx="10">
                  <c:v>12</c:v>
                </c:pt>
                <c:pt idx="11">
                  <c:v>0</c:v>
                </c:pt>
                <c:pt idx="12">
                  <c:v>163</c:v>
                </c:pt>
                <c:pt idx="1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October 2026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kg rescued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D9AA3-9C9D-4635-9F08-4CB01A6C80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1c67259244601"/>
          <a:stretch xmlns:a="http://schemas.openxmlformats.org/drawingml/2006/main"/>
        </p:blipFill>
        <p:spPr>
          <a:xfrm xmlns:a="http://schemas.openxmlformats.org/drawingml/2006/main">
            <a:off x="685800" y="6858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CB37-0EC2-4A94-99CB-997224E3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9A7D7-1CD0-4D77-81B4-19F0D88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Intelligent Food Rescue Coordination and Resource Allocation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743F7-2D53-4D60-8D9C-8F719923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D99AB-B09A-4FA5-81D2-026AC2BC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DEC8D-117E-4E92-A1C9-DCED1EBE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Adithyan S Nair, 24BAI1621</a:t>
            </a:r>
          </a:p>
        </p:txBody>
      </p:sp>
    </p:spTree>
    <p:extLst>
      <p:ext uri="{BB962C8B-B14F-4D97-AF65-F5344CB8AC3E}">
        <p14:creationId xmlns:p14="http://schemas.microsoft.com/office/powerpoint/2010/main" val="820389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A6ED9A-D76A-428B-8E16-87A420AC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A921CF7-59CD-4C13-AF3B-C19A65B5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that is still safe to eat is thrown away while the organizations that need it run short.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444596-E64D-4903-B81C-6E46808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27504-F8A8-42AD-B4E5-0937AFC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Restaurants, hotels, supermarkets, bakeries and caterers regularly have surplus food at the end of a service.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Orphanages, shelters and food banks look for the same food on the same day, with little storage to spare.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Coordinating one donation takes phone calls, messages and waiting, so food is missed or collected late.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When several organizations could take the donation, it usually goes to whoever responds first.</a:t>
            </a:r>
          </a:p>
        </p:txBody>
      </p:sp>
    </p:spTree>
    <p:extLst>
      <p:ext uri="{BB962C8B-B14F-4D97-AF65-F5344CB8AC3E}">
        <p14:creationId xmlns:p14="http://schemas.microsoft.com/office/powerpoint/2010/main" val="611836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C5C167-131F-4BE0-8246-FE92B9B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most donation platforms do today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47A5A10-2FE9-43BD-87B6-D0C1376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They publish the donation and wait for someone to claim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9D8382C-C74B-4FA5-894D-C13782D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1FA15-9490-4544-9D54-6F4193B9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Listings connect donors and recipients, and the decision about who receives the food stays with the claimer.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Expiry is shown to whoever opens the listing, and pickup distance is rarely compared with the time left.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Nothing tracks how much each organization has already received, so one partner can take most of the supply.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count kilograms donated. They do not explain why one organization was chosen over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907B4-F74F-46CF-B8F7-70182FF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platforms and the manual process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1868958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40E13A-965B-4D03-951A-197ADF0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FoodBridge platform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DD7197C-1EA0-47BD-82CE-58216FD9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workflow from surplus food to a confirmed delivery, with the engine deciding who receives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EA393F-168E-4D9A-B7D8-158E15FC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Donation registered">
            <a:extLst xmlns:a="http://schemas.openxmlformats.org/drawingml/2006/main">
              <a:ext uri="{FF2B5EF4-FFF2-40B4-BE49-F238E27FC236}">
                <a16:creationId xmlns:a16="http://schemas.microsoft.com/office/drawing/2014/main" id="{5B321E4B-6839-4633-AA15-296753C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60AE9-8F2D-4165-868F-9012070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Donation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D047B-75B0-4D43-B10E-AC3C389A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donor enters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2DE4F-1104-45E1-9B5E-73E1414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Engine ranks recipients">
            <a:extLst xmlns:a="http://schemas.openxmlformats.org/drawingml/2006/main">
              <a:ext uri="{FF2B5EF4-FFF2-40B4-BE49-F238E27FC236}">
                <a16:creationId xmlns:a16="http://schemas.microsoft.com/office/drawing/2014/main" id="{920713BF-DBD8-433C-B254-694EB3C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CE855-E31F-4FAE-9B0F-F49E083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Engine ranks recipients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8614A-030C-4891-AD87-B6F20DD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filters, then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73E91-25C6-422B-A3BB-BE053CFE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Recipient accepts">
            <a:extLst xmlns:a="http://schemas.openxmlformats.org/drawingml/2006/main">
              <a:ext uri="{FF2B5EF4-FFF2-40B4-BE49-F238E27FC236}">
                <a16:creationId xmlns:a16="http://schemas.microsoft.com/office/drawing/2014/main" id="{A187195D-18D2-46B6-91D3-76DC8DB8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5A7FF-5D5A-445F-A426-E477A065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accepts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0201C-4FFE-4C05-A089-28A832B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with the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F1E1E-52A2-45C1-923E-B79FBB4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Volunteer collects">
            <a:extLst xmlns:a="http://schemas.openxmlformats.org/drawingml/2006/main">
              <a:ext uri="{FF2B5EF4-FFF2-40B4-BE49-F238E27FC236}">
                <a16:creationId xmlns:a16="http://schemas.microsoft.com/office/drawing/2014/main" id="{349608E5-498A-467C-9821-CF7132E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40330-4463-4E0B-87B7-84D144F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Volunteer collects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CAEAB-D4EC-42A9-88F8-ED5783CF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matched by distance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9649F-57EE-4D7C-84A4-7E6434D4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Delivered">
            <a:extLst xmlns:a="http://schemas.openxmlformats.org/drawingml/2006/main">
              <a:ext uri="{FF2B5EF4-FFF2-40B4-BE49-F238E27FC236}">
                <a16:creationId xmlns:a16="http://schemas.microsoft.com/office/drawing/2014/main" id="{EBA165E7-213B-4A5B-AADF-B4DA6EE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15C0E-1299-401D-9550-DC7FBBF6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B4C57-0FC0-48AD-AE68-9C590AE6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tracked to handover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0DF20-D618-42EE-BB39-2050005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Reports update">
            <a:extLst xmlns:a="http://schemas.openxmlformats.org/drawingml/2006/main">
              <a:ext uri="{FF2B5EF4-FFF2-40B4-BE49-F238E27FC236}">
                <a16:creationId xmlns:a16="http://schemas.microsoft.com/office/drawing/2014/main" id="{FB8D50CF-D10C-4159-9A59-CF875F2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CA8D5-A3B5-4C76-ACDE-22CB065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FB2AD-5969-4FDE-A859-4B07AD70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rescues and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BC0E8-A2DC-460C-A4D2-2C647DE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Four roles use the platform: donors, recipient organizations, volunteers and the administrator.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checks eligibility first and then scores every eligible organization on six factors.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Each allocation stores its score, the factor breakdown and a written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73462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CF0C14-BB8F-4D06-A393-85A6F912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735B652-ED87-4CCB-8229-3BE9C384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layers, each with one responsibility.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C467E6B-4381-455E-B7A2-AD9A3BFB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-Presentation">
            <a:extLst xmlns:a="http://schemas.openxmlformats.org/drawingml/2006/main">
              <a:ext uri="{FF2B5EF4-FFF2-40B4-BE49-F238E27FC236}">
                <a16:creationId xmlns:a16="http://schemas.microsoft.com/office/drawing/2014/main" id="{3FDA87D8-AE1B-483F-A315-C459522F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90061-6497-4380-899B-7988E4C3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89659-570D-45F3-8895-61F2EB10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React single page app. Role dashboards, allocation view, reports, sign up.</a:t>
            </a:r>
          </a:p>
        </p:txBody>
      </p:sp>
      <p:sp>
        <p:nvSpPr>
          <p:cNvPr id="7" name="layer-Application">
            <a:extLst xmlns:a="http://schemas.openxmlformats.org/drawingml/2006/main">
              <a:ext uri="{FF2B5EF4-FFF2-40B4-BE49-F238E27FC236}">
                <a16:creationId xmlns:a16="http://schemas.microsoft.com/office/drawing/2014/main" id="{8A6CC336-6A1B-4982-87AB-5037685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7833F-4F4C-46E9-9B40-720B5102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9A307-5B60-4C94-B0F2-3B212E7F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Boot REST controllers. Authentication, donations, recipients, volunteers, allocations, admin.</a:t>
            </a:r>
          </a:p>
        </p:txBody>
      </p:sp>
      <p:sp>
        <p:nvSpPr>
          <p:cNvPr id="10" name="layer-Business logic">
            <a:extLst xmlns:a="http://schemas.openxmlformats.org/drawingml/2006/main">
              <a:ext uri="{FF2B5EF4-FFF2-40B4-BE49-F238E27FC236}">
                <a16:creationId xmlns:a16="http://schemas.microsoft.com/office/drawing/2014/main" id="{D7AB42E7-761F-4ECB-8E0A-E579C5C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0E29D-52A1-4B29-8FD3-D35B7AE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62F04-8C97-4006-9125-45124C5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Services, including the allocation engine that holds the filters, scoring, fairness and explanations.</a:t>
            </a:r>
          </a:p>
        </p:txBody>
      </p:sp>
      <p:sp>
        <p:nvSpPr>
          <p:cNvPr id="13" name="layer-Data">
            <a:extLst xmlns:a="http://schemas.openxmlformats.org/drawingml/2006/main">
              <a:ext uri="{FF2B5EF4-FFF2-40B4-BE49-F238E27FC236}">
                <a16:creationId xmlns:a16="http://schemas.microsoft.com/office/drawing/2014/main" id="{B211D500-360E-407E-B80A-4D064096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AE17D-59EE-40D0-9FAA-0EBC7527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752A8-6CC1-459C-9696-1C3E898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053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Data JPA over MySQL. Twelve entities in third normal 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B40A8-83C7-41BA-B1ED-75DFC65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1A24"/>
                </a:solidFill>
                <a:latin typeface="Arial"/>
                <a:ea typeface="Arial"/>
                <a:cs typeface="Arial"/>
              </a:rPr>
              <a:t>Security: Spring Security issues a JWT at login, checks the role on every request, and each service checks record ownership.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EA71C-173A-4853-AEF4-834824FD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browser never decides anything. Every rule runs on the server against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691292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60CED6-9C45-4C4E-A648-DDE0399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3125E31-F173-4394-990D-5FECDDC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Twelve entities in third normal form, built around the rescue chain.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9B1CE8C-1BD2-49E8-8789-800E320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User">
            <a:extLst xmlns:a="http://schemas.openxmlformats.org/drawingml/2006/main">
              <a:ext uri="{FF2B5EF4-FFF2-40B4-BE49-F238E27FC236}">
                <a16:creationId xmlns:a16="http://schemas.microsoft.com/office/drawing/2014/main" id="{15E9B0CE-0120-454C-B534-5D78D93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1925-F120-4E1D-8460-65C2F6E9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F7B6D-875F-4A0B-BF10-F16A986C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accounts and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79E8F-534F-48C7-AC54-4B81435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Donor">
            <a:extLst xmlns:a="http://schemas.openxmlformats.org/drawingml/2006/main">
              <a:ext uri="{FF2B5EF4-FFF2-40B4-BE49-F238E27FC236}">
                <a16:creationId xmlns:a16="http://schemas.microsoft.com/office/drawing/2014/main" id="{AEEA58F6-2AE1-4204-8724-95F4BD8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D8B43-6BEB-42CA-9E33-0F354F1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FD843-B457-4AAC-AA95-B4EC6057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or recipient org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D0ECD-BE8A-4656-A713-2FE351E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Food donation">
            <a:extLst xmlns:a="http://schemas.openxmlformats.org/drawingml/2006/main">
              <a:ext uri="{FF2B5EF4-FFF2-40B4-BE49-F238E27FC236}">
                <a16:creationId xmlns:a16="http://schemas.microsoft.com/office/drawing/2014/main" id="{13E5029B-23AC-41A5-B353-AA4993DA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E9EB1-0A34-487C-987F-D14F3C08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 donation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135F3-82C1-47F2-AF90-C2EB24C8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surplus food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FE21E-CF92-4206-A7B2-366A78C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llocation">
            <a:extLst xmlns:a="http://schemas.openxmlformats.org/drawingml/2006/main">
              <a:ext uri="{FF2B5EF4-FFF2-40B4-BE49-F238E27FC236}">
                <a16:creationId xmlns:a16="http://schemas.microsoft.com/office/drawing/2014/main" id="{940AD23E-49BE-49E3-8806-A5F53EC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2BE3F-0316-4EC9-8CBF-11EC1A79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029E1-29E4-444E-9294-53F43EA7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engine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C75DF-53D9-47AD-9553-CBC65CB9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Assignment">
            <a:extLst xmlns:a="http://schemas.openxmlformats.org/drawingml/2006/main">
              <a:ext uri="{FF2B5EF4-FFF2-40B4-BE49-F238E27FC236}">
                <a16:creationId xmlns:a16="http://schemas.microsoft.com/office/drawing/2014/main" id="{B3DB7B32-D4A4-4654-B60E-5DA008E6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DA763-D4B6-4E6A-9EF4-B86FE9CF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4E084-61CB-4384-918E-279219A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3A787-ADC1-4F4B-8612-0DF56C29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Delivery">
            <a:extLst xmlns:a="http://schemas.openxmlformats.org/drawingml/2006/main">
              <a:ext uri="{FF2B5EF4-FFF2-40B4-BE49-F238E27FC236}">
                <a16:creationId xmlns:a16="http://schemas.microsoft.com/office/drawing/2014/main" id="{35A42FDD-9C77-4158-91F1-7603187C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58A18-74C5-4D28-A23D-96E9531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EA0626-CDD2-465A-8DBA-BEED1CC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tracking to handover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A55F2-D201-484F-AA6A-DC19C6FD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Donors, recipient organizations and volunteers each have their own table linked one to one with the user account.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Allocation, assignment and delivery are separate records, so a decision, a task and a delivery are tracked independently.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preferences resolve the many to many relationship between organizations and food categories.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and audit logs keep users informed and every action traceable.</a:t>
            </a:r>
          </a:p>
        </p:txBody>
      </p:sp>
    </p:spTree>
    <p:extLst>
      <p:ext uri="{BB962C8B-B14F-4D97-AF65-F5344CB8AC3E}">
        <p14:creationId xmlns:p14="http://schemas.microsoft.com/office/powerpoint/2010/main" val="722183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C35E33-7B17-4754-BD8B-92ABBFD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project was built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5F6C314-DAB6-49FA-BA7C-13D0AFDA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 agile sprints, each ending with something that runs.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197434-573F-4219-91B8-4A53A1E7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32F7C-1020-4A3E-9297-D42CE29678DB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0885"/>
                <a:gridCol w="2992877"/>
                <a:gridCol w="6906638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Sprint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exists now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Requirements and 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Problem statement, ER model, class model, layered architecture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Authentication and 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JWT login, four role workspaces, access rules enforced on the server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and recipient management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records, demand, storage capacity and category preferences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Allocation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Eligibility filters, six factor scoring, decision explanations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and delivery tracking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matching, pickup to handover status, notifications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Reports, testing, hardening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Analytics, audit log, nine automated tests, eighteen API checks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23BB-1B64-4905-AFA7-337A6FD4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Design decisions and the alternatives I rejected are recorded in docs/DESIGN_DECISIONS.md.</a:t>
            </a:r>
          </a:p>
        </p:txBody>
      </p:sp>
    </p:spTree>
    <p:extLst>
      <p:ext uri="{BB962C8B-B14F-4D97-AF65-F5344CB8AC3E}">
        <p14:creationId xmlns:p14="http://schemas.microsoft.com/office/powerpoint/2010/main" val="789968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1D0695-41A9-4604-BE9A-D9FDAB1C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engine chooses a recipient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24EFCC0E-8A48-4413-AC77-2A6802BE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eligibility checks run first. Only the organizations that pass them are scored.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565983-FADE-4F1D-882C-9798BEC0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-Verified organization">
            <a:extLst xmlns:a="http://schemas.openxmlformats.org/drawingml/2006/main">
              <a:ext uri="{FF2B5EF4-FFF2-40B4-BE49-F238E27FC236}">
                <a16:creationId xmlns:a16="http://schemas.microsoft.com/office/drawing/2014/main" id="{FEC9E4A2-DE2E-481A-B826-C67214A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Verified organization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F6AB3-7BEE-44AA-AF1A-753AEA63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Free storage for the load">
            <a:extLst xmlns:a="http://schemas.openxmlformats.org/drawingml/2006/main">
              <a:ext uri="{FF2B5EF4-FFF2-40B4-BE49-F238E27FC236}">
                <a16:creationId xmlns:a16="http://schemas.microsoft.com/office/drawing/2014/main" id="{926FE057-BE55-4A2F-8FD2-BE92A50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Free storage for the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2AA0B-E2A0-48E8-A4B9-FAE04FB1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Category accepted">
            <a:extLst xmlns:a="http://schemas.openxmlformats.org/drawingml/2006/main">
              <a:ext uri="{FF2B5EF4-FFF2-40B4-BE49-F238E27FC236}">
                <a16:creationId xmlns:a16="http://schemas.microsoft.com/office/drawing/2014/main" id="{486AF067-03B6-45D4-A544-0E5A5E5C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Category 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43A09-EBC0-44BD-8E9F-093CB1B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Can arrive safely">
            <a:extLst xmlns:a="http://schemas.openxmlformats.org/drawingml/2006/main">
              <a:ext uri="{FF2B5EF4-FFF2-40B4-BE49-F238E27FC236}">
                <a16:creationId xmlns:a16="http://schemas.microsoft.com/office/drawing/2014/main" id="{49422936-C87B-4951-A18A-573AA304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Can arrive safely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8ED7F-5353-40C5-84FB-6CB7CB37FA81}"/>
              </a:ext>
            </a:extLst>
          </p:cNvPr>
          <p:cNvGraphicFramePr/>
          <p:nvPr/>
        </p:nvGraphicFramePr>
        <p:xfrm>
          <a:off xmlns:a="http://schemas.openxmlformats.org/drawingml/2006/main" x="685800" y="2819400"/>
          <a:ext xmlns:a="http://schemas.openxmlformats.org/drawingml/2006/main" cx="108204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143000"/>
                <a:gridCol w="7486650"/>
              </a:tblGrid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it measures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Expiry urgency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soon the food expires, weighted by how quickly this recipient can collect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Demand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well the donation size matches the registered demand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Storage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load fits in remaining storage without overloading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Proximity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 from the pickup point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 preference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organization accepts this category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Fair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much the organization received in the last 30 days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6E44F-E1DF-4A45-934A-61C5D126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score and the per factor breakdown are stored with every allocation, so a decision can be reopened later.</a:t>
            </a:r>
          </a:p>
        </p:txBody>
      </p:sp>
    </p:spTree>
    <p:extLst>
      <p:ext uri="{BB962C8B-B14F-4D97-AF65-F5344CB8AC3E}">
        <p14:creationId xmlns:p14="http://schemas.microsoft.com/office/powerpoint/2010/main" val="1296800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EE763D-A312-4EFD-9F78-0C49972F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Food-safety arrival rule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A151BCC4-90BE-4197-BC0A-AA27DE01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rule I added. Food must be able to arrive while it is still safe to serve.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C52807E-C06E-4AEB-8602-602A6484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6E180-3D3B-4200-BEA4-BC903201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estimates pickup to handover time for each organization from the distance, and adds handling time.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It compares that estimate with the time left on the food's safe window and keeps sixty minutes free for serving.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If the food cannot arrive in time, the organization is excluded and the reason is written on the allocation.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 started with distance as a lower score. Late arrival is unsafe, so it became a hard rule in front of scoring.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35F93-3E30-48A4-98D5-BA7A54324F3E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Assumption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City travel speed, two wheeler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 km/h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Handling at the 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 minutes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Serving buffer before expiry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60 minutes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71A2E-EF81-4A4C-9A95-4F751ACD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These three assumptions are mine to defend, and they are the only numbers the rule needs to change.</a:t>
            </a:r>
          </a:p>
        </p:txBody>
      </p:sp>
    </p:spTree>
    <p:extLst>
      <p:ext uri="{BB962C8B-B14F-4D97-AF65-F5344CB8AC3E}">
        <p14:creationId xmlns:p14="http://schemas.microsoft.com/office/powerpoint/2010/main" val="2001550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6DA366-1C02-4D76-AE62-1CF8998C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rule in the running system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14ECCFB-F6A8-44DB-B1C9-5BDE3AC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donation with two hours of safe window left, six organizations, six decisions.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517820-4414-4370-80C0-AF6450D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66EB2-71C3-4DC2-B08D-ACA595E9926F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3733"/>
                <a:gridCol w="1143000"/>
                <a:gridCol w="1524000"/>
                <a:gridCol w="4529667"/>
              </a:tblGrid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Arrival estimate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Sneha Sadan Orphanage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11.6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Sanjeevini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11.8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Akshaya Patra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85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85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Chennai Food Bank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70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70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Anand Ashram Shelter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18.3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65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Hope Foundation Trust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11.2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organization is not verified yet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CBA8B-B479-4943-958F-30768C9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Allocation engine output on 16 October 2026, seeded demonstration dataset.</a:t>
            </a:r>
          </a:p>
        </p:txBody>
      </p:sp>
    </p:spTree>
    <p:extLst>
      <p:ext uri="{BB962C8B-B14F-4D97-AF65-F5344CB8AC3E}">
        <p14:creationId xmlns:p14="http://schemas.microsoft.com/office/powerpoint/2010/main" val="216948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1DEC4-7C55-4CBE-BDE6-F72703E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Balanced distribution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0712AB3-EA2F-47A1-A9A0-D3D5BEB2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engine scores how much each organization received recently, and the reports show the spread.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BAC76A-C9AB-4DDC-9476-BC451A80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B05CB-DA98-4663-8D5F-A711E4C04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c17e61ad84f23"/>
          <a:stretch xmlns:a="http://schemas.openxmlformats.org/drawingml/2006/main"/>
        </p:blipFill>
        <p:spPr>
          <a:xfrm xmlns:a="http://schemas.openxmlformats.org/drawingml/2006/main">
            <a:off x="685800" y="1920478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D6800-52EC-4FE7-A60E-9DAF899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Distribution across organizations in the report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583B-171D-4A53-B501-07565F60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4381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organization that received less in the last 30 days scores higher on the fairness factor.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factor carries ten percent of the score, so it settles close decisions instead of overriding food safety.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show the kilograms each partner received, so uneven distribution is visible instead of hidden.</a:t>
            </a:r>
          </a:p>
        </p:txBody>
      </p:sp>
    </p:spTree>
    <p:extLst>
      <p:ext uri="{BB962C8B-B14F-4D97-AF65-F5344CB8AC3E}">
        <p14:creationId xmlns:p14="http://schemas.microsoft.com/office/powerpoint/2010/main" val="7469510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B420F9-C659-49CC-89E8-69977F3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each role can do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7C62641-B733-4895-B2D0-03F16369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Each workspace shows only what that role can act 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211BE7-65D1-4356-9A6F-F68870D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AD626-EB82-44FC-9217-350ACF43FC4C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Actions available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Register surplus food, modify or cancel it while pending, preview the recommended recipient, follow the status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Keep demand, storage and accepted categories current, accept or decline allocations, confirm receipt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Set availability, accept or decline a pickup, move it through pickup, transit and handover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Verify organizations, run the engine, manage users, review the audit trail and system health, export reports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C06CF-26BC-42CF-B669-A837FE9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Server side rules enforce the same split, so a role cannot reach another role's data through the API.</a:t>
            </a:r>
          </a:p>
        </p:txBody>
      </p:sp>
    </p:spTree>
    <p:extLst>
      <p:ext uri="{BB962C8B-B14F-4D97-AF65-F5344CB8AC3E}">
        <p14:creationId xmlns:p14="http://schemas.microsoft.com/office/powerpoint/2010/main" val="370260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33A110-E6DA-49CE-AA2E-DEA8CFA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Administrator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DAB6E4A-C2A9-414B-8AE3-0563E35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Everything that needs a decision, then the engine that makes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BDD754-77FD-4AF1-966D-C88CED71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B8286-DBFB-4679-A4EA-F58A7E7F5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91f2e8b4d4010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E4406-711A-40FB-A5CD-14E9EF9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Command center: waiting items, donation pipeline and rescue totals.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5E9E0-7217-427B-9746-E42FF02AE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56e5161d14735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58818-487E-4F4E-9A8A-60836CB3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 engine: ranked recipients, factor breakdown and exclusions.</a:t>
            </a:r>
          </a:p>
        </p:txBody>
      </p:sp>
    </p:spTree>
    <p:extLst>
      <p:ext uri="{BB962C8B-B14F-4D97-AF65-F5344CB8AC3E}">
        <p14:creationId xmlns:p14="http://schemas.microsoft.com/office/powerpoint/2010/main" val="191090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D2F59E-EAAD-432C-AA3F-2F74662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and volunteer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05E1C0B-D7B8-4194-9DF2-3B75B0F1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two roles that act after the decision.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A9FB10-301A-4BC6-86A9-9628F8FE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22E53-C533-4916-A097-FCE6F8C230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bb67d8e754bea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419C4-6EF6-46D9-ABA6-DF86264F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Recipient: incoming allocation, demand, capacity and accepted categories.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EC405-C862-4432-93BE-87196E125C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449f7ac754013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60DA4-FDBA-49D6-8617-633DE96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Volunteer: availability and the delivery timeline for an active pickup.</a:t>
            </a:r>
          </a:p>
        </p:txBody>
      </p:sp>
    </p:spTree>
    <p:extLst>
      <p:ext uri="{BB962C8B-B14F-4D97-AF65-F5344CB8AC3E}">
        <p14:creationId xmlns:p14="http://schemas.microsoft.com/office/powerpoint/2010/main" val="245391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68423C-C4B6-462F-8088-8B480DB4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Results from the current dataset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E77AAB4-F4AC-4AC4-AEFF-731DA722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Sixteen donations across two weeks of seeded operation in one city.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05A8E4E-5F13-4257-91C2-992A3BB5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2622F-A8FA-4D03-8023-6D9CA9B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D013C-63E1-4F00-92DA-DDD7F4D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donations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3A390-0520-4163-9CC1-0231A368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414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1FD57-3A60-423D-A36B-4906FDF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rescued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C85B5-F1E9-446B-A1DE-C4D61F0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1,035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5E986-C5AF-4D4E-93D0-41A465A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meals equivalent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5FEA5-EA56-427D-A089-A6D386C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91.7%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FEB00-AB56-4E6F-8AAD-6994D869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allocations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DA4F0-D13A-48C4-A81B-969B027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56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A9696-AB5A-40AB-B7D7-07C54875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to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DCEE8-52C6-4148-96A9-251A8AE8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 of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B8194-4FED-4E81-9362-3DD680E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283B134-AB39-4914-BBCA-04435623937F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534f2430c48b4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A3759-AB0E-4B25-9527-77F313F0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Nine automated tests and eighteen API role checks pass against the running build.</a:t>
            </a:r>
          </a:p>
        </p:txBody>
      </p:sp>
    </p:spTree>
    <p:extLst>
      <p:ext uri="{BB962C8B-B14F-4D97-AF65-F5344CB8AC3E}">
        <p14:creationId xmlns:p14="http://schemas.microsoft.com/office/powerpoint/2010/main" val="10194338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967EA4-EDD6-4BF4-9254-E4D4338C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FoodBridge differs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B0CB6ED-1F70-4E22-8755-6DBC3EDA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Comparison against the donation platforms and the manual process described in the requirements.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9D35DB1-1973-45B6-A502-51F53A8C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FF3E-79C4-4B1B-9662-7CDF01609212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3895344"/>
                <a:gridCol w="4328160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Most donation platforms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FoodBridge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receives the food?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first organization to claim 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engine ranks every eligible organization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Can the food arrive in time?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claimer judges it from the listing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Organizations that cannot receive it in time are excluded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distribution balanced?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Not tracked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Recent amounts received affect the score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Why this organization?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 explanation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 written reason is stored with each allocation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coordinates delivery?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 and recipient arrange it themselves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Volunteers are matched by distance, current load and experience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there a record of decisions?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Basic donation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Every action is recorded in the audit log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DA1DC-6F03-41C8-9D98-3D655403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process and platforms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2023933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847019-5622-4FC8-8CFD-C5C4058D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E9B7ECB-C843-4BFB-A8BA-459B216F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current build does not do.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922722A-F3CB-4C44-895B-72FE647B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52BED-8C01-4377-B775-092156E8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Distances use straight lines rather than road routes, and live traffic is not included.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One average travel speed applies to every volunteer, so bikes and cars are treated the same.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Locations are stored as coordinates. There is no map picker or address lookup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BF54B-7741-4181-AE2E-03FC5D8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 tracking records status changes. It does not stream GPS positions.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appear inside the application only.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dataset covers one city with a few organizations, and the engine uses fixed weights instead of a model trained on real history.</a:t>
            </a:r>
          </a:p>
        </p:txBody>
      </p:sp>
    </p:spTree>
    <p:extLst>
      <p:ext uri="{BB962C8B-B14F-4D97-AF65-F5344CB8AC3E}">
        <p14:creationId xmlns:p14="http://schemas.microsoft.com/office/powerpoint/2010/main" val="2740517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B5FD0D-21E1-46FA-9B9B-A0A3676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651D51B-17C0-4330-9FB0-207F21D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Improvements that follow from the limitations.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35CA8D-53C8-4C77-B766-EE5D1828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C1632-686B-42FC-88DA-7919FB2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Use a mapping service for route aware arrival estimates and live traffic.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Let organizations pick their location on a map and store the address automatically.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Apply per vehicle speeds and re-check the arrival margin when a volunteer accepts.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Build a volunteer reliability score from accept, decline and completion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9E4ED-4AA7-4AF3-AAF4-2EB2A80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Add donor impact certificates for completed rescues, generated from the delivery record.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Send expiry and allocation alerts by SMS or WhatsApp for organizations that do not check the app.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Deploy the stack to a host and add a mobile friendly layout for volunteers in the field.</a:t>
            </a:r>
          </a:p>
        </p:txBody>
      </p:sp>
    </p:spTree>
    <p:extLst>
      <p:ext uri="{BB962C8B-B14F-4D97-AF65-F5344CB8AC3E}">
        <p14:creationId xmlns:p14="http://schemas.microsoft.com/office/powerpoint/2010/main" val="10691823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AD98D-E92C-4C58-A1D9-5EE14EF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 and running the demo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AB3E888-8CF8-4978-A2B7-123D5871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project runs on a laptop without internet access.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393BAF-C898-4B1E-B0C0-884A22B7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3133B-3823-4186-BC74-1307BD8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Repository: github.com/25-26-WIN-BCSE301L-SOFTWARE-ENGINEERING/26-27-fall-se-lab-projects-AdiByte5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Start with ./scripts/start-all.sh, then open localhost:5173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Stop with ./scripts/stop-all.sh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Run the tests with ./mvnw test in the backend folder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B2B6D-DEE2-4F0C-AF81-AE89231EC8D0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952750"/>
              </a:tblGrid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Sign in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admin@foodbridge.org / Admin@123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donor@foodbridge.org / Donor@123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recipient@foodbridge.org / Recipient@123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volunteer@foodbridge.org / Volunteer@123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8806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A2F9A4-3502-4890-8379-F18D4ED3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757B9AEF-34C6-44C4-8D57-00196E96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review shows.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5F8D45E-3A67-45A7-B506-C8D2809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52714-5B0E-4B4A-97E5-353DE7C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 working platform where a donation moves from registration to a confirmed delivery, with four role workspaces and a complete audit trail.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allocation engine that filters, scores on six factors and explains every decision it makes.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contribution I would point to is the food-safety arrival rule and the design decisions recorded with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3DED4-59E7-4D7F-8943-5633ED53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B5C90-5F25-4437-A22C-4E40AF08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391266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2026-10-16T01:51:12.0370000Z</dcterms:created>
  <dcterms:modified xsi:type="dcterms:W3CDTF">2026-10-16T01:51:12.0370000Z</dcterms:modified>
</coreProperties>
</file>